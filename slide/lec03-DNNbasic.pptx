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4"/>
  </p:notesMasterIdLst>
  <p:sldIdLst>
    <p:sldId id="293" r:id="rId2"/>
    <p:sldId id="258" r:id="rId3"/>
    <p:sldId id="261" r:id="rId4"/>
    <p:sldId id="262" r:id="rId5"/>
    <p:sldId id="263" r:id="rId6"/>
    <p:sldId id="281" r:id="rId7"/>
    <p:sldId id="264" r:id="rId8"/>
    <p:sldId id="265" r:id="rId9"/>
    <p:sldId id="267" r:id="rId10"/>
    <p:sldId id="266" r:id="rId11"/>
    <p:sldId id="284" r:id="rId12"/>
    <p:sldId id="285" r:id="rId13"/>
    <p:sldId id="268" r:id="rId14"/>
    <p:sldId id="269" r:id="rId15"/>
    <p:sldId id="270" r:id="rId16"/>
    <p:sldId id="286" r:id="rId17"/>
    <p:sldId id="287" r:id="rId18"/>
    <p:sldId id="288" r:id="rId19"/>
    <p:sldId id="289" r:id="rId20"/>
    <p:sldId id="290" r:id="rId21"/>
    <p:sldId id="272" r:id="rId22"/>
    <p:sldId id="282" r:id="rId2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10"/>
    <p:restoredTop sz="85442"/>
  </p:normalViewPr>
  <p:slideViewPr>
    <p:cSldViewPr snapToGrid="0">
      <p:cViewPr varScale="1">
        <p:scale>
          <a:sx n="94" d="100"/>
          <a:sy n="94" d="100"/>
        </p:scale>
        <p:origin x="79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9732BC-6A9D-EC4D-B902-047F666BD028}" type="datetimeFigureOut">
              <a:rPr kumimoji="1" lang="zh-CN" altLang="en-US" smtClean="0"/>
              <a:t>2026/9/28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D1F72E-2586-4B4D-9FDF-2B0534DE9BB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86698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913DAB7-4622-4D71-A561-AC5BB0C8770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宋体 CN" panose="02020400000000000000" pitchFamily="18" charset="-122"/>
                <a:ea typeface="思源宋体 CN" panose="02020400000000000000" pitchFamily="18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宋体 CN" panose="02020400000000000000" pitchFamily="18" charset="-122"/>
              <a:ea typeface="思源宋体 CN" panose="02020400000000000000" pitchFamily="18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152168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D1F72E-2586-4B4D-9FDF-2B0534DE9BBA}" type="slidenum">
              <a:rPr kumimoji="1" lang="zh-CN" altLang="en-US" smtClean="0"/>
              <a:t>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915847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" altLang="zh-CN" dirty="0"/>
              <a:t>https://</a:t>
            </a:r>
            <a:r>
              <a:rPr kumimoji="1" lang="en" altLang="zh-CN" dirty="0" err="1"/>
              <a:t>artemoppermann.com</a:t>
            </a:r>
            <a:r>
              <a:rPr kumimoji="1" lang="en" altLang="zh-CN" dirty="0"/>
              <a:t>/optimization-in-deep-learning-</a:t>
            </a:r>
            <a:r>
              <a:rPr kumimoji="1" lang="en" altLang="zh-CN" dirty="0" err="1"/>
              <a:t>adagrad</a:t>
            </a:r>
            <a:r>
              <a:rPr kumimoji="1" lang="en" altLang="zh-CN" dirty="0"/>
              <a:t>-</a:t>
            </a:r>
            <a:r>
              <a:rPr kumimoji="1" lang="en" altLang="zh-CN" dirty="0" err="1"/>
              <a:t>rmsprop-adam</a:t>
            </a:r>
            <a:r>
              <a:rPr kumimoji="1" lang="en" altLang="zh-CN" dirty="0"/>
              <a:t>/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D1F72E-2586-4B4D-9FDF-2B0534DE9BBA}" type="slidenum">
              <a:rPr kumimoji="1" lang="zh-CN" altLang="en-US" smtClean="0"/>
              <a:t>14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82241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D1F72E-2586-4B4D-9FDF-2B0534DE9BBA}" type="slidenum">
              <a:rPr kumimoji="1" lang="zh-CN" altLang="en-US" smtClean="0"/>
              <a:t>21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238321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Object 2" descr="preencoded.png">
            <a:extLst>
              <a:ext uri="{FF2B5EF4-FFF2-40B4-BE49-F238E27FC236}">
                <a16:creationId xmlns:a16="http://schemas.microsoft.com/office/drawing/2014/main" id="{8F87A1CA-3353-BB9F-27F2-D0DACC9355E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-1" r="737" b="32856"/>
          <a:stretch/>
        </p:blipFill>
        <p:spPr>
          <a:xfrm flipH="1">
            <a:off x="-1" y="0"/>
            <a:ext cx="12191997" cy="4721075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037E6C05-8A94-4B12-3551-9A5DEC1CA3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892674"/>
            <a:ext cx="9144000" cy="879475"/>
          </a:xfrm>
        </p:spPr>
        <p:txBody>
          <a:bodyPr/>
          <a:lstStyle>
            <a:lvl1pPr marL="0" indent="0" algn="ctr">
              <a:buNone/>
              <a:defRPr sz="2400" b="1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C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04E868-5A70-219A-AE20-974FA91B43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063EB-17A0-624E-9B50-98EE20E14C1B}" type="datetimeFigureOut">
              <a:rPr lang="en-CN" smtClean="0"/>
              <a:t>09/28/2026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04FA6C-6B29-E6E0-8DFE-60B391A27D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69D2B1-85A9-3D18-B2D8-6F8729279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65F23-317C-3E42-A444-97A1C022A519}" type="slidenum">
              <a:rPr lang="en-CN" smtClean="0"/>
              <a:t>‹#›</a:t>
            </a:fld>
            <a:endParaRPr lang="en-C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4E23A63-6DC8-C515-0B0F-2C198E8F5775}"/>
              </a:ext>
            </a:extLst>
          </p:cNvPr>
          <p:cNvSpPr/>
          <p:nvPr userDrawn="1"/>
        </p:nvSpPr>
        <p:spPr>
          <a:xfrm>
            <a:off x="0" y="2724461"/>
            <a:ext cx="12192000" cy="20026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75000"/>
                </a:schemeClr>
              </a:gs>
              <a:gs pos="91000">
                <a:schemeClr val="accent5">
                  <a:lumMod val="75000"/>
                  <a:alpha val="82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CBB44D-ABB5-30C8-131F-4EEEEDF3DB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2279122"/>
            <a:ext cx="9144000" cy="2387600"/>
          </a:xfrm>
        </p:spPr>
        <p:txBody>
          <a:bodyPr anchor="b"/>
          <a:lstStyle>
            <a:lvl1pPr algn="ctr">
              <a:defRPr sz="6000"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en-US" dirty="0"/>
              <a:t>Click to edit Master title style</a:t>
            </a:r>
            <a:endParaRPr lang="en-CN" dirty="0"/>
          </a:p>
        </p:txBody>
      </p:sp>
      <p:pic>
        <p:nvPicPr>
          <p:cNvPr id="14" name="Object 12" descr="preencoded.png">
            <a:extLst>
              <a:ext uri="{FF2B5EF4-FFF2-40B4-BE49-F238E27FC236}">
                <a16:creationId xmlns:a16="http://schemas.microsoft.com/office/drawing/2014/main" id="{F108C0CC-162A-82E2-3865-87ACBAAAE84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57947" y="136525"/>
            <a:ext cx="1681411" cy="538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7008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3C760E0-86AF-7358-6C3B-12D8958B6C9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 amt="20000"/>
          </a:blip>
          <a:srcRect t="1" b="53952"/>
          <a:stretch/>
        </p:blipFill>
        <p:spPr>
          <a:xfrm>
            <a:off x="218612" y="2565784"/>
            <a:ext cx="11769608" cy="3985491"/>
          </a:xfrm>
          <a:prstGeom prst="rect">
            <a:avLst/>
          </a:prstGeom>
        </p:spPr>
      </p:pic>
      <p:sp>
        <p:nvSpPr>
          <p:cNvPr id="10" name="矩形 11">
            <a:extLst>
              <a:ext uri="{FF2B5EF4-FFF2-40B4-BE49-F238E27FC236}">
                <a16:creationId xmlns:a16="http://schemas.microsoft.com/office/drawing/2014/main" id="{02158C45-4BD1-F6B1-46EC-46C35100AB12}"/>
              </a:ext>
            </a:extLst>
          </p:cNvPr>
          <p:cNvSpPr/>
          <p:nvPr userDrawn="1"/>
        </p:nvSpPr>
        <p:spPr>
          <a:xfrm>
            <a:off x="278400" y="6492815"/>
            <a:ext cx="11635200" cy="1152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27511"/>
                </a:schemeClr>
              </a:gs>
              <a:gs pos="78000">
                <a:srgbClr val="8BB4DD">
                  <a:alpha val="92000"/>
                </a:srgbClr>
              </a:gs>
              <a:gs pos="97000">
                <a:srgbClr val="8BB4DD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CDB682-842D-65E4-01B9-E64FA7BEA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400" y="136525"/>
            <a:ext cx="8817473" cy="658239"/>
          </a:xfrm>
        </p:spPr>
        <p:txBody>
          <a:bodyPr>
            <a:normAutofit/>
          </a:bodyPr>
          <a:lstStyle>
            <a:lvl1pPr>
              <a:defRPr sz="3600" b="1">
                <a:solidFill>
                  <a:schemeClr val="accent5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en-US" dirty="0"/>
              <a:t>Click to edit Master title style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418B4C-F6BA-C651-048A-FA53E048F5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8400" y="1161535"/>
            <a:ext cx="11635200" cy="5015428"/>
          </a:xfrm>
        </p:spPr>
        <p:txBody>
          <a:bodyPr/>
          <a:lstStyle>
            <a:lvl1pPr marL="228600" indent="-228600">
              <a:lnSpc>
                <a:spcPct val="120000"/>
              </a:lnSpc>
              <a:buFont typeface="Wingdings" pitchFamily="2" charset="2"/>
              <a:buChar char="Ø"/>
              <a:defRPr>
                <a:solidFill>
                  <a:schemeClr val="tx1"/>
                </a:solidFill>
              </a:defRPr>
            </a:lvl1pPr>
            <a:lvl2pPr marL="685800" indent="-228600">
              <a:lnSpc>
                <a:spcPct val="120000"/>
              </a:lnSpc>
              <a:buFont typeface="Wingdings" pitchFamily="2" charset="2"/>
              <a:buChar char="Ø"/>
              <a:defRPr>
                <a:solidFill>
                  <a:schemeClr val="tx1"/>
                </a:solidFill>
              </a:defRPr>
            </a:lvl2pPr>
            <a:lvl3pPr marL="1143000" indent="-228600">
              <a:lnSpc>
                <a:spcPct val="120000"/>
              </a:lnSpc>
              <a:buFont typeface="Wingdings" pitchFamily="2" charset="2"/>
              <a:buChar char="Ø"/>
              <a:defRPr>
                <a:solidFill>
                  <a:schemeClr val="tx1"/>
                </a:solidFill>
              </a:defRPr>
            </a:lvl3pPr>
            <a:lvl4pPr marL="1600200" indent="-228600">
              <a:lnSpc>
                <a:spcPct val="120000"/>
              </a:lnSpc>
              <a:buFont typeface="Wingdings" pitchFamily="2" charset="2"/>
              <a:buChar char="Ø"/>
              <a:defRPr>
                <a:solidFill>
                  <a:schemeClr val="tx1"/>
                </a:solidFill>
              </a:defRPr>
            </a:lvl4pPr>
            <a:lvl5pPr marL="2057400" indent="-228600">
              <a:lnSpc>
                <a:spcPct val="120000"/>
              </a:lnSpc>
              <a:buFont typeface="Wingdings" pitchFamily="2" charset="2"/>
              <a:buChar char="Ø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D6ED5F-B662-7759-9ABD-BC2743DD2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9AE07-70B2-784F-BB04-B9DEB9DC4049}" type="datetime1">
              <a:rPr lang="en-US" smtClean="0"/>
              <a:t>9/28/2026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5511AE-A152-E822-D90F-1B275A830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F4AB7-7320-E597-42F2-5076E5207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22476" y="6356350"/>
            <a:ext cx="1841156" cy="365125"/>
          </a:xfrm>
        </p:spPr>
        <p:txBody>
          <a:bodyPr/>
          <a:lstStyle>
            <a:lvl1pPr>
              <a:defRPr sz="180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C029BAFA-4642-B343-98EA-5F7B20942092}" type="slidenum">
              <a:rPr lang="en-CN" smtClean="0"/>
              <a:pPr/>
              <a:t>‹#›</a:t>
            </a:fld>
            <a:endParaRPr lang="en-CN" dirty="0"/>
          </a:p>
        </p:txBody>
      </p:sp>
      <p:sp>
        <p:nvSpPr>
          <p:cNvPr id="9" name="矩形 11">
            <a:extLst>
              <a:ext uri="{FF2B5EF4-FFF2-40B4-BE49-F238E27FC236}">
                <a16:creationId xmlns:a16="http://schemas.microsoft.com/office/drawing/2014/main" id="{26407E0B-FDBE-FF0F-AB0B-4A4F9B2766EE}"/>
              </a:ext>
            </a:extLst>
          </p:cNvPr>
          <p:cNvSpPr/>
          <p:nvPr userDrawn="1"/>
        </p:nvSpPr>
        <p:spPr>
          <a:xfrm>
            <a:off x="278400" y="851827"/>
            <a:ext cx="11635200" cy="1152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70000">
                <a:srgbClr val="5E8DB9">
                  <a:alpha val="92000"/>
                </a:srgbClr>
              </a:gs>
              <a:gs pos="96000">
                <a:srgbClr val="5E8DB9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 descr="同济大学校徽Logo PNG SVG AI矢量图下载_免费高清资源">
            <a:extLst>
              <a:ext uri="{FF2B5EF4-FFF2-40B4-BE49-F238E27FC236}">
                <a16:creationId xmlns:a16="http://schemas.microsoft.com/office/drawing/2014/main" id="{7A9E80E1-37F1-A181-FCC5-E2E16583AE7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134212" y="43908"/>
            <a:ext cx="779388" cy="779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1827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33C0E-1617-12BC-3BD3-B8EDC2433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F28F5F-5358-F5F6-DB6E-470E20D08E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BF9944-9188-8D91-63A8-9FF4733C75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063EB-17A0-624E-9B50-98EE20E14C1B}" type="datetimeFigureOut">
              <a:rPr lang="en-CN" smtClean="0"/>
              <a:t>09/28/2026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506C06-E2AD-F734-05EC-D84CC4BC5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CD2E85-4FFD-DD91-2356-710A260C5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65F23-317C-3E42-A444-97A1C022A51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913803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070EB-1D1F-138D-EAED-87EB37486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36C222-0CBB-9F0B-8ABA-0D34A92241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0763DC-50C1-9B94-12BE-17916C196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063EB-17A0-624E-9B50-98EE20E14C1B}" type="datetimeFigureOut">
              <a:rPr lang="en-CN" smtClean="0"/>
              <a:t>09/28/2026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19E20-0D3E-7F14-762B-0422759CD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1E8797-D984-33DE-52CE-41B660933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65F23-317C-3E42-A444-97A1C022A51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146696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D9B3F-FA03-1759-FCF6-96E2C0772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0E29D4-76F6-534C-7538-2445D5639C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BCBCB9-A255-24FE-73A3-CFF445D64B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2CF643-AE79-0869-BFB2-2C8040350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063EB-17A0-624E-9B50-98EE20E14C1B}" type="datetimeFigureOut">
              <a:rPr lang="en-CN" smtClean="0"/>
              <a:t>09/28/2026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E28327-D50E-E72A-90BA-6124408A93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2CBAA8-2A10-E8D3-1AAC-91ED658CB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65F23-317C-3E42-A444-97A1C022A51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834092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24135-3B4F-8C24-F579-95A44E6381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1D8FB7-55D2-9ECC-BF91-FFC65E04B6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DB6AAE-4E83-41D2-B127-10459BD93C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F3D98D-8EF7-91CA-60EF-6720C7BA39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E105F71-7A63-AB1F-3AF7-5B21625AC3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DFC6701-4CCF-D75A-5924-6BA245208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063EB-17A0-624E-9B50-98EE20E14C1B}" type="datetimeFigureOut">
              <a:rPr lang="en-CN" smtClean="0"/>
              <a:t>09/28/2026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4E0A158-1998-BC78-3677-0AA71661E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2CA0E4-B530-0420-F58D-C3F8525C5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65F23-317C-3E42-A444-97A1C022A51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166666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7D9B5-20C0-A670-D667-0F11441CA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7EC427-3C46-08C1-8D58-8AA5D95DB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063EB-17A0-624E-9B50-98EE20E14C1B}" type="datetimeFigureOut">
              <a:rPr lang="en-CN" smtClean="0"/>
              <a:t>09/28/2026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59B5C7-17B4-168A-F481-062178294A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1915C7-E026-D7D4-7D84-658D93620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65F23-317C-3E42-A444-97A1C022A51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567192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16753F-B852-03FA-DAC1-22ECD0CD8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063EB-17A0-624E-9B50-98EE20E14C1B}" type="datetimeFigureOut">
              <a:rPr lang="en-CN" smtClean="0"/>
              <a:t>09/28/2026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8072AF-440A-79EE-0ADF-CA7546907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58D17D-B398-0460-67A8-7BE60E3D3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65F23-317C-3E42-A444-97A1C022A51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9320023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CC76BC8-E235-F40C-BADB-D6E4C5C09E4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</a:blip>
          <a:srcRect t="19665" r="27381" b="21654"/>
          <a:stretch/>
        </p:blipFill>
        <p:spPr>
          <a:xfrm>
            <a:off x="2139043" y="0"/>
            <a:ext cx="10052957" cy="6863546"/>
          </a:xfrm>
          <a:prstGeom prst="rect">
            <a:avLst/>
          </a:prstGeom>
        </p:spPr>
      </p:pic>
      <p:pic>
        <p:nvPicPr>
          <p:cNvPr id="8" name="Object 9" descr="preencoded.png">
            <a:extLst>
              <a:ext uri="{FF2B5EF4-FFF2-40B4-BE49-F238E27FC236}">
                <a16:creationId xmlns:a16="http://schemas.microsoft.com/office/drawing/2014/main" id="{CFBAC008-175A-3FA5-7A97-88ABC1AA204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00207" y="794106"/>
            <a:ext cx="2566794" cy="822422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B2B4F74F-EC1E-7737-5020-DED38EBC5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179" y="1888365"/>
            <a:ext cx="5080907" cy="2103971"/>
          </a:xfrm>
        </p:spPr>
        <p:txBody>
          <a:bodyPr/>
          <a:lstStyle>
            <a:lvl1pPr>
              <a:defRPr b="0" i="0">
                <a:solidFill>
                  <a:schemeClr val="accent5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en-US" dirty="0"/>
              <a:t>Click to edit Master title style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481879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C77AA-0B28-FAEA-0710-71CF52E35C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ECDA95-1F7B-7A19-CD36-E1CD7B9AD7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9DE708-2666-FEA5-376D-015DDEE136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E5C259-627A-0ED0-2D75-25E6B0022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063EB-17A0-624E-9B50-98EE20E14C1B}" type="datetimeFigureOut">
              <a:rPr lang="en-CN" smtClean="0"/>
              <a:t>09/28/2026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267667-F363-C11E-09F8-9FAB1F4C1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F98009-DFE7-BFE5-6C12-2632B1141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65F23-317C-3E42-A444-97A1C022A51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8189732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33F80-6D41-B7FE-D226-98055BB32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74119B6-2E17-AAE9-4146-5AE0C1BC41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4743FC-4B25-3370-6B11-F95CAA247E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25FAC6-69E8-3093-C920-69E7F0A14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063EB-17A0-624E-9B50-98EE20E14C1B}" type="datetimeFigureOut">
              <a:rPr lang="en-CN" smtClean="0"/>
              <a:t>09/28/2026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05B377-1A86-9381-4896-C00295514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323EF1-3739-BD06-D154-3391FCB31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65F23-317C-3E42-A444-97A1C022A51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7458683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3AB4C-2BB8-6B18-029B-7B5E01411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9B4783-AEA0-4CD6-5410-AB7CFF8CF3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067ADA-1597-246A-FE7B-4419A91513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063EB-17A0-624E-9B50-98EE20E14C1B}" type="datetimeFigureOut">
              <a:rPr lang="en-CN" smtClean="0"/>
              <a:t>09/28/2026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321A3B-C22F-59C8-0607-A8A9AB112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ED3793-8AD5-4018-D9E3-92CD7940D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65F23-317C-3E42-A444-97A1C022A51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1529366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59FC7A-9A66-908D-9EEE-8DBFF4F785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3E61A6-0CDA-F4EF-FA05-433D59A42D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FC4CFC-3670-C93B-564B-638BA568EE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063EB-17A0-624E-9B50-98EE20E14C1B}" type="datetimeFigureOut">
              <a:rPr lang="en-CN" smtClean="0"/>
              <a:t>09/28/2026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DED732-961C-13C6-D3F5-A73B8A427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3D9826-A0A9-EAAC-BFD6-D64051B94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65F23-317C-3E42-A444-97A1C022A51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5303446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2ED32A-C5DE-CDEA-7F17-375A42C63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8E27E8D-08AE-DE77-81B1-B80C354367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A3CB345-D78F-513F-F3B6-A01D7EA72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EFF12-BA31-B442-9EB5-56E1ACA9CEC8}" type="datetimeFigureOut">
              <a:rPr kumimoji="1" lang="zh-CN" altLang="en-US" smtClean="0"/>
              <a:t>2026/9/28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9C954B4-DF22-5012-F22D-3D8411BC4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689678F-3B24-9DFA-9CE9-91AEECE9D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3C08B-7CB0-5B47-B745-55F0F7AA9D7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016492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preserve="1">
  <p:cSld name="标题和两栏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2631C8-42F2-074F-E314-8B33294F9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D0083E7-CE75-2AD3-E6EB-643005A5EF6E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046E3F9-DFA7-10D5-D5B3-7DBAA11CDA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0DEFCA9-E878-6DE1-11EB-16A3F0E3E2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063EB-17A0-624E-9B50-98EE20E14C1B}" type="datetimeFigureOut">
              <a:rPr lang="en-CN" smtClean="0"/>
              <a:t>09/28/2026</a:t>
            </a:fld>
            <a:endParaRPr lang="en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E01AA44-7DC9-C19C-B7C2-5A78F216B6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C88B43E-8A23-145F-8BC4-E3FF90ECD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65F23-317C-3E42-A444-97A1C022A51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0566528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4235F1-32AC-B31D-1C7D-4D5942211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表格占位符 2">
            <a:extLst>
              <a:ext uri="{FF2B5EF4-FFF2-40B4-BE49-F238E27FC236}">
                <a16:creationId xmlns:a16="http://schemas.microsoft.com/office/drawing/2014/main" id="{039072F5-8F07-2086-8767-BDC80D1F6718}"/>
              </a:ext>
            </a:extLst>
          </p:cNvPr>
          <p:cNvSpPr>
            <a:spLocks noGrp="1"/>
          </p:cNvSpPr>
          <p:nvPr>
            <p:ph type="tbl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B791A01-5E3A-9908-7D24-0FA33C19AE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063EB-17A0-624E-9B50-98EE20E14C1B}" type="datetimeFigureOut">
              <a:rPr lang="en-CN" smtClean="0"/>
              <a:t>09/28/2026</a:t>
            </a:fld>
            <a:endParaRPr lang="en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E627C6B-048E-D322-786E-82F437F5A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040BADE-907B-E82B-4050-170F6E0F7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65F23-317C-3E42-A444-97A1C022A51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274940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 preserve="1">
  <p:cSld name="标题，文本与图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E57E8D-13D2-EC53-906A-1CFD6B34D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32078B9-72F1-0970-FAE8-92677BC178FC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图表占位符 3">
            <a:extLst>
              <a:ext uri="{FF2B5EF4-FFF2-40B4-BE49-F238E27FC236}">
                <a16:creationId xmlns:a16="http://schemas.microsoft.com/office/drawing/2014/main" id="{31DA1AB8-EEB7-28B1-E4A5-1F5FE28CC4F6}"/>
              </a:ext>
            </a:extLst>
          </p:cNvPr>
          <p:cNvSpPr>
            <a:spLocks noGrp="1"/>
          </p:cNvSpPr>
          <p:nvPr>
            <p:ph type="chart"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endParaRPr kumimoji="1" lang="zh-CN" altLang="en-US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CC1892A-CC23-801D-55F2-1DEF46310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063EB-17A0-624E-9B50-98EE20E14C1B}" type="datetimeFigureOut">
              <a:rPr lang="en-CN" smtClean="0"/>
              <a:t>09/28/2026</a:t>
            </a:fld>
            <a:endParaRPr lang="en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A796572-2FC8-FB79-FAE6-B740B8462D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EBF946F-83CA-6202-B89D-70493AD8B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65F23-317C-3E42-A444-97A1C022A51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1542032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5F0DB78-4D0F-1031-6751-F85230D977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AC8F3E-C383-A313-4586-A837DA5D3C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E7FF30-A9BE-0DA4-BDBF-09AD5FE658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D063EB-17A0-624E-9B50-98EE20E14C1B}" type="datetimeFigureOut">
              <a:rPr lang="en-CN" smtClean="0"/>
              <a:t>09/28/2026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892B4C-D68F-E5AC-3738-ACC1764040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35EC6B-4A60-FD8C-AD36-006B8EF6BE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265F23-317C-3E42-A444-97A1C022A51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8107325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tmp"/><Relationship Id="rId2" Type="http://schemas.openxmlformats.org/officeDocument/2006/relationships/image" Target="../media/image24.tmp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tmp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tmp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tmp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tmp"/><Relationship Id="rId2" Type="http://schemas.openxmlformats.org/officeDocument/2006/relationships/image" Target="../media/image29.tmp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tmp"/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tmp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直角三角形 38">
            <a:extLst>
              <a:ext uri="{FF2B5EF4-FFF2-40B4-BE49-F238E27FC236}">
                <a16:creationId xmlns:a16="http://schemas.microsoft.com/office/drawing/2014/main" id="{A7CBD757-AD6D-4181-A4FB-B9AA3145D078}"/>
              </a:ext>
            </a:extLst>
          </p:cNvPr>
          <p:cNvSpPr/>
          <p:nvPr/>
        </p:nvSpPr>
        <p:spPr>
          <a:xfrm rot="5400000" flipV="1">
            <a:off x="7071519" y="-406587"/>
            <a:ext cx="4713892" cy="5527070"/>
          </a:xfrm>
          <a:prstGeom prst="rtTriangle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宋体 CN" panose="02020400000000000000" pitchFamily="18" charset="-122"/>
              <a:ea typeface="思源宋体 CN" panose="02020400000000000000" pitchFamily="18" charset="-122"/>
              <a:cs typeface="+mn-cs"/>
            </a:endParaRPr>
          </a:p>
        </p:txBody>
      </p:sp>
      <p:sp>
        <p:nvSpPr>
          <p:cNvPr id="40" name="直角三角形 39">
            <a:extLst>
              <a:ext uri="{FF2B5EF4-FFF2-40B4-BE49-F238E27FC236}">
                <a16:creationId xmlns:a16="http://schemas.microsoft.com/office/drawing/2014/main" id="{26F9F843-9A67-4569-965A-4C1F41CEA699}"/>
              </a:ext>
            </a:extLst>
          </p:cNvPr>
          <p:cNvSpPr/>
          <p:nvPr/>
        </p:nvSpPr>
        <p:spPr>
          <a:xfrm>
            <a:off x="0" y="1599238"/>
            <a:ext cx="5754414" cy="5258761"/>
          </a:xfrm>
          <a:prstGeom prst="rtTriangle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宋体 CN" panose="02020400000000000000" pitchFamily="18" charset="-122"/>
              <a:ea typeface="思源宋体 CN" panose="02020400000000000000" pitchFamily="18" charset="-122"/>
              <a:cs typeface="+mn-cs"/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E8B44BA7-BD6A-4376-8A63-6BBAE7900CEC}"/>
              </a:ext>
            </a:extLst>
          </p:cNvPr>
          <p:cNvSpPr/>
          <p:nvPr/>
        </p:nvSpPr>
        <p:spPr>
          <a:xfrm>
            <a:off x="505326" y="878306"/>
            <a:ext cx="11201400" cy="5690937"/>
          </a:xfrm>
          <a:prstGeom prst="rect">
            <a:avLst/>
          </a:prstGeom>
          <a:solidFill>
            <a:srgbClr val="FEFEFE"/>
          </a:solidFill>
          <a:ln>
            <a:noFill/>
          </a:ln>
          <a:effectLst>
            <a:outerShdw blurRad="2667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宋体 CN" panose="02020400000000000000" pitchFamily="18" charset="-122"/>
              <a:ea typeface="思源宋体 CN" panose="02020400000000000000" pitchFamily="18" charset="-122"/>
              <a:cs typeface="+mn-cs"/>
            </a:endParaRPr>
          </a:p>
        </p:txBody>
      </p:sp>
      <p:pic>
        <p:nvPicPr>
          <p:cNvPr id="48" name="图片 47">
            <a:extLst>
              <a:ext uri="{FF2B5EF4-FFF2-40B4-BE49-F238E27FC236}">
                <a16:creationId xmlns:a16="http://schemas.microsoft.com/office/drawing/2014/main" id="{143293F1-2F6E-41D2-B9E3-2660A069D8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59" b="13471"/>
          <a:stretch>
            <a:fillRect/>
          </a:stretch>
        </p:blipFill>
        <p:spPr>
          <a:xfrm>
            <a:off x="489666" y="271835"/>
            <a:ext cx="11217059" cy="5151120"/>
          </a:xfrm>
          <a:prstGeom prst="rect">
            <a:avLst/>
          </a:prstGeom>
        </p:spPr>
      </p:pic>
      <p:sp>
        <p:nvSpPr>
          <p:cNvPr id="58" name="矩形 57">
            <a:extLst>
              <a:ext uri="{FF2B5EF4-FFF2-40B4-BE49-F238E27FC236}">
                <a16:creationId xmlns:a16="http://schemas.microsoft.com/office/drawing/2014/main" id="{098329CB-439F-4DAF-A4FD-3D14B80BCE6D}"/>
              </a:ext>
            </a:extLst>
          </p:cNvPr>
          <p:cNvSpPr/>
          <p:nvPr/>
        </p:nvSpPr>
        <p:spPr>
          <a:xfrm>
            <a:off x="485273" y="271835"/>
            <a:ext cx="11237111" cy="5168043"/>
          </a:xfrm>
          <a:prstGeom prst="rect">
            <a:avLst/>
          </a:prstGeom>
          <a:solidFill>
            <a:srgbClr val="2A82C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宋体 CN" panose="02020400000000000000" pitchFamily="18" charset="-122"/>
              <a:ea typeface="思源宋体 CN" panose="02020400000000000000" pitchFamily="18" charset="-122"/>
              <a:cs typeface="+mn-cs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BF71C45C-4D49-47DD-BF08-298B745F3A72}"/>
              </a:ext>
            </a:extLst>
          </p:cNvPr>
          <p:cNvSpPr/>
          <p:nvPr/>
        </p:nvSpPr>
        <p:spPr>
          <a:xfrm>
            <a:off x="487471" y="1400592"/>
            <a:ext cx="11217058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智能片上集成系统设计</a:t>
            </a:r>
            <a:br>
              <a:rPr kumimoji="0" lang="zh-CN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kumimoji="0" lang="en-US" altLang="zh-CN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Introduction of Intelligent Computing Chip </a:t>
            </a:r>
            <a:r>
              <a:rPr kumimoji="0" lang="en-US" altLang="zh-CN" sz="5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and System</a:t>
            </a:r>
            <a:endParaRPr kumimoji="0" lang="zh-CN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箭头: V 形 35">
            <a:extLst>
              <a:ext uri="{FF2B5EF4-FFF2-40B4-BE49-F238E27FC236}">
                <a16:creationId xmlns:a16="http://schemas.microsoft.com/office/drawing/2014/main" id="{42E5E360-C405-40C9-A549-F4F7A94ECE8A}"/>
              </a:ext>
            </a:extLst>
          </p:cNvPr>
          <p:cNvSpPr/>
          <p:nvPr/>
        </p:nvSpPr>
        <p:spPr>
          <a:xfrm rot="16200000">
            <a:off x="5835869" y="5570205"/>
            <a:ext cx="520262" cy="520262"/>
          </a:xfrm>
          <a:prstGeom prst="chevron">
            <a:avLst/>
          </a:prstGeom>
          <a:solidFill>
            <a:srgbClr val="4C5E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宋体 CN" panose="02020400000000000000" pitchFamily="18" charset="-122"/>
              <a:ea typeface="思源宋体 CN" panose="02020400000000000000" pitchFamily="18" charset="-122"/>
              <a:cs typeface="+mn-cs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78A6954-4418-FA9D-1C42-7756040669A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3246" y="561613"/>
            <a:ext cx="1781164" cy="904900"/>
          </a:xfrm>
          <a:prstGeom prst="rect">
            <a:avLst/>
          </a:prstGeom>
        </p:spPr>
      </p:pic>
      <p:sp>
        <p:nvSpPr>
          <p:cNvPr id="6" name="Subtitle 2">
            <a:extLst>
              <a:ext uri="{FF2B5EF4-FFF2-40B4-BE49-F238E27FC236}">
                <a16:creationId xmlns:a16="http://schemas.microsoft.com/office/drawing/2014/main" id="{FFE0A2C4-1752-1117-76FA-66FFC4267977}"/>
              </a:ext>
            </a:extLst>
          </p:cNvPr>
          <p:cNvSpPr txBox="1">
            <a:spLocks/>
          </p:cNvSpPr>
          <p:nvPr/>
        </p:nvSpPr>
        <p:spPr>
          <a:xfrm>
            <a:off x="2338111" y="4228618"/>
            <a:ext cx="7803152" cy="11149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Lecture</a:t>
            </a:r>
            <a:r>
              <a:rPr lang="zh-CN" alt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 Deep Learning Basics</a:t>
            </a:r>
          </a:p>
          <a:p>
            <a:r>
              <a:rPr lang="en-US" altLang="zh-CN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Instructor:</a:t>
            </a:r>
            <a:r>
              <a:rPr lang="zh-CN" alt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altLang="zh-CN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Shiwei Liu,</a:t>
            </a:r>
            <a:r>
              <a:rPr lang="zh-CN" alt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Assistant Professor</a:t>
            </a:r>
          </a:p>
        </p:txBody>
      </p:sp>
    </p:spTree>
    <p:extLst>
      <p:ext uri="{BB962C8B-B14F-4D97-AF65-F5344CB8AC3E}">
        <p14:creationId xmlns:p14="http://schemas.microsoft.com/office/powerpoint/2010/main" val="38207799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DCB2B-557F-AC79-F309-DE064130B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Overview of the Lecture</a:t>
            </a:r>
            <a:endParaRPr lang="en-C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572947-4C3A-5B35-B2DD-4E5B58B59C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Objective: </a:t>
            </a:r>
            <a:r>
              <a:rPr kumimoji="1" lang="en" altLang="zh-CN" sz="2800" dirty="0">
                <a:latin typeface="Arial" panose="020B0604020202020204" pitchFamily="34" charset="0"/>
              </a:rPr>
              <a:t>introduce the foundational concepts behind neural networks and deep learning algorithms.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Topics: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History of Neural Networks and Biological Nature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The Basic Mathematics of Neural Networks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Convolutional Neural Networks (CNNs)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hardware perspective to see massive opportunities for weight reuse and data reuse.</a:t>
            </a:r>
            <a:endParaRPr lang="zh-CN" altLang="zh-CN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endParaRPr lang="en-US" altLang="zh-CN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62070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E4DDAA59-A49D-3193-E3EC-FD7A0BE5C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400" y="136525"/>
            <a:ext cx="9950122" cy="658239"/>
          </a:xfrm>
        </p:spPr>
        <p:txBody>
          <a:bodyPr>
            <a:noAutofit/>
          </a:bodyPr>
          <a:lstStyle/>
          <a:p>
            <a:r>
              <a:rPr kumimoji="1" lang="en" altLang="zh-CN" sz="4000" dirty="0">
                <a:latin typeface="Arial" panose="020B0604020202020204" pitchFamily="34" charset="0"/>
              </a:rPr>
              <a:t>From Bio Neurons to Artificial Neurons</a:t>
            </a:r>
            <a:endParaRPr kumimoji="1" lang="zh-CN" altLang="en-US" sz="4000" dirty="0">
              <a:latin typeface="Arial" panose="020B0604020202020204" pitchFamily="34" charset="0"/>
            </a:endParaRP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9129FC5-C982-BB0E-0CD6-F0F6C3876F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kumimoji="1" lang="en" altLang="zh-CN" sz="2400" dirty="0">
                <a:latin typeface="Arial" panose="020B0604020202020204" pitchFamily="34" charset="0"/>
              </a:rPr>
              <a:t>In 1943, Warren McCulloch and Walter Pitts proposed a model of artificial neurons that mimicked the brain's activity.
Neuron = Cell body (soma) + Dendrites (</a:t>
            </a:r>
            <a:r>
              <a:rPr kumimoji="1" lang="zh-CN" altLang="en-US" sz="2400" dirty="0">
                <a:latin typeface="Arial" panose="020B0604020202020204" pitchFamily="34" charset="0"/>
              </a:rPr>
              <a:t>树突</a:t>
            </a:r>
            <a:r>
              <a:rPr kumimoji="1" lang="en-US" altLang="zh-CN" sz="2400" dirty="0">
                <a:latin typeface="Arial" panose="020B0604020202020204" pitchFamily="34" charset="0"/>
              </a:rPr>
              <a:t>) </a:t>
            </a:r>
            <a:r>
              <a:rPr kumimoji="1" lang="en-US" altLang="zh-CN" sz="2400" b="1" dirty="0">
                <a:solidFill>
                  <a:srgbClr val="C00000"/>
                </a:solidFill>
                <a:latin typeface="Arial" panose="020B0604020202020204" pitchFamily="34" charset="0"/>
              </a:rPr>
              <a:t>+ </a:t>
            </a:r>
            <a:r>
              <a:rPr kumimoji="1" lang="en" altLang="zh-CN" sz="2400" b="1" dirty="0">
                <a:solidFill>
                  <a:srgbClr val="C00000"/>
                </a:solidFill>
                <a:latin typeface="Arial" panose="020B0604020202020204" pitchFamily="34" charset="0"/>
              </a:rPr>
              <a:t>Axon (</a:t>
            </a:r>
            <a:r>
              <a:rPr kumimoji="1" lang="zh-CN" altLang="en-US" sz="2400" b="1" dirty="0">
                <a:solidFill>
                  <a:srgbClr val="C00000"/>
                </a:solidFill>
                <a:latin typeface="Arial" panose="020B0604020202020204" pitchFamily="34" charset="0"/>
              </a:rPr>
              <a:t>轴突</a:t>
            </a:r>
            <a:r>
              <a:rPr kumimoji="1" lang="en-US" altLang="zh-CN" sz="2400" b="1" dirty="0">
                <a:solidFill>
                  <a:srgbClr val="C00000"/>
                </a:solidFill>
                <a:latin typeface="Arial" panose="020B0604020202020204" pitchFamily="34" charset="0"/>
              </a:rPr>
              <a:t>) + </a:t>
            </a:r>
            <a:r>
              <a:rPr kumimoji="1" lang="en" altLang="zh-CN" sz="2400" b="1" dirty="0">
                <a:solidFill>
                  <a:srgbClr val="C00000"/>
                </a:solidFill>
                <a:latin typeface="Arial" panose="020B0604020202020204" pitchFamily="34" charset="0"/>
              </a:rPr>
              <a:t>Synapse (</a:t>
            </a:r>
            <a:r>
              <a:rPr kumimoji="1" lang="zh-CN" altLang="en-US" sz="2400" b="1" dirty="0">
                <a:solidFill>
                  <a:srgbClr val="C00000"/>
                </a:solidFill>
                <a:latin typeface="Arial" panose="020B0604020202020204" pitchFamily="34" charset="0"/>
              </a:rPr>
              <a:t>突触</a:t>
            </a:r>
            <a:r>
              <a:rPr kumimoji="1" lang="en-US" altLang="zh-CN" sz="2400" b="1" dirty="0">
                <a:solidFill>
                  <a:srgbClr val="C00000"/>
                </a:solidFill>
                <a:latin typeface="Arial" panose="020B0604020202020204" pitchFamily="34" charset="0"/>
              </a:rPr>
              <a:t>)</a:t>
            </a:r>
          </a:p>
          <a:p>
            <a:r>
              <a:rPr kumimoji="1" lang="en" altLang="zh-CN" sz="2400" dirty="0">
                <a:latin typeface="Arial" panose="020B0604020202020204" pitchFamily="34" charset="0"/>
              </a:rPr>
              <a:t>.</a:t>
            </a:r>
            <a:endParaRPr kumimoji="1" lang="zh-CN" altLang="en-US" sz="2400" dirty="0">
              <a:latin typeface="Arial" panose="020B0604020202020204" pitchFamily="34" charset="0"/>
            </a:endParaRPr>
          </a:p>
        </p:txBody>
      </p:sp>
      <p:pic>
        <p:nvPicPr>
          <p:cNvPr id="5" name="Picture 2" descr="https://uploader.shimo.im/f/VZzppPEyvnoN3IPk.PNG!thumbnail">
            <a:extLst>
              <a:ext uri="{FF2B5EF4-FFF2-40B4-BE49-F238E27FC236}">
                <a16:creationId xmlns:a16="http://schemas.microsoft.com/office/drawing/2014/main" id="{5F00898A-FB9E-A5DC-C8DB-B734028955C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06" t="3765" r="1506"/>
          <a:stretch/>
        </p:blipFill>
        <p:spPr bwMode="auto">
          <a:xfrm>
            <a:off x="471736" y="2757150"/>
            <a:ext cx="5272648" cy="35373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855CCF11-9BB8-7AA5-0D8C-A9C52C25BF03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669956" y="2757149"/>
            <a:ext cx="6243644" cy="3669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29196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84F6C2C3-5A9B-3760-75D6-7F6C98637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400" y="136525"/>
            <a:ext cx="10885786" cy="658239"/>
          </a:xfrm>
        </p:spPr>
        <p:txBody>
          <a:bodyPr>
            <a:noAutofit/>
          </a:bodyPr>
          <a:lstStyle/>
          <a:p>
            <a:r>
              <a:rPr kumimoji="1" lang="en" altLang="zh-CN" sz="4000" dirty="0">
                <a:latin typeface="Arial" panose="020B0604020202020204" pitchFamily="34" charset="0"/>
              </a:rPr>
              <a:t>Early Developments in Neural Networks</a:t>
            </a:r>
            <a:endParaRPr kumimoji="1" lang="zh-CN" altLang="en-US" sz="4000" dirty="0">
              <a:latin typeface="Arial" panose="020B0604020202020204" pitchFamily="34" charset="0"/>
            </a:endParaRP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E03CEC7-0AE4-4B5E-6C39-86E5B636D1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8400" y="1161535"/>
            <a:ext cx="11913600" cy="5015428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kumimoji="1" lang="en" altLang="zh-CN" sz="2400" dirty="0">
                <a:latin typeface="Arial" panose="020B0604020202020204" pitchFamily="34" charset="0"/>
              </a:rPr>
              <a:t>In 1958, Frank Rosenblatt introduced the </a:t>
            </a:r>
            <a:r>
              <a:rPr kumimoji="1" lang="en" altLang="zh-CN" sz="2400" b="1" dirty="0">
                <a:solidFill>
                  <a:srgbClr val="C00000"/>
                </a:solidFill>
                <a:latin typeface="Arial" panose="020B0604020202020204" pitchFamily="34" charset="0"/>
              </a:rPr>
              <a:t>Perceptron</a:t>
            </a:r>
            <a:r>
              <a:rPr kumimoji="1" lang="en" altLang="zh-CN" sz="2400" dirty="0">
                <a:latin typeface="Arial" panose="020B0604020202020204" pitchFamily="34" charset="0"/>
              </a:rPr>
              <a:t>, a single-layer neural network, serving as the basis for more complex models.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kumimoji="1" lang="en" altLang="zh-CN" sz="2400" dirty="0">
                <a:latin typeface="Arial" panose="020B0604020202020204" pitchFamily="34" charset="0"/>
              </a:rPr>
              <a:t>In 1975,  Paul Werbos introducing the </a:t>
            </a:r>
            <a:r>
              <a:rPr kumimoji="1" lang="en" altLang="zh-CN" sz="2400" b="1" dirty="0">
                <a:solidFill>
                  <a:srgbClr val="C00000"/>
                </a:solidFill>
                <a:latin typeface="Arial" panose="020B0604020202020204" pitchFamily="34" charset="0"/>
              </a:rPr>
              <a:t>Multi-Layer Perceptron (MLP)</a:t>
            </a:r>
            <a:r>
              <a:rPr kumimoji="1" lang="en" altLang="zh-CN" sz="2400" dirty="0">
                <a:latin typeface="Arial" panose="020B0604020202020204" pitchFamily="34" charset="0"/>
              </a:rPr>
              <a:t>, which allowed for </a:t>
            </a:r>
            <a:r>
              <a:rPr kumimoji="1" lang="en" altLang="zh-CN" sz="2400" b="1" dirty="0">
                <a:solidFill>
                  <a:srgbClr val="C00000"/>
                </a:solidFill>
                <a:latin typeface="Arial" panose="020B0604020202020204" pitchFamily="34" charset="0"/>
              </a:rPr>
              <a:t>non-linear decision boundaries </a:t>
            </a:r>
            <a:r>
              <a:rPr kumimoji="1" lang="en" altLang="zh-CN" sz="2400" dirty="0">
                <a:latin typeface="Arial" panose="020B0604020202020204" pitchFamily="34" charset="0"/>
              </a:rPr>
              <a:t>and </a:t>
            </a:r>
            <a:r>
              <a:rPr kumimoji="1" lang="en" altLang="zh-CN" sz="2400" b="1" dirty="0">
                <a:solidFill>
                  <a:srgbClr val="C00000"/>
                </a:solidFill>
                <a:latin typeface="Arial" panose="020B0604020202020204" pitchFamily="34" charset="0"/>
              </a:rPr>
              <a:t>chain-rule based back-propagation.</a:t>
            </a:r>
            <a:endParaRPr kumimoji="1" lang="zh-CN" altLang="en-US" sz="2400" b="1" dirty="0">
              <a:solidFill>
                <a:srgbClr val="C00000"/>
              </a:solidFill>
              <a:latin typeface="Arial" panose="020B0604020202020204" pitchFamily="34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01616FB-E4C9-773B-A234-5F86C806E2B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39"/>
          <a:stretch/>
        </p:blipFill>
        <p:spPr>
          <a:xfrm>
            <a:off x="278400" y="3117743"/>
            <a:ext cx="6609368" cy="333958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7260173E-FC89-F610-8B48-626AA22BF142}"/>
              </a:ext>
            </a:extLst>
          </p:cNvPr>
          <p:cNvSpPr txBox="1"/>
          <p:nvPr/>
        </p:nvSpPr>
        <p:spPr>
          <a:xfrm>
            <a:off x="3324118" y="6080717"/>
            <a:ext cx="3184961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" altLang="zh-CN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Mark I Perceptron</a:t>
            </a:r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A1796FED-F471-6CA7-C5A0-0EC1F1B44E74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9557" r="8357"/>
          <a:stretch/>
        </p:blipFill>
        <p:spPr>
          <a:xfrm>
            <a:off x="6743327" y="3326757"/>
            <a:ext cx="5359617" cy="297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242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3168F074-6813-308F-AA2A-5A1B2F538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400" y="136525"/>
            <a:ext cx="10045814" cy="658239"/>
          </a:xfrm>
        </p:spPr>
        <p:txBody>
          <a:bodyPr>
            <a:noAutofit/>
          </a:bodyPr>
          <a:lstStyle/>
          <a:p>
            <a:r>
              <a:rPr kumimoji="1" lang="en" altLang="zh-CN" sz="4000" dirty="0">
                <a:latin typeface="Arial" panose="020B0604020202020204" pitchFamily="34" charset="0"/>
              </a:rPr>
              <a:t>Linear Regression </a:t>
            </a:r>
            <a:r>
              <a:rPr kumimoji="1" lang="en-US" altLang="zh-CN" sz="4000" dirty="0">
                <a:latin typeface="Arial" panose="020B0604020202020204" pitchFamily="34" charset="0"/>
              </a:rPr>
              <a:t>&amp;</a:t>
            </a:r>
            <a:r>
              <a:rPr kumimoji="1" lang="zh-CN" altLang="en-US" sz="4000" dirty="0">
                <a:latin typeface="Arial" panose="020B0604020202020204" pitchFamily="34" charset="0"/>
              </a:rPr>
              <a:t> </a:t>
            </a:r>
            <a:r>
              <a:rPr kumimoji="1" lang="en-US" altLang="zh-CN" sz="4000" dirty="0">
                <a:latin typeface="Arial" panose="020B0604020202020204" pitchFamily="34" charset="0"/>
              </a:rPr>
              <a:t>Machine Learning</a:t>
            </a:r>
            <a:endParaRPr kumimoji="1" lang="zh-CN" altLang="en-US" sz="4000" dirty="0">
              <a:latin typeface="Arial" panose="020B0604020202020204" pitchFamily="34" charset="0"/>
            </a:endParaRP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9366F91-E11E-32A0-60E4-404A3F348C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8400" y="1161535"/>
            <a:ext cx="11768288" cy="5015428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kumimoji="1" lang="en" altLang="zh-CN" sz="2400" dirty="0">
                <a:latin typeface="Arial" panose="020B0604020202020204" pitchFamily="34" charset="0"/>
              </a:rPr>
              <a:t>Linear regression models the best linear fitting between samples and a straight line.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kumimoji="1" lang="en" altLang="zh-CN" sz="2400" dirty="0">
                <a:latin typeface="Arial" panose="020B0604020202020204" pitchFamily="34" charset="0"/>
              </a:rPr>
              <a:t>In Linear Regression, the </a:t>
            </a:r>
            <a:r>
              <a:rPr kumimoji="1" lang="en" altLang="zh-CN" sz="2400" b="1" dirty="0">
                <a:solidFill>
                  <a:srgbClr val="C00000"/>
                </a:solidFill>
                <a:latin typeface="Arial" panose="020B0604020202020204" pitchFamily="34" charset="0"/>
              </a:rPr>
              <a:t>Mean Squared Error (MSE) </a:t>
            </a:r>
            <a:r>
              <a:rPr kumimoji="1" lang="en" altLang="zh-CN" sz="2400" dirty="0">
                <a:latin typeface="Arial" panose="020B0604020202020204" pitchFamily="34" charset="0"/>
              </a:rPr>
              <a:t>cost function is employed, which calculates the average of the squared errors between the predicted values  and the actual values.</a:t>
            </a:r>
            <a:endParaRPr kumimoji="1" lang="zh-CN" altLang="en-US" sz="2400" dirty="0">
              <a:latin typeface="Arial" panose="020B0604020202020204" pitchFamily="34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B895130-830F-8F4D-0B1F-44461EB97F29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11820"/>
          <a:stretch/>
        </p:blipFill>
        <p:spPr>
          <a:xfrm>
            <a:off x="5237369" y="2852539"/>
            <a:ext cx="6676231" cy="3691195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69318CBE-BDA3-292C-C1C4-80D463031E1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62196" y="3517750"/>
            <a:ext cx="5686523" cy="1852428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AB780D7E-A40A-1CC9-9551-C262F200CFFE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9238"/>
          <a:stretch/>
        </p:blipFill>
        <p:spPr>
          <a:xfrm>
            <a:off x="1718145" y="5475034"/>
            <a:ext cx="3194097" cy="665399"/>
          </a:xfrm>
          <a:prstGeom prst="rect">
            <a:avLst/>
          </a:prstGeom>
          <a:ln w="19050">
            <a:solidFill>
              <a:srgbClr val="C00000"/>
            </a:solidFill>
          </a:ln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E5CD7A77-5746-F7AF-9880-DE2F864DD4F9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393802" y="3416792"/>
            <a:ext cx="2316740" cy="690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25117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8A9030-3143-8A9C-96DC-78790B55CA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E75F0BB6-98E7-590C-5522-2195741EF0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400" y="136525"/>
            <a:ext cx="10045814" cy="658239"/>
          </a:xfrm>
        </p:spPr>
        <p:txBody>
          <a:bodyPr>
            <a:noAutofit/>
          </a:bodyPr>
          <a:lstStyle/>
          <a:p>
            <a:r>
              <a:rPr kumimoji="1" lang="en" altLang="zh-CN" sz="4000" dirty="0">
                <a:latin typeface="Arial" panose="020B0604020202020204" pitchFamily="34" charset="0"/>
              </a:rPr>
              <a:t>Gradient Descent of Linear Regression</a:t>
            </a:r>
            <a:endParaRPr kumimoji="1" lang="zh-CN" altLang="en-US" sz="4000" dirty="0">
              <a:latin typeface="Arial" panose="020B0604020202020204" pitchFamily="34" charset="0"/>
            </a:endParaRP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DE22102-D448-0FEA-313E-82A71DBE45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8400" y="1161535"/>
            <a:ext cx="11768288" cy="5015428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kumimoji="1" lang="en" altLang="zh-CN" sz="2400" dirty="0">
                <a:latin typeface="Arial" panose="020B0604020202020204" pitchFamily="34" charset="0"/>
              </a:rPr>
              <a:t>Finding the coefficients with </a:t>
            </a:r>
            <a:r>
              <a:rPr kumimoji="1" lang="en" altLang="zh-CN" sz="2400" b="1" dirty="0">
                <a:solidFill>
                  <a:srgbClr val="C00000"/>
                </a:solidFill>
                <a:latin typeface="Arial" panose="020B0604020202020204" pitchFamily="34" charset="0"/>
              </a:rPr>
              <a:t>minimum cost</a:t>
            </a:r>
            <a:r>
              <a:rPr kumimoji="1" lang="en" altLang="zh-CN" sz="2400" dirty="0">
                <a:latin typeface="Arial" panose="020B0604020202020204" pitchFamily="34" charset="0"/>
              </a:rPr>
              <a:t> is the objective of LR by iterations.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F372431-B5F9-548A-4404-7C785AD5CAD8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83510" y="1818166"/>
            <a:ext cx="5384610" cy="4645765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7FE270D4-EE48-B321-16A8-C93B08197829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566101" y="1818166"/>
            <a:ext cx="5489206" cy="4641368"/>
          </a:xfrm>
          <a:prstGeom prst="rect">
            <a:avLst/>
          </a:prstGeom>
        </p:spPr>
      </p:pic>
      <p:pic>
        <p:nvPicPr>
          <p:cNvPr id="10" name="图片 9" descr="图示&#10;&#10;AI 生成的内容可能不正确。">
            <a:extLst>
              <a:ext uri="{FF2B5EF4-FFF2-40B4-BE49-F238E27FC236}">
                <a16:creationId xmlns:a16="http://schemas.microsoft.com/office/drawing/2014/main" id="{44093561-9054-265D-D9A1-F6D3AC4CDA93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780885" y="4481780"/>
            <a:ext cx="3411115" cy="2218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46013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12212DF4-9BCC-2D18-BB4C-F93A78779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" altLang="zh-CN" sz="4000" dirty="0">
                <a:latin typeface="Arial" panose="020B0604020202020204" pitchFamily="34" charset="0"/>
              </a:rPr>
              <a:t>Matrix-Vector Products</a:t>
            </a:r>
            <a:endParaRPr kumimoji="1" lang="zh-CN" altLang="en-US" sz="4000" dirty="0">
              <a:latin typeface="Arial" panose="020B0604020202020204" pitchFamily="34" charset="0"/>
            </a:endParaRP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A23AA67-4AC1-A8F1-64DF-8A9A80C89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8400" y="1012874"/>
            <a:ext cx="11635200" cy="5164089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kumimoji="1" lang="en" altLang="zh-CN" sz="2400" dirty="0">
                <a:latin typeface="Arial" panose="020B0604020202020204" pitchFamily="34" charset="0"/>
              </a:rPr>
              <a:t>Matrix-vector product is the primary computation in Artificial Neural Networks (ANN) from day one</a:t>
            </a:r>
            <a:r>
              <a:rPr kumimoji="1" lang="en-US" altLang="zh-CN" sz="2400" dirty="0">
                <a:latin typeface="Arial" panose="020B0604020202020204" pitchFamily="34" charset="0"/>
              </a:rPr>
              <a:t>, including </a:t>
            </a:r>
            <a:r>
              <a:rPr kumimoji="1" lang="en-US" altLang="zh-CN" sz="2400" b="1" dirty="0">
                <a:solidFill>
                  <a:srgbClr val="C00000"/>
                </a:solidFill>
                <a:latin typeface="Arial" panose="020B0604020202020204" pitchFamily="34" charset="0"/>
              </a:rPr>
              <a:t>input features ( also called activations), weights and output features</a:t>
            </a:r>
            <a:r>
              <a:rPr kumimoji="1" lang="en" altLang="zh-CN" sz="2400" b="1" dirty="0">
                <a:solidFill>
                  <a:srgbClr val="C00000"/>
                </a:solidFill>
                <a:latin typeface="Arial" panose="020B0604020202020204" pitchFamily="34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kumimoji="1" lang="en" altLang="zh-CN" sz="2400" b="1" dirty="0">
                <a:solidFill>
                  <a:srgbClr val="C00000"/>
                </a:solidFill>
                <a:latin typeface="Arial" panose="020B0604020202020204" pitchFamily="34" charset="0"/>
              </a:rPr>
              <a:t>Fully-connected layers </a:t>
            </a:r>
            <a:r>
              <a:rPr kumimoji="1" lang="en" altLang="zh-CN" sz="2400" dirty="0">
                <a:latin typeface="Arial" panose="020B0604020202020204" pitchFamily="34" charset="0"/>
              </a:rPr>
              <a:t>(linear layers) rely heavily on matrix-vector multiplication for data transformation / projection / up-down sampling .</a:t>
            </a:r>
            <a:endParaRPr kumimoji="1" lang="zh-CN" altLang="en-US" sz="2400" dirty="0">
              <a:latin typeface="Arial" panose="020B0604020202020204" pitchFamily="34" charset="0"/>
            </a:endParaRPr>
          </a:p>
        </p:txBody>
      </p:sp>
      <p:pic>
        <p:nvPicPr>
          <p:cNvPr id="5" name="Picture 2" descr="https://www.researchgate.net/publication/318025612/figure/fig2/AS:510817424031744@1498799772936/The-structure-of-the-fully-connected-layer-a-b-and-the-data-dependency-c.png">
            <a:extLst>
              <a:ext uri="{FF2B5EF4-FFF2-40B4-BE49-F238E27FC236}">
                <a16:creationId xmlns:a16="http://schemas.microsoft.com/office/drawing/2014/main" id="{887CAF9E-C2F9-3685-89A1-3E6792BB1D7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638" t="51608" r="30026" b="4446"/>
          <a:stretch/>
        </p:blipFill>
        <p:spPr bwMode="auto">
          <a:xfrm>
            <a:off x="106325" y="3429000"/>
            <a:ext cx="3265714" cy="26956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https://www.researchgate.net/publication/318025612/figure/fig2/AS:510817424031744@1498799772936/The-structure-of-the-fully-connected-layer-a-b-and-the-data-dependency-c.png">
            <a:extLst>
              <a:ext uri="{FF2B5EF4-FFF2-40B4-BE49-F238E27FC236}">
                <a16:creationId xmlns:a16="http://schemas.microsoft.com/office/drawing/2014/main" id="{836D6012-8340-0134-F809-BAE92B40A1A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5916"/>
          <a:stretch/>
        </p:blipFill>
        <p:spPr bwMode="auto">
          <a:xfrm>
            <a:off x="3594694" y="3472832"/>
            <a:ext cx="8096250" cy="27041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877664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FB3909FE-99A5-D61F-6B0F-E7B41AE35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" altLang="zh-CN" sz="4000">
                <a:latin typeface="Arial" panose="020B0604020202020204" pitchFamily="34" charset="0"/>
              </a:rPr>
              <a:t>Activation Functions</a:t>
            </a:r>
            <a:endParaRPr kumimoji="1" lang="zh-CN" altLang="en-US" sz="4000">
              <a:latin typeface="Arial" panose="020B0604020202020204" pitchFamily="34" charset="0"/>
            </a:endParaRP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446B705-18CC-B247-7530-14EE2B3F11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kumimoji="1" lang="en" altLang="zh-CN" sz="2400" b="1" dirty="0">
                <a:solidFill>
                  <a:srgbClr val="C00000"/>
                </a:solidFill>
                <a:latin typeface="Arial" panose="020B0604020202020204" pitchFamily="34" charset="0"/>
              </a:rPr>
              <a:t>Activation functions introduce non-linearity </a:t>
            </a:r>
            <a:r>
              <a:rPr kumimoji="1" lang="en" altLang="zh-CN" sz="2400" dirty="0">
                <a:latin typeface="Arial" panose="020B0604020202020204" pitchFamily="34" charset="0"/>
              </a:rPr>
              <a:t>to the network, allowing it to model complex relationships..
Common Functions: Sigmoid, ReLU, tanh are commonly used activation functions.</a:t>
            </a:r>
            <a:endParaRPr kumimoji="1" lang="zh-CN" altLang="en-US" sz="2400" dirty="0">
              <a:latin typeface="Arial" panose="020B0604020202020204" pitchFamily="34" charset="0"/>
            </a:endParaRPr>
          </a:p>
        </p:txBody>
      </p:sp>
      <p:pic>
        <p:nvPicPr>
          <p:cNvPr id="8" name="图片 7" descr="图示&#10;&#10;AI 生成的内容可能不正确。">
            <a:extLst>
              <a:ext uri="{FF2B5EF4-FFF2-40B4-BE49-F238E27FC236}">
                <a16:creationId xmlns:a16="http://schemas.microsoft.com/office/drawing/2014/main" id="{DAEB160B-4DA1-67AC-1DB0-29ABCD4B1551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12886" y="2796311"/>
            <a:ext cx="5451978" cy="3593855"/>
          </a:xfrm>
          <a:prstGeom prst="rect">
            <a:avLst/>
          </a:prstGeom>
        </p:spPr>
      </p:pic>
      <p:pic>
        <p:nvPicPr>
          <p:cNvPr id="10" name="图片 9" descr="文本&#10;&#10;AI 生成的内容可能不正确。">
            <a:extLst>
              <a:ext uri="{FF2B5EF4-FFF2-40B4-BE49-F238E27FC236}">
                <a16:creationId xmlns:a16="http://schemas.microsoft.com/office/drawing/2014/main" id="{A9CFB1CF-6E26-43D5-0CBA-A5EB6C8234F8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152997" y="2739595"/>
            <a:ext cx="5800344" cy="1933448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62459E0F-47CB-B500-3FC5-0A864322D14B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871264" y="4549134"/>
            <a:ext cx="6202680" cy="2056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01312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14556E78-4A62-B95F-AC8D-29D6751BB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" altLang="zh-CN" sz="4000" dirty="0">
                <a:latin typeface="Arial" panose="020B0604020202020204" pitchFamily="34" charset="0"/>
              </a:rPr>
              <a:t>Classifier and Loss Functions</a:t>
            </a:r>
            <a:endParaRPr kumimoji="1" lang="zh-CN" altLang="en-US" sz="4000" dirty="0">
              <a:latin typeface="Arial" panose="020B0604020202020204" pitchFamily="34" charset="0"/>
            </a:endParaRP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D6B58CD-1246-8896-4697-BA4C5ECD37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kumimoji="1" lang="en" altLang="zh-CN" sz="2400" b="1" dirty="0">
                <a:latin typeface="Arial" panose="020B0604020202020204" pitchFamily="34" charset="0"/>
              </a:rPr>
              <a:t>Classifier</a:t>
            </a:r>
            <a:r>
              <a:rPr kumimoji="1" lang="en" altLang="zh-CN" sz="2400" dirty="0">
                <a:latin typeface="Arial" panose="020B0604020202020204" pitchFamily="34" charset="0"/>
              </a:rPr>
              <a:t>: A model that assigns input data to predefined categories based on </a:t>
            </a:r>
            <a:r>
              <a:rPr kumimoji="1" lang="en" altLang="zh-CN" sz="2400" b="1" dirty="0">
                <a:latin typeface="Arial" panose="020B0604020202020204" pitchFamily="34" charset="0"/>
              </a:rPr>
              <a:t>score function</a:t>
            </a:r>
            <a:r>
              <a:rPr kumimoji="1" lang="en" altLang="zh-CN" sz="2400" dirty="0">
                <a:latin typeface="Arial" panose="020B0604020202020204" pitchFamily="34" charset="0"/>
              </a:rPr>
              <a:t>’s output, raw value from NN through weighted sums..
</a:t>
            </a:r>
            <a:r>
              <a:rPr kumimoji="1" lang="en" altLang="zh-CN" sz="2400" b="1" dirty="0">
                <a:latin typeface="Arial" panose="020B0604020202020204" pitchFamily="34" charset="0"/>
              </a:rPr>
              <a:t>Loss function</a:t>
            </a:r>
            <a:r>
              <a:rPr kumimoji="1" lang="en" altLang="zh-CN" sz="2400" dirty="0">
                <a:latin typeface="Arial" panose="020B0604020202020204" pitchFamily="34" charset="0"/>
              </a:rPr>
              <a:t>: define the difference between the score function and ground truth label.</a:t>
            </a:r>
          </a:p>
        </p:txBody>
      </p:sp>
      <p:pic>
        <p:nvPicPr>
          <p:cNvPr id="5" name="图片 3" descr="屏幕剪辑">
            <a:extLst>
              <a:ext uri="{FF2B5EF4-FFF2-40B4-BE49-F238E27FC236}">
                <a16:creationId xmlns:a16="http://schemas.microsoft.com/office/drawing/2014/main" id="{029112B0-751C-E3A2-814D-34D6E040190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336" t="10731" r="23473" b="74379"/>
          <a:stretch/>
        </p:blipFill>
        <p:spPr>
          <a:xfrm>
            <a:off x="781153" y="3712059"/>
            <a:ext cx="2030471" cy="517909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5E6ABD24-AE52-CD52-D873-BAC8B772A430}"/>
              </a:ext>
            </a:extLst>
          </p:cNvPr>
          <p:cNvSpPr txBox="1"/>
          <p:nvPr/>
        </p:nvSpPr>
        <p:spPr>
          <a:xfrm>
            <a:off x="664176" y="3232869"/>
            <a:ext cx="60980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Given a dataset and its label, 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0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 is input, </a:t>
            </a:r>
            <a:r>
              <a:rPr lang="en-US" altLang="zh-C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0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is label</a:t>
            </a:r>
          </a:p>
        </p:txBody>
      </p:sp>
      <p:pic>
        <p:nvPicPr>
          <p:cNvPr id="8" name="图片 3" descr="屏幕剪辑">
            <a:extLst>
              <a:ext uri="{FF2B5EF4-FFF2-40B4-BE49-F238E27FC236}">
                <a16:creationId xmlns:a16="http://schemas.microsoft.com/office/drawing/2014/main" id="{1FEC54CB-4044-C6BA-E20B-2B236882754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365"/>
          <a:stretch/>
        </p:blipFill>
        <p:spPr>
          <a:xfrm>
            <a:off x="2811624" y="4281554"/>
            <a:ext cx="3284376" cy="863243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C18D1A8D-DF14-0FFB-DBDA-9D96C895961E}"/>
              </a:ext>
            </a:extLst>
          </p:cNvPr>
          <p:cNvSpPr txBox="1"/>
          <p:nvPr/>
        </p:nvSpPr>
        <p:spPr>
          <a:xfrm>
            <a:off x="664176" y="4458145"/>
            <a:ext cx="200076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Loss function: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6F03BA1-2E7F-0970-341E-1668417A05D9}"/>
              </a:ext>
            </a:extLst>
          </p:cNvPr>
          <p:cNvSpPr txBox="1"/>
          <p:nvPr/>
        </p:nvSpPr>
        <p:spPr>
          <a:xfrm>
            <a:off x="693297" y="5196290"/>
            <a:ext cx="200076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Cross-entropy Loss function:</a:t>
            </a:r>
          </a:p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zh-CN" sz="2000" dirty="0" err="1">
                <a:latin typeface="Arial" panose="020B0604020202020204" pitchFamily="34" charset="0"/>
                <a:cs typeface="Arial" panose="020B0604020202020204" pitchFamily="34" charset="0"/>
              </a:rPr>
              <a:t>Softmax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pic>
        <p:nvPicPr>
          <p:cNvPr id="11" name="图片 3" descr="屏幕剪辑">
            <a:extLst>
              <a:ext uri="{FF2B5EF4-FFF2-40B4-BE49-F238E27FC236}">
                <a16:creationId xmlns:a16="http://schemas.microsoft.com/office/drawing/2014/main" id="{AECE7CF6-6184-1D73-5206-F8F1092281D1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1625" y="5049880"/>
            <a:ext cx="2934268" cy="1197064"/>
          </a:xfrm>
          <a:prstGeom prst="rect">
            <a:avLst/>
          </a:prstGeom>
        </p:spPr>
      </p:pic>
      <p:pic>
        <p:nvPicPr>
          <p:cNvPr id="12" name="图片 4" descr="屏幕剪辑">
            <a:extLst>
              <a:ext uri="{FF2B5EF4-FFF2-40B4-BE49-F238E27FC236}">
                <a16:creationId xmlns:a16="http://schemas.microsoft.com/office/drawing/2014/main" id="{AAC2E1AC-EC80-E05A-A37B-37012E808C4B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9797" y="2783296"/>
            <a:ext cx="4919782" cy="3546021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7A6759D8-0833-F4E7-014A-C481E8A6CCC3}"/>
              </a:ext>
            </a:extLst>
          </p:cNvPr>
          <p:cNvSpPr txBox="1"/>
          <p:nvPr/>
        </p:nvSpPr>
        <p:spPr>
          <a:xfrm>
            <a:off x="3167165" y="3799695"/>
            <a:ext cx="200076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Score function:</a:t>
            </a:r>
          </a:p>
        </p:txBody>
      </p:sp>
      <p:pic>
        <p:nvPicPr>
          <p:cNvPr id="14" name="图片 3" descr="屏幕剪辑">
            <a:extLst>
              <a:ext uri="{FF2B5EF4-FFF2-40B4-BE49-F238E27FC236}">
                <a16:creationId xmlns:a16="http://schemas.microsoft.com/office/drawing/2014/main" id="{3CA0B323-BA75-78BB-9334-3314C7EB62C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933" t="73365" r="15181"/>
          <a:stretch/>
        </p:blipFill>
        <p:spPr>
          <a:xfrm>
            <a:off x="5142620" y="3594901"/>
            <a:ext cx="1047236" cy="863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68776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399CFD29-28F3-A830-7ED4-746892F41D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400" y="136525"/>
            <a:ext cx="11332353" cy="658239"/>
          </a:xfrm>
        </p:spPr>
        <p:txBody>
          <a:bodyPr>
            <a:noAutofit/>
          </a:bodyPr>
          <a:lstStyle/>
          <a:p>
            <a:r>
              <a:rPr kumimoji="1" lang="en" altLang="zh-CN" sz="4000" dirty="0" err="1">
                <a:latin typeface="Arial" panose="020B0604020202020204" pitchFamily="34" charset="0"/>
              </a:rPr>
              <a:t>Softmax</a:t>
            </a:r>
            <a:r>
              <a:rPr kumimoji="1" lang="en" altLang="zh-CN" sz="4000" dirty="0">
                <a:latin typeface="Arial" panose="020B0604020202020204" pitchFamily="34" charset="0"/>
              </a:rPr>
              <a:t> Classifier </a:t>
            </a:r>
            <a:endParaRPr kumimoji="1" lang="zh-CN" altLang="en-US" sz="4000" dirty="0">
              <a:latin typeface="Arial" panose="020B0604020202020204" pitchFamily="34" charset="0"/>
            </a:endParaRPr>
          </a:p>
        </p:txBody>
      </p:sp>
      <p:pic>
        <p:nvPicPr>
          <p:cNvPr id="7" name="内容占位符 3" descr="屏幕剪辑">
            <a:extLst>
              <a:ext uri="{FF2B5EF4-FFF2-40B4-BE49-F238E27FC236}">
                <a16:creationId xmlns:a16="http://schemas.microsoft.com/office/drawing/2014/main" id="{B31663A3-00E0-EB6D-D764-3D9C43C48085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1444784"/>
            <a:ext cx="10058400" cy="4222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60857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938611-5792-DE03-D362-FBF521372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8DF4C1BF-7FF0-70F6-9FCD-08B067D28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400" y="136525"/>
            <a:ext cx="11332353" cy="658239"/>
          </a:xfrm>
        </p:spPr>
        <p:txBody>
          <a:bodyPr>
            <a:noAutofit/>
          </a:bodyPr>
          <a:lstStyle/>
          <a:p>
            <a:r>
              <a:rPr kumimoji="1" lang="en" altLang="zh-CN" sz="4000" dirty="0" err="1">
                <a:latin typeface="Arial" panose="020B0604020202020204" pitchFamily="34" charset="0"/>
              </a:rPr>
              <a:t>Softmax</a:t>
            </a:r>
            <a:r>
              <a:rPr kumimoji="1" lang="en" altLang="zh-CN" sz="4000" dirty="0">
                <a:latin typeface="Arial" panose="020B0604020202020204" pitchFamily="34" charset="0"/>
              </a:rPr>
              <a:t> Classifier </a:t>
            </a:r>
            <a:endParaRPr kumimoji="1" lang="zh-CN" altLang="en-US" sz="4000" dirty="0">
              <a:latin typeface="Arial" panose="020B0604020202020204" pitchFamily="34" charset="0"/>
            </a:endParaRPr>
          </a:p>
        </p:txBody>
      </p:sp>
      <p:pic>
        <p:nvPicPr>
          <p:cNvPr id="6" name="内容占位符 3" descr="屏幕剪辑">
            <a:extLst>
              <a:ext uri="{FF2B5EF4-FFF2-40B4-BE49-F238E27FC236}">
                <a16:creationId xmlns:a16="http://schemas.microsoft.com/office/drawing/2014/main" id="{B98135F2-78F0-A561-DCD6-89C9BFE5B558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1435127"/>
            <a:ext cx="10058400" cy="4241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3890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BFADF9-287D-7F4E-88F3-299E5D936B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B6E25E04-4845-C8AE-DBB0-6A6779387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400" y="136525"/>
            <a:ext cx="11332353" cy="658239"/>
          </a:xfrm>
        </p:spPr>
        <p:txBody>
          <a:bodyPr>
            <a:noAutofit/>
          </a:bodyPr>
          <a:lstStyle/>
          <a:p>
            <a:r>
              <a:rPr kumimoji="1" lang="en" altLang="zh-CN" sz="4000" dirty="0" err="1">
                <a:latin typeface="Arial" panose="020B0604020202020204" pitchFamily="34" charset="0"/>
              </a:rPr>
              <a:t>Softmax</a:t>
            </a:r>
            <a:r>
              <a:rPr kumimoji="1" lang="en" altLang="zh-CN" sz="4000" dirty="0">
                <a:latin typeface="Arial" panose="020B0604020202020204" pitchFamily="34" charset="0"/>
              </a:rPr>
              <a:t> Classifier </a:t>
            </a:r>
            <a:endParaRPr kumimoji="1" lang="zh-CN" altLang="en-US" sz="4000" dirty="0">
              <a:latin typeface="Arial" panose="020B0604020202020204" pitchFamily="34" charset="0"/>
            </a:endParaRPr>
          </a:p>
        </p:txBody>
      </p:sp>
      <p:pic>
        <p:nvPicPr>
          <p:cNvPr id="2" name="内容占位符 3" descr="屏幕剪辑">
            <a:extLst>
              <a:ext uri="{FF2B5EF4-FFF2-40B4-BE49-F238E27FC236}">
                <a16:creationId xmlns:a16="http://schemas.microsoft.com/office/drawing/2014/main" id="{57DA31A1-CA04-1877-EBEE-9E0CE15F68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1421607"/>
            <a:ext cx="10058400" cy="4243387"/>
          </a:xfrm>
        </p:spPr>
      </p:pic>
      <p:pic>
        <p:nvPicPr>
          <p:cNvPr id="5" name="图片 3" descr="屏幕剪辑">
            <a:extLst>
              <a:ext uri="{FF2B5EF4-FFF2-40B4-BE49-F238E27FC236}">
                <a16:creationId xmlns:a16="http://schemas.microsoft.com/office/drawing/2014/main" id="{CB0D4FA1-AB63-477F-B710-E99B96A98F6D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4389" y="5323852"/>
            <a:ext cx="2934268" cy="1197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90250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101520B-172D-27FC-597A-1BE4273506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400" y="136525"/>
            <a:ext cx="9965351" cy="658239"/>
          </a:xfrm>
        </p:spPr>
        <p:txBody>
          <a:bodyPr>
            <a:normAutofit/>
          </a:bodyPr>
          <a:lstStyle/>
          <a:p>
            <a:r>
              <a:rPr kumimoji="1" lang="en" altLang="zh-CN" sz="4000" dirty="0">
                <a:latin typeface="Arial" panose="020B0604020202020204" pitchFamily="34" charset="0"/>
              </a:rPr>
              <a:t>Backpropagation of </a:t>
            </a:r>
            <a:r>
              <a:rPr kumimoji="1" lang="en" altLang="zh-CN" sz="4000" dirty="0" err="1">
                <a:latin typeface="Arial" panose="020B0604020202020204" pitchFamily="34" charset="0"/>
              </a:rPr>
              <a:t>Softmax</a:t>
            </a:r>
            <a:r>
              <a:rPr kumimoji="1" lang="en" altLang="zh-CN" sz="4000" dirty="0">
                <a:latin typeface="Arial" panose="020B0604020202020204" pitchFamily="34" charset="0"/>
              </a:rPr>
              <a:t> Classifier</a:t>
            </a:r>
            <a:endParaRPr kumimoji="1" lang="zh-CN" altLang="en-US" sz="4000" dirty="0">
              <a:latin typeface="Arial" panose="020B0604020202020204" pitchFamily="34" charset="0"/>
            </a:endParaRPr>
          </a:p>
        </p:txBody>
      </p:sp>
      <p:pic>
        <p:nvPicPr>
          <p:cNvPr id="8" name="Picture 2" descr="See the source image">
            <a:extLst>
              <a:ext uri="{FF2B5EF4-FFF2-40B4-BE49-F238E27FC236}">
                <a16:creationId xmlns:a16="http://schemas.microsoft.com/office/drawing/2014/main" id="{6BDCB5F9-45C2-E5C8-91E1-3837A687854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317" b="48727"/>
          <a:stretch>
            <a:fillRect/>
          </a:stretch>
        </p:blipFill>
        <p:spPr bwMode="auto">
          <a:xfrm>
            <a:off x="278400" y="2722098"/>
            <a:ext cx="6002248" cy="3516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See the source image">
            <a:extLst>
              <a:ext uri="{FF2B5EF4-FFF2-40B4-BE49-F238E27FC236}">
                <a16:creationId xmlns:a16="http://schemas.microsoft.com/office/drawing/2014/main" id="{C01AA5D9-63B7-2B82-7AE2-6E50981F5F0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065"/>
          <a:stretch/>
        </p:blipFill>
        <p:spPr bwMode="auto">
          <a:xfrm>
            <a:off x="6427200" y="1105848"/>
            <a:ext cx="5486400" cy="52508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 descr="See the source image">
            <a:extLst>
              <a:ext uri="{FF2B5EF4-FFF2-40B4-BE49-F238E27FC236}">
                <a16:creationId xmlns:a16="http://schemas.microsoft.com/office/drawing/2014/main" id="{C4622D19-8301-31D3-A076-2E4899BDF4F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525" t="8554" b="82807"/>
          <a:stretch>
            <a:fillRect/>
          </a:stretch>
        </p:blipFill>
        <p:spPr bwMode="auto">
          <a:xfrm>
            <a:off x="297171" y="1443506"/>
            <a:ext cx="1589073" cy="10141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See the source image">
            <a:extLst>
              <a:ext uri="{FF2B5EF4-FFF2-40B4-BE49-F238E27FC236}">
                <a16:creationId xmlns:a16="http://schemas.microsoft.com/office/drawing/2014/main" id="{1DBDADC0-213C-1AA7-ACD3-5FA58D9DF97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554" r="68160" b="82807"/>
          <a:stretch>
            <a:fillRect/>
          </a:stretch>
        </p:blipFill>
        <p:spPr bwMode="auto">
          <a:xfrm>
            <a:off x="2236216" y="1443507"/>
            <a:ext cx="1911120" cy="10141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See the source image">
            <a:extLst>
              <a:ext uri="{FF2B5EF4-FFF2-40B4-BE49-F238E27FC236}">
                <a16:creationId xmlns:a16="http://schemas.microsoft.com/office/drawing/2014/main" id="{32096436-1E3B-EF65-DEC9-A6842153C64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936" t="8554" r="29502" b="82807"/>
          <a:stretch>
            <a:fillRect/>
          </a:stretch>
        </p:blipFill>
        <p:spPr bwMode="auto">
          <a:xfrm>
            <a:off x="4368019" y="1443506"/>
            <a:ext cx="2194560" cy="10141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内容占位符 3">
            <a:extLst>
              <a:ext uri="{FF2B5EF4-FFF2-40B4-BE49-F238E27FC236}">
                <a16:creationId xmlns:a16="http://schemas.microsoft.com/office/drawing/2014/main" id="{18F3D54A-A8AC-9627-8F5F-9D26F9178CCF}"/>
              </a:ext>
            </a:extLst>
          </p:cNvPr>
          <p:cNvSpPr txBox="1">
            <a:spLocks/>
          </p:cNvSpPr>
          <p:nvPr/>
        </p:nvSpPr>
        <p:spPr>
          <a:xfrm>
            <a:off x="278400" y="971020"/>
            <a:ext cx="1342629" cy="5952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Wingdings" pitchFamily="2" charset="2"/>
              <a:buChar char="Ø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Wingdings" pitchFamily="2" charset="2"/>
              <a:buChar char="Ø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Wingdings" pitchFamily="2" charset="2"/>
              <a:buChar char="Ø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Wingdings" pitchFamily="2" charset="2"/>
              <a:buChar char="Ø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kumimoji="1" lang="en" altLang="zh-CN" sz="2400" b="1" dirty="0">
                <a:latin typeface="Arial" panose="020B0604020202020204" pitchFamily="34" charset="0"/>
              </a:rPr>
              <a:t>S</a:t>
            </a:r>
            <a:r>
              <a:rPr kumimoji="1" lang="en-US" altLang="zh-CN" sz="2400" b="1" dirty="0">
                <a:latin typeface="Arial" panose="020B0604020202020204" pitchFamily="34" charset="0"/>
              </a:rPr>
              <a:t>core:</a:t>
            </a:r>
            <a:endParaRPr kumimoji="1" lang="en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12" name="内容占位符 3">
            <a:extLst>
              <a:ext uri="{FF2B5EF4-FFF2-40B4-BE49-F238E27FC236}">
                <a16:creationId xmlns:a16="http://schemas.microsoft.com/office/drawing/2014/main" id="{CA7AC12E-1CA1-2DF3-D98B-9B1341BDE681}"/>
              </a:ext>
            </a:extLst>
          </p:cNvPr>
          <p:cNvSpPr txBox="1">
            <a:spLocks/>
          </p:cNvSpPr>
          <p:nvPr/>
        </p:nvSpPr>
        <p:spPr>
          <a:xfrm>
            <a:off x="1952229" y="971019"/>
            <a:ext cx="1808595" cy="5952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Wingdings" pitchFamily="2" charset="2"/>
              <a:buChar char="Ø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Wingdings" pitchFamily="2" charset="2"/>
              <a:buChar char="Ø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Wingdings" pitchFamily="2" charset="2"/>
              <a:buChar char="Ø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Wingdings" pitchFamily="2" charset="2"/>
              <a:buChar char="Ø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kumimoji="1" lang="en-US" altLang="zh-CN" sz="2400" b="1" dirty="0">
                <a:latin typeface="Arial" panose="020B0604020202020204" pitchFamily="34" charset="0"/>
              </a:rPr>
              <a:t>Probability:</a:t>
            </a:r>
            <a:endParaRPr kumimoji="1" lang="en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14" name="内容占位符 3">
            <a:extLst>
              <a:ext uri="{FF2B5EF4-FFF2-40B4-BE49-F238E27FC236}">
                <a16:creationId xmlns:a16="http://schemas.microsoft.com/office/drawing/2014/main" id="{A66C0A64-8DFD-E52C-86A2-DEB062C138B3}"/>
              </a:ext>
            </a:extLst>
          </p:cNvPr>
          <p:cNvSpPr txBox="1">
            <a:spLocks/>
          </p:cNvSpPr>
          <p:nvPr/>
        </p:nvSpPr>
        <p:spPr>
          <a:xfrm>
            <a:off x="4166108" y="974192"/>
            <a:ext cx="2459775" cy="5952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Wingdings" pitchFamily="2" charset="2"/>
              <a:buChar char="Ø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Wingdings" pitchFamily="2" charset="2"/>
              <a:buChar char="Ø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Wingdings" pitchFamily="2" charset="2"/>
              <a:buChar char="Ø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Wingdings" pitchFamily="2" charset="2"/>
              <a:buChar char="Ø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kumimoji="1" lang="en-US" altLang="zh-CN" sz="2400" b="1" dirty="0">
                <a:latin typeface="Arial" panose="020B0604020202020204" pitchFamily="34" charset="0"/>
              </a:rPr>
              <a:t>Cross-Entropy:</a:t>
            </a:r>
            <a:endParaRPr kumimoji="1" lang="en" altLang="zh-CN" sz="2400" b="1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60839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52B6705A-B490-2370-A8D2-74F2794F4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400" y="136525"/>
            <a:ext cx="10125989" cy="658239"/>
          </a:xfrm>
        </p:spPr>
        <p:txBody>
          <a:bodyPr>
            <a:normAutofit/>
          </a:bodyPr>
          <a:lstStyle/>
          <a:p>
            <a:r>
              <a:rPr kumimoji="1" lang="en" altLang="zh-CN" sz="4000" dirty="0">
                <a:latin typeface="Arial" panose="020B0604020202020204" pitchFamily="34" charset="0"/>
              </a:rPr>
              <a:t>Weight Updating and Adam Optimizer</a:t>
            </a:r>
            <a:endParaRPr kumimoji="1" lang="zh-CN" altLang="en-US" sz="4000" dirty="0">
              <a:latin typeface="Arial" panose="020B0604020202020204" pitchFamily="34" charset="0"/>
            </a:endParaRP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E57EE23-5E6B-2054-3A2B-B1AC5762C0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kumimoji="1" lang="en" altLang="zh-CN" sz="2400" dirty="0">
                <a:latin typeface="Arial" panose="020B0604020202020204" pitchFamily="34" charset="0"/>
              </a:rPr>
              <a:t>Momentum: Incorporates past gradient updates to accelerate convergence and reduce oscillations during optimization (faster optimization and less oscillation)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kumimoji="1" lang="en" altLang="zh-CN" sz="2400" dirty="0">
                <a:latin typeface="Arial" panose="020B0604020202020204" pitchFamily="34" charset="0"/>
              </a:rPr>
              <a:t>Adam (Adaptive Momentum Estimation) optimizer combines momentum and adaptive learning rates for efficient and stable weight updates.</a:t>
            </a:r>
            <a:endParaRPr kumimoji="1" lang="zh-CN" altLang="en-US" sz="2400" dirty="0">
              <a:latin typeface="Arial" panose="020B0604020202020204" pitchFamily="34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C9B919C-F9C8-4B32-FB25-4C221CAD2BE5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10403" y="3203198"/>
            <a:ext cx="6426200" cy="3200400"/>
          </a:xfrm>
          <a:prstGeom prst="rect">
            <a:avLst/>
          </a:prstGeom>
        </p:spPr>
      </p:pic>
      <p:pic>
        <p:nvPicPr>
          <p:cNvPr id="1026" name="Picture 2" descr="ADAM&#10;">
            <a:extLst>
              <a:ext uri="{FF2B5EF4-FFF2-40B4-BE49-F238E27FC236}">
                <a16:creationId xmlns:a16="http://schemas.microsoft.com/office/drawing/2014/main" id="{8A5F84B1-A118-C333-A78F-8A1B0EB3A9B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1982"/>
          <a:stretch/>
        </p:blipFill>
        <p:spPr bwMode="auto">
          <a:xfrm>
            <a:off x="6936603" y="3336325"/>
            <a:ext cx="4744994" cy="28816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FF270AAC-14C1-7A59-8BEF-916FC0627DA0}"/>
              </a:ext>
            </a:extLst>
          </p:cNvPr>
          <p:cNvSpPr txBox="1"/>
          <p:nvPr/>
        </p:nvSpPr>
        <p:spPr>
          <a:xfrm>
            <a:off x="6936603" y="5997401"/>
            <a:ext cx="48641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i="1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n-US" altLang="zh-CN" sz="2000" i="1" baseline="-25000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 first momentum </a:t>
            </a:r>
            <a:r>
              <a:rPr lang="en-US" altLang="zh-CN" sz="2000" i="1" dirty="0" err="1"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en-US" altLang="zh-CN" sz="2000" i="1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 second momentum</a:t>
            </a:r>
          </a:p>
          <a:p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BF6BAB3-7306-6944-8680-D5C054D9B563}"/>
              </a:ext>
            </a:extLst>
          </p:cNvPr>
          <p:cNvSpPr txBox="1"/>
          <p:nvPr/>
        </p:nvSpPr>
        <p:spPr>
          <a:xfrm>
            <a:off x="306890" y="6543734"/>
            <a:ext cx="98874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" altLang="zh-CN" dirty="0"/>
              <a:t>Ref: https://</a:t>
            </a:r>
            <a:r>
              <a:rPr kumimoji="1" lang="en" altLang="zh-CN" dirty="0" err="1"/>
              <a:t>artemoppermann.com</a:t>
            </a:r>
            <a:r>
              <a:rPr kumimoji="1" lang="en" altLang="zh-CN" dirty="0"/>
              <a:t>/optimization-in-deep-learning-</a:t>
            </a:r>
            <a:r>
              <a:rPr kumimoji="1" lang="en" altLang="zh-CN" dirty="0" err="1"/>
              <a:t>adagrad</a:t>
            </a:r>
            <a:r>
              <a:rPr kumimoji="1" lang="en" altLang="zh-CN" dirty="0"/>
              <a:t>-</a:t>
            </a:r>
            <a:r>
              <a:rPr kumimoji="1" lang="en" altLang="zh-CN" dirty="0" err="1"/>
              <a:t>rmsprop-adam</a:t>
            </a:r>
            <a:r>
              <a:rPr kumimoji="1" lang="en" altLang="zh-CN" dirty="0"/>
              <a:t>/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505842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657084A5-79EC-EA1F-0FC3-B4B058C9CE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" altLang="zh-CN" sz="4000">
                <a:latin typeface="Arial" panose="020B0604020202020204" pitchFamily="34" charset="0"/>
              </a:rPr>
              <a:t>Image Classification Tasks</a:t>
            </a:r>
            <a:endParaRPr kumimoji="1" lang="zh-CN" altLang="en-US" sz="4000">
              <a:latin typeface="Arial" panose="020B0604020202020204" pitchFamily="34" charset="0"/>
            </a:endParaRP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D6DCE25-B3AC-50AD-0832-2950D9B59B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8400" y="1203132"/>
            <a:ext cx="11635200" cy="2267465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kumimoji="1" lang="en" altLang="zh-CN" sz="2400">
                <a:latin typeface="Arial" panose="020B0604020202020204" pitchFamily="34" charset="0"/>
              </a:rPr>
              <a:t>Image </a:t>
            </a:r>
            <a:r>
              <a:rPr kumimoji="1" lang="en" altLang="zh-CN" sz="2400" dirty="0">
                <a:latin typeface="Arial" panose="020B0604020202020204" pitchFamily="34" charset="0"/>
              </a:rPr>
              <a:t>classification is the task of categorizing images into predefined classes using machine learning models. Well-known image classification dataset includes MNIST, CIFAR and ImageNet.</a:t>
            </a:r>
            <a:endParaRPr kumimoji="1" lang="zh-CN" altLang="en-US" sz="2400" dirty="0">
              <a:latin typeface="Arial" panose="020B0604020202020204" pitchFamily="34" charset="0"/>
            </a:endParaRPr>
          </a:p>
        </p:txBody>
      </p:sp>
      <p:pic>
        <p:nvPicPr>
          <p:cNvPr id="5" name="Picture 2" descr="See the source image">
            <a:extLst>
              <a:ext uri="{FF2B5EF4-FFF2-40B4-BE49-F238E27FC236}">
                <a16:creationId xmlns:a16="http://schemas.microsoft.com/office/drawing/2014/main" id="{FC13D546-8627-F19D-7123-4C16C6D03B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997" y="3114639"/>
            <a:ext cx="4710407" cy="2633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图片 3" descr="屏幕剪辑">
            <a:extLst>
              <a:ext uri="{FF2B5EF4-FFF2-40B4-BE49-F238E27FC236}">
                <a16:creationId xmlns:a16="http://schemas.microsoft.com/office/drawing/2014/main" id="{1D3A01BE-94A8-3E66-6BD6-FE5D3078FF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336864"/>
            <a:ext cx="5817600" cy="404357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64D7665F-AB60-1F96-9A5D-E02198A88286}"/>
              </a:ext>
            </a:extLst>
          </p:cNvPr>
          <p:cNvSpPr txBox="1"/>
          <p:nvPr/>
        </p:nvSpPr>
        <p:spPr>
          <a:xfrm>
            <a:off x="938039" y="2672152"/>
            <a:ext cx="449832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MNIST</a:t>
            </a:r>
            <a:r>
              <a:rPr lang="en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: A dataset for digit recognition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9D42871-BE11-446C-58DC-A391B77871E5}"/>
              </a:ext>
            </a:extLst>
          </p:cNvPr>
          <p:cNvSpPr txBox="1"/>
          <p:nvPr/>
        </p:nvSpPr>
        <p:spPr>
          <a:xfrm>
            <a:off x="670921" y="5790472"/>
            <a:ext cx="542507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ImageNet</a:t>
            </a:r>
            <a:r>
              <a:rPr lang="en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" altLang="zh-CN" sz="20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</a:t>
            </a:r>
            <a:endParaRPr lang="en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/>
            <a:r>
              <a:rPr lang="en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A large-scale dataset with 1000 categories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87673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A99DE3-890A-77B1-CC9F-9C9CA26E52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EFC02D6A-4BBE-82F1-0AB3-11EBFBB0E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" altLang="zh-CN" sz="4000">
                <a:latin typeface="Arial" panose="020B0604020202020204" pitchFamily="34" charset="0"/>
              </a:rPr>
              <a:t>Convolution and CNNs</a:t>
            </a:r>
            <a:endParaRPr kumimoji="1" lang="zh-CN" altLang="en-US" sz="4000">
              <a:latin typeface="Arial" panose="020B0604020202020204" pitchFamily="34" charset="0"/>
            </a:endParaRP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E45AEF9-5DC6-2E14-C6DE-E1DB1E2D9D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kumimoji="1" lang="en" altLang="zh-CN" sz="2400" dirty="0">
                <a:latin typeface="Arial" panose="020B0604020202020204" pitchFamily="34" charset="0"/>
              </a:rPr>
              <a:t>Convolution operations apply </a:t>
            </a:r>
            <a:r>
              <a:rPr kumimoji="1" lang="en" altLang="zh-CN" sz="2400" b="1" dirty="0">
                <a:solidFill>
                  <a:srgbClr val="FF0000"/>
                </a:solidFill>
                <a:latin typeface="Arial" panose="020B0604020202020204" pitchFamily="34" charset="0"/>
              </a:rPr>
              <a:t>filters as a sliding window </a:t>
            </a:r>
            <a:r>
              <a:rPr kumimoji="1" lang="en" altLang="zh-CN" sz="2400" dirty="0">
                <a:latin typeface="Arial" panose="020B0604020202020204" pitchFamily="34" charset="0"/>
              </a:rPr>
              <a:t>to input image.</a:t>
            </a:r>
            <a:endParaRPr kumimoji="1" lang="zh-CN" altLang="en-US" sz="2400" dirty="0">
              <a:latin typeface="Arial" panose="020B0604020202020204" pitchFamily="34" charset="0"/>
            </a:endParaRPr>
          </a:p>
        </p:txBody>
      </p:sp>
      <p:sp>
        <p:nvSpPr>
          <p:cNvPr id="5" name="立方体 8">
            <a:extLst>
              <a:ext uri="{FF2B5EF4-FFF2-40B4-BE49-F238E27FC236}">
                <a16:creationId xmlns:a16="http://schemas.microsoft.com/office/drawing/2014/main" id="{78B025A9-FE1E-5325-6A9B-C8281FAA4B90}"/>
              </a:ext>
            </a:extLst>
          </p:cNvPr>
          <p:cNvSpPr/>
          <p:nvPr/>
        </p:nvSpPr>
        <p:spPr>
          <a:xfrm>
            <a:off x="6709762" y="3332432"/>
            <a:ext cx="597292" cy="614289"/>
          </a:xfrm>
          <a:prstGeom prst="cube">
            <a:avLst>
              <a:gd name="adj" fmla="val 469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" name="直接箭头连接符 42">
            <a:extLst>
              <a:ext uri="{FF2B5EF4-FFF2-40B4-BE49-F238E27FC236}">
                <a16:creationId xmlns:a16="http://schemas.microsoft.com/office/drawing/2014/main" id="{928EC8CE-2EA3-FEAD-D69E-1DADAC4EFBE9}"/>
              </a:ext>
            </a:extLst>
          </p:cNvPr>
          <p:cNvCxnSpPr>
            <a:cxnSpLocks/>
          </p:cNvCxnSpPr>
          <p:nvPr/>
        </p:nvCxnSpPr>
        <p:spPr>
          <a:xfrm flipV="1">
            <a:off x="6636131" y="3240110"/>
            <a:ext cx="325865" cy="339582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箭头连接符 45">
            <a:extLst>
              <a:ext uri="{FF2B5EF4-FFF2-40B4-BE49-F238E27FC236}">
                <a16:creationId xmlns:a16="http://schemas.microsoft.com/office/drawing/2014/main" id="{762B5637-B90B-3C9E-79EC-05F270E57715}"/>
              </a:ext>
            </a:extLst>
          </p:cNvPr>
          <p:cNvCxnSpPr>
            <a:cxnSpLocks/>
          </p:cNvCxnSpPr>
          <p:nvPr/>
        </p:nvCxnSpPr>
        <p:spPr>
          <a:xfrm rot="5400000">
            <a:off x="6870182" y="3865130"/>
            <a:ext cx="0" cy="327396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52">
            <a:extLst>
              <a:ext uri="{FF2B5EF4-FFF2-40B4-BE49-F238E27FC236}">
                <a16:creationId xmlns:a16="http://schemas.microsoft.com/office/drawing/2014/main" id="{F1C8D246-B929-56D5-7463-7737ADDA36AD}"/>
              </a:ext>
            </a:extLst>
          </p:cNvPr>
          <p:cNvSpPr txBox="1"/>
          <p:nvPr/>
        </p:nvSpPr>
        <p:spPr>
          <a:xfrm>
            <a:off x="6487681" y="3144052"/>
            <a:ext cx="4839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文本框 54">
            <a:extLst>
              <a:ext uri="{FF2B5EF4-FFF2-40B4-BE49-F238E27FC236}">
                <a16:creationId xmlns:a16="http://schemas.microsoft.com/office/drawing/2014/main" id="{ABEC83B0-3EB1-2538-AAE9-75735EC26B8E}"/>
              </a:ext>
            </a:extLst>
          </p:cNvPr>
          <p:cNvSpPr txBox="1"/>
          <p:nvPr/>
        </p:nvSpPr>
        <p:spPr>
          <a:xfrm>
            <a:off x="6575594" y="4043295"/>
            <a:ext cx="5972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R=3</a:t>
            </a:r>
            <a:endParaRPr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文本框 60">
            <a:extLst>
              <a:ext uri="{FF2B5EF4-FFF2-40B4-BE49-F238E27FC236}">
                <a16:creationId xmlns:a16="http://schemas.microsoft.com/office/drawing/2014/main" id="{129453E0-75D4-578A-1019-F639B3190A74}"/>
              </a:ext>
            </a:extLst>
          </p:cNvPr>
          <p:cNvSpPr txBox="1"/>
          <p:nvPr/>
        </p:nvSpPr>
        <p:spPr>
          <a:xfrm>
            <a:off x="5316400" y="3391390"/>
            <a:ext cx="13380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Arial" panose="020B0604020202020204" pitchFamily="34" charset="0"/>
                <a:cs typeface="Arial" panose="020B0604020202020204" pitchFamily="34" charset="0"/>
              </a:rPr>
              <a:t>Weight #1</a:t>
            </a:r>
          </a:p>
          <a:p>
            <a:r>
              <a:rPr lang="en-US" altLang="zh-CN" sz="1600" b="1" dirty="0">
                <a:latin typeface="Arial" panose="020B0604020202020204" pitchFamily="34" charset="0"/>
                <a:cs typeface="Arial" panose="020B0604020202020204" pitchFamily="34" charset="0"/>
              </a:rPr>
              <a:t>(filter)</a:t>
            </a:r>
            <a:endParaRPr lang="zh-CN" alt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立方体 5">
            <a:extLst>
              <a:ext uri="{FF2B5EF4-FFF2-40B4-BE49-F238E27FC236}">
                <a16:creationId xmlns:a16="http://schemas.microsoft.com/office/drawing/2014/main" id="{14DC7AB4-9054-357B-6FB8-213367A3FACF}"/>
              </a:ext>
            </a:extLst>
          </p:cNvPr>
          <p:cNvSpPr/>
          <p:nvPr/>
        </p:nvSpPr>
        <p:spPr>
          <a:xfrm>
            <a:off x="7974173" y="3254230"/>
            <a:ext cx="1620000" cy="1512000"/>
          </a:xfrm>
          <a:prstGeom prst="cube">
            <a:avLst>
              <a:gd name="adj" fmla="val 19197"/>
            </a:avLst>
          </a:prstGeom>
          <a:solidFill>
            <a:schemeClr val="bg1">
              <a:lumMod val="85000"/>
              <a:alpha val="96000"/>
            </a:schemeClr>
          </a:solidFill>
          <a:ln w="19050">
            <a:noFill/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" name="直接箭头连接符 48">
            <a:extLst>
              <a:ext uri="{FF2B5EF4-FFF2-40B4-BE49-F238E27FC236}">
                <a16:creationId xmlns:a16="http://schemas.microsoft.com/office/drawing/2014/main" id="{4E10A815-A471-2E26-9021-79C488D1FF3F}"/>
              </a:ext>
            </a:extLst>
          </p:cNvPr>
          <p:cNvCxnSpPr>
            <a:cxnSpLocks/>
          </p:cNvCxnSpPr>
          <p:nvPr/>
        </p:nvCxnSpPr>
        <p:spPr>
          <a:xfrm>
            <a:off x="9711360" y="3254230"/>
            <a:ext cx="0" cy="1221622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49">
            <a:extLst>
              <a:ext uri="{FF2B5EF4-FFF2-40B4-BE49-F238E27FC236}">
                <a16:creationId xmlns:a16="http://schemas.microsoft.com/office/drawing/2014/main" id="{BD774BD9-C2A4-6F11-3E93-9CFFDF680D23}"/>
              </a:ext>
            </a:extLst>
          </p:cNvPr>
          <p:cNvCxnSpPr>
            <a:cxnSpLocks/>
          </p:cNvCxnSpPr>
          <p:nvPr/>
        </p:nvCxnSpPr>
        <p:spPr>
          <a:xfrm rot="5400000">
            <a:off x="8619680" y="4212490"/>
            <a:ext cx="0" cy="1367616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C41948E-4822-D90F-5C9B-7A2D7198BC51}"/>
              </a:ext>
            </a:extLst>
          </p:cNvPr>
          <p:cNvCxnSpPr>
            <a:cxnSpLocks/>
          </p:cNvCxnSpPr>
          <p:nvPr/>
        </p:nvCxnSpPr>
        <p:spPr>
          <a:xfrm>
            <a:off x="6706484" y="3735814"/>
            <a:ext cx="324000" cy="0"/>
          </a:xfrm>
          <a:prstGeom prst="line">
            <a:avLst/>
          </a:prstGeom>
          <a:solidFill>
            <a:schemeClr val="bg1">
              <a:lumMod val="6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A06AE8A-77EC-7EC7-1CF9-09639DC3BA31}"/>
              </a:ext>
            </a:extLst>
          </p:cNvPr>
          <p:cNvCxnSpPr>
            <a:cxnSpLocks/>
          </p:cNvCxnSpPr>
          <p:nvPr/>
        </p:nvCxnSpPr>
        <p:spPr>
          <a:xfrm>
            <a:off x="6712240" y="3845084"/>
            <a:ext cx="324000" cy="0"/>
          </a:xfrm>
          <a:prstGeom prst="line">
            <a:avLst/>
          </a:prstGeom>
          <a:solidFill>
            <a:schemeClr val="bg1">
              <a:lumMod val="6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5F9F886-BDB6-DFA0-9806-0B39B918DA1E}"/>
              </a:ext>
            </a:extLst>
          </p:cNvPr>
          <p:cNvCxnSpPr>
            <a:cxnSpLocks/>
          </p:cNvCxnSpPr>
          <p:nvPr/>
        </p:nvCxnSpPr>
        <p:spPr>
          <a:xfrm rot="16200000">
            <a:off x="6651846" y="3776072"/>
            <a:ext cx="324000" cy="0"/>
          </a:xfrm>
          <a:prstGeom prst="line">
            <a:avLst/>
          </a:prstGeom>
          <a:solidFill>
            <a:schemeClr val="bg1">
              <a:lumMod val="6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6EEDF9A-3A92-3C3B-E821-F32536DB7148}"/>
              </a:ext>
            </a:extLst>
          </p:cNvPr>
          <p:cNvCxnSpPr>
            <a:cxnSpLocks/>
          </p:cNvCxnSpPr>
          <p:nvPr/>
        </p:nvCxnSpPr>
        <p:spPr>
          <a:xfrm rot="16200000">
            <a:off x="6750316" y="3773304"/>
            <a:ext cx="345600" cy="0"/>
          </a:xfrm>
          <a:prstGeom prst="line">
            <a:avLst/>
          </a:prstGeom>
          <a:solidFill>
            <a:schemeClr val="bg1">
              <a:lumMod val="6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8" name="文本框 56">
            <a:extLst>
              <a:ext uri="{FF2B5EF4-FFF2-40B4-BE49-F238E27FC236}">
                <a16:creationId xmlns:a16="http://schemas.microsoft.com/office/drawing/2014/main" id="{EE7F8131-D840-89A0-59A9-7FFCCCDF74C0}"/>
              </a:ext>
            </a:extLst>
          </p:cNvPr>
          <p:cNvSpPr txBox="1"/>
          <p:nvPr/>
        </p:nvSpPr>
        <p:spPr>
          <a:xfrm>
            <a:off x="8461759" y="4896298"/>
            <a:ext cx="4839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endParaRPr lang="zh-CN" alt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9" name="直接箭头连接符 42">
            <a:extLst>
              <a:ext uri="{FF2B5EF4-FFF2-40B4-BE49-F238E27FC236}">
                <a16:creationId xmlns:a16="http://schemas.microsoft.com/office/drawing/2014/main" id="{72295BC5-CCC9-FEF9-191C-90CD3809CFD0}"/>
              </a:ext>
            </a:extLst>
          </p:cNvPr>
          <p:cNvCxnSpPr>
            <a:cxnSpLocks/>
          </p:cNvCxnSpPr>
          <p:nvPr/>
        </p:nvCxnSpPr>
        <p:spPr>
          <a:xfrm flipV="1">
            <a:off x="9353865" y="4540225"/>
            <a:ext cx="325865" cy="339582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52">
            <a:extLst>
              <a:ext uri="{FF2B5EF4-FFF2-40B4-BE49-F238E27FC236}">
                <a16:creationId xmlns:a16="http://schemas.microsoft.com/office/drawing/2014/main" id="{D2E68162-6ADD-2F5D-513C-B10F1FEEFB8E}"/>
              </a:ext>
            </a:extLst>
          </p:cNvPr>
          <p:cNvSpPr txBox="1"/>
          <p:nvPr/>
        </p:nvSpPr>
        <p:spPr>
          <a:xfrm>
            <a:off x="9471556" y="4661987"/>
            <a:ext cx="4839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文本框 60">
            <a:extLst>
              <a:ext uri="{FF2B5EF4-FFF2-40B4-BE49-F238E27FC236}">
                <a16:creationId xmlns:a16="http://schemas.microsoft.com/office/drawing/2014/main" id="{BB1B9EF2-D97E-0895-A84B-6072F2EB1B5A}"/>
              </a:ext>
            </a:extLst>
          </p:cNvPr>
          <p:cNvSpPr txBox="1"/>
          <p:nvPr/>
        </p:nvSpPr>
        <p:spPr>
          <a:xfrm>
            <a:off x="7655190" y="2564074"/>
            <a:ext cx="25809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Arial" panose="020B0604020202020204" pitchFamily="34" charset="0"/>
                <a:cs typeface="Arial" panose="020B0604020202020204" pitchFamily="34" charset="0"/>
              </a:rPr>
              <a:t>Input Activation Map</a:t>
            </a:r>
          </a:p>
          <a:p>
            <a:r>
              <a:rPr lang="en-US" altLang="zh-CN" sz="1600" b="1" dirty="0">
                <a:latin typeface="Arial" panose="020B0604020202020204" pitchFamily="34" charset="0"/>
                <a:cs typeface="Arial" panose="020B0604020202020204" pitchFamily="34" charset="0"/>
              </a:rPr>
              <a:t>(input feature)</a:t>
            </a:r>
            <a:endParaRPr lang="zh-CN" alt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文本框 56">
            <a:extLst>
              <a:ext uri="{FF2B5EF4-FFF2-40B4-BE49-F238E27FC236}">
                <a16:creationId xmlns:a16="http://schemas.microsoft.com/office/drawing/2014/main" id="{C40F2837-B50F-F7A9-65FA-9569786C8A48}"/>
              </a:ext>
            </a:extLst>
          </p:cNvPr>
          <p:cNvSpPr txBox="1"/>
          <p:nvPr/>
        </p:nvSpPr>
        <p:spPr>
          <a:xfrm>
            <a:off x="9680221" y="3675260"/>
            <a:ext cx="4839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endParaRPr lang="zh-CN" alt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D63E7629-F79F-4546-DE77-111AA1016D22}"/>
              </a:ext>
            </a:extLst>
          </p:cNvPr>
          <p:cNvSpPr txBox="1">
            <a:spLocks/>
          </p:cNvSpPr>
          <p:nvPr/>
        </p:nvSpPr>
        <p:spPr>
          <a:xfrm>
            <a:off x="838200" y="1825624"/>
            <a:ext cx="6364220" cy="47181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Wingdings" pitchFamily="2" charset="2"/>
              <a:buChar char="Ø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Wingdings" pitchFamily="2" charset="2"/>
              <a:buChar char="Ø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Wingdings" pitchFamily="2" charset="2"/>
              <a:buChar char="Ø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Wingdings" pitchFamily="2" charset="2"/>
              <a:buChar char="Ø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Number Denotation</a:t>
            </a:r>
          </a:p>
          <a:p>
            <a:pPr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Weight Kernel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C = Input Channel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R = kernel size</a:t>
            </a:r>
          </a:p>
          <a:p>
            <a:pPr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Input Activation Map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W = map width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H = map height</a:t>
            </a:r>
          </a:p>
          <a:p>
            <a:pPr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Raw image input of ImageNet: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H=W=224, C=3 (RGB)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09526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5DE050-BFFA-40CB-8091-68B9ED945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B800BF0F-EDA0-AF24-A0C5-FEC3FC629A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" altLang="zh-CN" sz="4000">
                <a:latin typeface="Arial" panose="020B0604020202020204" pitchFamily="34" charset="0"/>
              </a:rPr>
              <a:t>Convolution and CNNs</a:t>
            </a:r>
            <a:endParaRPr kumimoji="1" lang="zh-CN" altLang="en-US" sz="4000">
              <a:latin typeface="Arial" panose="020B0604020202020204" pitchFamily="34" charset="0"/>
            </a:endParaRP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B2C1688-61B0-83A4-2E1A-2BD8375975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kumimoji="1" lang="en" altLang="zh-CN" sz="2400" dirty="0">
                <a:latin typeface="Arial" panose="020B0604020202020204" pitchFamily="34" charset="0"/>
              </a:rPr>
              <a:t>Convolution operations apply filters as a sliding window to input image.</a:t>
            </a:r>
            <a:endParaRPr kumimoji="1" lang="zh-CN" altLang="en-US" sz="2400" dirty="0">
              <a:latin typeface="Arial" panose="020B0604020202020204" pitchFamily="34" charset="0"/>
            </a:endParaRPr>
          </a:p>
        </p:txBody>
      </p:sp>
      <p:sp>
        <p:nvSpPr>
          <p:cNvPr id="2" name="立方体 8">
            <a:extLst>
              <a:ext uri="{FF2B5EF4-FFF2-40B4-BE49-F238E27FC236}">
                <a16:creationId xmlns:a16="http://schemas.microsoft.com/office/drawing/2014/main" id="{E6D5CC06-2540-2E00-82AF-9EB3CA7E9116}"/>
              </a:ext>
            </a:extLst>
          </p:cNvPr>
          <p:cNvSpPr/>
          <p:nvPr/>
        </p:nvSpPr>
        <p:spPr>
          <a:xfrm>
            <a:off x="6709762" y="3332432"/>
            <a:ext cx="597292" cy="614289"/>
          </a:xfrm>
          <a:prstGeom prst="cube">
            <a:avLst>
              <a:gd name="adj" fmla="val 469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3" name="直接箭头连接符 42">
            <a:extLst>
              <a:ext uri="{FF2B5EF4-FFF2-40B4-BE49-F238E27FC236}">
                <a16:creationId xmlns:a16="http://schemas.microsoft.com/office/drawing/2014/main" id="{3C65AB72-B702-764D-2806-837BCA471286}"/>
              </a:ext>
            </a:extLst>
          </p:cNvPr>
          <p:cNvCxnSpPr>
            <a:cxnSpLocks/>
          </p:cNvCxnSpPr>
          <p:nvPr/>
        </p:nvCxnSpPr>
        <p:spPr>
          <a:xfrm flipV="1">
            <a:off x="6636131" y="3240110"/>
            <a:ext cx="325865" cy="339582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45">
            <a:extLst>
              <a:ext uri="{FF2B5EF4-FFF2-40B4-BE49-F238E27FC236}">
                <a16:creationId xmlns:a16="http://schemas.microsoft.com/office/drawing/2014/main" id="{445433FA-1D34-74B8-DDDF-DB8C8F71DDCB}"/>
              </a:ext>
            </a:extLst>
          </p:cNvPr>
          <p:cNvCxnSpPr>
            <a:cxnSpLocks/>
          </p:cNvCxnSpPr>
          <p:nvPr/>
        </p:nvCxnSpPr>
        <p:spPr>
          <a:xfrm rot="5400000">
            <a:off x="6870182" y="3865130"/>
            <a:ext cx="0" cy="327396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52">
            <a:extLst>
              <a:ext uri="{FF2B5EF4-FFF2-40B4-BE49-F238E27FC236}">
                <a16:creationId xmlns:a16="http://schemas.microsoft.com/office/drawing/2014/main" id="{05A4F978-DF84-D903-3A09-AA9DDD2F6FBD}"/>
              </a:ext>
            </a:extLst>
          </p:cNvPr>
          <p:cNvSpPr txBox="1"/>
          <p:nvPr/>
        </p:nvSpPr>
        <p:spPr>
          <a:xfrm>
            <a:off x="6487681" y="3144052"/>
            <a:ext cx="4839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文本框 54">
            <a:extLst>
              <a:ext uri="{FF2B5EF4-FFF2-40B4-BE49-F238E27FC236}">
                <a16:creationId xmlns:a16="http://schemas.microsoft.com/office/drawing/2014/main" id="{3E8174C2-EB07-9FF4-5CBC-9A216B47628D}"/>
              </a:ext>
            </a:extLst>
          </p:cNvPr>
          <p:cNvSpPr txBox="1"/>
          <p:nvPr/>
        </p:nvSpPr>
        <p:spPr>
          <a:xfrm>
            <a:off x="6575594" y="4043295"/>
            <a:ext cx="5972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R=3</a:t>
            </a:r>
            <a:endParaRPr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文本框 60">
            <a:extLst>
              <a:ext uri="{FF2B5EF4-FFF2-40B4-BE49-F238E27FC236}">
                <a16:creationId xmlns:a16="http://schemas.microsoft.com/office/drawing/2014/main" id="{7FC2006D-9F69-D233-56C2-7463FDCE6D99}"/>
              </a:ext>
            </a:extLst>
          </p:cNvPr>
          <p:cNvSpPr txBox="1"/>
          <p:nvPr/>
        </p:nvSpPr>
        <p:spPr>
          <a:xfrm>
            <a:off x="5316400" y="3391390"/>
            <a:ext cx="13380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Arial" panose="020B0604020202020204" pitchFamily="34" charset="0"/>
                <a:cs typeface="Arial" panose="020B0604020202020204" pitchFamily="34" charset="0"/>
              </a:rPr>
              <a:t>Weight #1</a:t>
            </a:r>
            <a:endParaRPr lang="zh-CN" alt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立方体 5">
            <a:extLst>
              <a:ext uri="{FF2B5EF4-FFF2-40B4-BE49-F238E27FC236}">
                <a16:creationId xmlns:a16="http://schemas.microsoft.com/office/drawing/2014/main" id="{5136C49A-3F2A-1EB8-DED0-501A67496115}"/>
              </a:ext>
            </a:extLst>
          </p:cNvPr>
          <p:cNvSpPr/>
          <p:nvPr/>
        </p:nvSpPr>
        <p:spPr>
          <a:xfrm>
            <a:off x="7974173" y="3254230"/>
            <a:ext cx="1620000" cy="1512000"/>
          </a:xfrm>
          <a:prstGeom prst="cube">
            <a:avLst>
              <a:gd name="adj" fmla="val 19197"/>
            </a:avLst>
          </a:prstGeom>
          <a:solidFill>
            <a:schemeClr val="bg1">
              <a:lumMod val="85000"/>
              <a:alpha val="96000"/>
            </a:schemeClr>
          </a:solidFill>
          <a:ln w="19050">
            <a:noFill/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0" name="直接箭头连接符 48">
            <a:extLst>
              <a:ext uri="{FF2B5EF4-FFF2-40B4-BE49-F238E27FC236}">
                <a16:creationId xmlns:a16="http://schemas.microsoft.com/office/drawing/2014/main" id="{9565A1CA-4022-BE65-1AA5-B1F0E3167882}"/>
              </a:ext>
            </a:extLst>
          </p:cNvPr>
          <p:cNvCxnSpPr>
            <a:cxnSpLocks/>
          </p:cNvCxnSpPr>
          <p:nvPr/>
        </p:nvCxnSpPr>
        <p:spPr>
          <a:xfrm>
            <a:off x="9711360" y="3254230"/>
            <a:ext cx="0" cy="1221622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49">
            <a:extLst>
              <a:ext uri="{FF2B5EF4-FFF2-40B4-BE49-F238E27FC236}">
                <a16:creationId xmlns:a16="http://schemas.microsoft.com/office/drawing/2014/main" id="{6B470D8B-A33E-F904-28BD-CEEA4BFAD449}"/>
              </a:ext>
            </a:extLst>
          </p:cNvPr>
          <p:cNvCxnSpPr>
            <a:cxnSpLocks/>
          </p:cNvCxnSpPr>
          <p:nvPr/>
        </p:nvCxnSpPr>
        <p:spPr>
          <a:xfrm rot="5400000">
            <a:off x="8619680" y="4212490"/>
            <a:ext cx="0" cy="1367616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框 56">
            <a:extLst>
              <a:ext uri="{FF2B5EF4-FFF2-40B4-BE49-F238E27FC236}">
                <a16:creationId xmlns:a16="http://schemas.microsoft.com/office/drawing/2014/main" id="{B1E864FE-D133-ADAF-A774-1CD1233A501C}"/>
              </a:ext>
            </a:extLst>
          </p:cNvPr>
          <p:cNvSpPr txBox="1"/>
          <p:nvPr/>
        </p:nvSpPr>
        <p:spPr>
          <a:xfrm>
            <a:off x="9680221" y="3675260"/>
            <a:ext cx="4839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endParaRPr lang="zh-CN" alt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3" name="Straight Connector 13">
            <a:extLst>
              <a:ext uri="{FF2B5EF4-FFF2-40B4-BE49-F238E27FC236}">
                <a16:creationId xmlns:a16="http://schemas.microsoft.com/office/drawing/2014/main" id="{5F8760B7-40A2-6C63-EE36-3AF1205F4EEC}"/>
              </a:ext>
            </a:extLst>
          </p:cNvPr>
          <p:cNvCxnSpPr>
            <a:cxnSpLocks/>
          </p:cNvCxnSpPr>
          <p:nvPr/>
        </p:nvCxnSpPr>
        <p:spPr>
          <a:xfrm>
            <a:off x="6706484" y="3735814"/>
            <a:ext cx="324000" cy="0"/>
          </a:xfrm>
          <a:prstGeom prst="line">
            <a:avLst/>
          </a:prstGeom>
          <a:solidFill>
            <a:schemeClr val="bg1">
              <a:lumMod val="6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4" name="Straight Connector 14">
            <a:extLst>
              <a:ext uri="{FF2B5EF4-FFF2-40B4-BE49-F238E27FC236}">
                <a16:creationId xmlns:a16="http://schemas.microsoft.com/office/drawing/2014/main" id="{DFC56E07-57E9-88EC-858E-CD2C4A18259D}"/>
              </a:ext>
            </a:extLst>
          </p:cNvPr>
          <p:cNvCxnSpPr>
            <a:cxnSpLocks/>
          </p:cNvCxnSpPr>
          <p:nvPr/>
        </p:nvCxnSpPr>
        <p:spPr>
          <a:xfrm>
            <a:off x="6712240" y="3845084"/>
            <a:ext cx="324000" cy="0"/>
          </a:xfrm>
          <a:prstGeom prst="line">
            <a:avLst/>
          </a:prstGeom>
          <a:solidFill>
            <a:schemeClr val="bg1">
              <a:lumMod val="6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5" name="Straight Connector 15">
            <a:extLst>
              <a:ext uri="{FF2B5EF4-FFF2-40B4-BE49-F238E27FC236}">
                <a16:creationId xmlns:a16="http://schemas.microsoft.com/office/drawing/2014/main" id="{44C3D83F-A546-B424-7609-ABFB8713BE46}"/>
              </a:ext>
            </a:extLst>
          </p:cNvPr>
          <p:cNvCxnSpPr>
            <a:cxnSpLocks/>
          </p:cNvCxnSpPr>
          <p:nvPr/>
        </p:nvCxnSpPr>
        <p:spPr>
          <a:xfrm rot="16200000">
            <a:off x="6651846" y="3776072"/>
            <a:ext cx="324000" cy="0"/>
          </a:xfrm>
          <a:prstGeom prst="line">
            <a:avLst/>
          </a:prstGeom>
          <a:solidFill>
            <a:schemeClr val="bg1">
              <a:lumMod val="6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6" name="Straight Connector 16">
            <a:extLst>
              <a:ext uri="{FF2B5EF4-FFF2-40B4-BE49-F238E27FC236}">
                <a16:creationId xmlns:a16="http://schemas.microsoft.com/office/drawing/2014/main" id="{AB12ADBC-1DE0-CF3B-1120-7C11B8DB254F}"/>
              </a:ext>
            </a:extLst>
          </p:cNvPr>
          <p:cNvCxnSpPr>
            <a:cxnSpLocks/>
          </p:cNvCxnSpPr>
          <p:nvPr/>
        </p:nvCxnSpPr>
        <p:spPr>
          <a:xfrm rot="16200000">
            <a:off x="6750316" y="3773304"/>
            <a:ext cx="345600" cy="0"/>
          </a:xfrm>
          <a:prstGeom prst="line">
            <a:avLst/>
          </a:prstGeom>
          <a:solidFill>
            <a:schemeClr val="bg1">
              <a:lumMod val="6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37" name="Group 17">
            <a:extLst>
              <a:ext uri="{FF2B5EF4-FFF2-40B4-BE49-F238E27FC236}">
                <a16:creationId xmlns:a16="http://schemas.microsoft.com/office/drawing/2014/main" id="{712E74ED-5915-0AE2-6471-5599F9DDC937}"/>
              </a:ext>
            </a:extLst>
          </p:cNvPr>
          <p:cNvGrpSpPr/>
          <p:nvPr/>
        </p:nvGrpSpPr>
        <p:grpSpPr>
          <a:xfrm>
            <a:off x="7953124" y="3254976"/>
            <a:ext cx="600570" cy="614289"/>
            <a:chOff x="5055483" y="3409509"/>
            <a:chExt cx="600570" cy="614289"/>
          </a:xfrm>
          <a:noFill/>
        </p:grpSpPr>
        <p:sp>
          <p:nvSpPr>
            <p:cNvPr id="38" name="立方体 8">
              <a:extLst>
                <a:ext uri="{FF2B5EF4-FFF2-40B4-BE49-F238E27FC236}">
                  <a16:creationId xmlns:a16="http://schemas.microsoft.com/office/drawing/2014/main" id="{ACB626D6-37D5-42A4-E148-416A7D54702B}"/>
                </a:ext>
              </a:extLst>
            </p:cNvPr>
            <p:cNvSpPr/>
            <p:nvPr/>
          </p:nvSpPr>
          <p:spPr>
            <a:xfrm>
              <a:off x="5058761" y="3409509"/>
              <a:ext cx="597292" cy="614289"/>
            </a:xfrm>
            <a:prstGeom prst="cube">
              <a:avLst>
                <a:gd name="adj" fmla="val 46934"/>
              </a:avLst>
            </a:prstGeom>
            <a:grpFill/>
            <a:ln w="19050">
              <a:solidFill>
                <a:schemeClr val="bg1">
                  <a:lumMod val="50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9" name="Straight Connector 19">
              <a:extLst>
                <a:ext uri="{FF2B5EF4-FFF2-40B4-BE49-F238E27FC236}">
                  <a16:creationId xmlns:a16="http://schemas.microsoft.com/office/drawing/2014/main" id="{599DDB4B-2F5C-60CF-7A62-634E7D5F686B}"/>
                </a:ext>
              </a:extLst>
            </p:cNvPr>
            <p:cNvCxnSpPr>
              <a:cxnSpLocks/>
            </p:cNvCxnSpPr>
            <p:nvPr/>
          </p:nvCxnSpPr>
          <p:spPr>
            <a:xfrm>
              <a:off x="5055483" y="3812891"/>
              <a:ext cx="324000" cy="0"/>
            </a:xfrm>
            <a:prstGeom prst="line">
              <a:avLst/>
            </a:prstGeom>
            <a:grpFill/>
            <a:ln w="19050">
              <a:solidFill>
                <a:schemeClr val="bg1">
                  <a:lumMod val="50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0" name="Straight Connector 20">
              <a:extLst>
                <a:ext uri="{FF2B5EF4-FFF2-40B4-BE49-F238E27FC236}">
                  <a16:creationId xmlns:a16="http://schemas.microsoft.com/office/drawing/2014/main" id="{DE20CA8F-397D-AE49-62F1-65C19D8CC80F}"/>
                </a:ext>
              </a:extLst>
            </p:cNvPr>
            <p:cNvCxnSpPr>
              <a:cxnSpLocks/>
            </p:cNvCxnSpPr>
            <p:nvPr/>
          </p:nvCxnSpPr>
          <p:spPr>
            <a:xfrm>
              <a:off x="5061239" y="3922161"/>
              <a:ext cx="324000" cy="0"/>
            </a:xfrm>
            <a:prstGeom prst="line">
              <a:avLst/>
            </a:prstGeom>
            <a:grpFill/>
            <a:ln w="19050">
              <a:solidFill>
                <a:schemeClr val="bg1">
                  <a:lumMod val="50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1" name="Straight Connector 21">
              <a:extLst>
                <a:ext uri="{FF2B5EF4-FFF2-40B4-BE49-F238E27FC236}">
                  <a16:creationId xmlns:a16="http://schemas.microsoft.com/office/drawing/2014/main" id="{D4BB46A8-6233-C00E-004C-8820074691C5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5000845" y="3853149"/>
              <a:ext cx="324000" cy="0"/>
            </a:xfrm>
            <a:prstGeom prst="line">
              <a:avLst/>
            </a:prstGeom>
            <a:grpFill/>
            <a:ln w="19050">
              <a:solidFill>
                <a:schemeClr val="bg1">
                  <a:lumMod val="50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2" name="Straight Connector 22">
              <a:extLst>
                <a:ext uri="{FF2B5EF4-FFF2-40B4-BE49-F238E27FC236}">
                  <a16:creationId xmlns:a16="http://schemas.microsoft.com/office/drawing/2014/main" id="{DF831A07-50FF-B565-C782-C21C928B638F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5110115" y="3858905"/>
              <a:ext cx="324000" cy="0"/>
            </a:xfrm>
            <a:prstGeom prst="line">
              <a:avLst/>
            </a:prstGeom>
            <a:grpFill/>
            <a:ln w="19050">
              <a:solidFill>
                <a:schemeClr val="bg1">
                  <a:lumMod val="50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43" name="文本框 56">
            <a:extLst>
              <a:ext uri="{FF2B5EF4-FFF2-40B4-BE49-F238E27FC236}">
                <a16:creationId xmlns:a16="http://schemas.microsoft.com/office/drawing/2014/main" id="{7DF7BCE3-C961-83FE-F4D8-D801BD024BF2}"/>
              </a:ext>
            </a:extLst>
          </p:cNvPr>
          <p:cNvSpPr txBox="1"/>
          <p:nvPr/>
        </p:nvSpPr>
        <p:spPr>
          <a:xfrm>
            <a:off x="8461759" y="4896298"/>
            <a:ext cx="4839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endParaRPr lang="zh-CN" alt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4" name="直接箭头连接符 42">
            <a:extLst>
              <a:ext uri="{FF2B5EF4-FFF2-40B4-BE49-F238E27FC236}">
                <a16:creationId xmlns:a16="http://schemas.microsoft.com/office/drawing/2014/main" id="{A136A5D7-A2EA-3B1B-00FD-F01F9B5EF11D}"/>
              </a:ext>
            </a:extLst>
          </p:cNvPr>
          <p:cNvCxnSpPr>
            <a:cxnSpLocks/>
          </p:cNvCxnSpPr>
          <p:nvPr/>
        </p:nvCxnSpPr>
        <p:spPr>
          <a:xfrm flipV="1">
            <a:off x="9353865" y="4540225"/>
            <a:ext cx="325865" cy="339582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文本框 52">
            <a:extLst>
              <a:ext uri="{FF2B5EF4-FFF2-40B4-BE49-F238E27FC236}">
                <a16:creationId xmlns:a16="http://schemas.microsoft.com/office/drawing/2014/main" id="{63EA8F46-9514-9F7A-46B6-8E29855AF030}"/>
              </a:ext>
            </a:extLst>
          </p:cNvPr>
          <p:cNvSpPr txBox="1"/>
          <p:nvPr/>
        </p:nvSpPr>
        <p:spPr>
          <a:xfrm>
            <a:off x="9471556" y="4661987"/>
            <a:ext cx="4839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矩形 18">
            <a:extLst>
              <a:ext uri="{FF2B5EF4-FFF2-40B4-BE49-F238E27FC236}">
                <a16:creationId xmlns:a16="http://schemas.microsoft.com/office/drawing/2014/main" id="{CE0811B9-C7C5-4727-E5E2-ECAE7CA66285}"/>
              </a:ext>
            </a:extLst>
          </p:cNvPr>
          <p:cNvSpPr/>
          <p:nvPr/>
        </p:nvSpPr>
        <p:spPr>
          <a:xfrm flipV="1">
            <a:off x="10596755" y="3579691"/>
            <a:ext cx="262525" cy="280923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文本框 60">
            <a:extLst>
              <a:ext uri="{FF2B5EF4-FFF2-40B4-BE49-F238E27FC236}">
                <a16:creationId xmlns:a16="http://schemas.microsoft.com/office/drawing/2014/main" id="{7909B3DF-FA6E-0C71-F8C9-5777B1939492}"/>
              </a:ext>
            </a:extLst>
          </p:cNvPr>
          <p:cNvSpPr txBox="1"/>
          <p:nvPr/>
        </p:nvSpPr>
        <p:spPr>
          <a:xfrm>
            <a:off x="10616855" y="3614131"/>
            <a:ext cx="216000" cy="216000"/>
          </a:xfrm>
          <a:prstGeom prst="rect">
            <a:avLst/>
          </a:prstGeom>
          <a:grpFill/>
          <a:ln w="19050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>
              <a:defRPr>
                <a:solidFill>
                  <a:schemeClr val="lt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文本框 60">
            <a:extLst>
              <a:ext uri="{FF2B5EF4-FFF2-40B4-BE49-F238E27FC236}">
                <a16:creationId xmlns:a16="http://schemas.microsoft.com/office/drawing/2014/main" id="{26004A90-D3CD-3DCC-7CDC-6E33277EBE9D}"/>
              </a:ext>
            </a:extLst>
          </p:cNvPr>
          <p:cNvSpPr txBox="1"/>
          <p:nvPr/>
        </p:nvSpPr>
        <p:spPr>
          <a:xfrm>
            <a:off x="5316400" y="3391390"/>
            <a:ext cx="13380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Arial" panose="020B0604020202020204" pitchFamily="34" charset="0"/>
                <a:cs typeface="Arial" panose="020B0604020202020204" pitchFamily="34" charset="0"/>
              </a:rPr>
              <a:t>Weight #1</a:t>
            </a:r>
          </a:p>
          <a:p>
            <a:r>
              <a:rPr lang="en-US" altLang="zh-CN" sz="1600" b="1" dirty="0">
                <a:latin typeface="Arial" panose="020B0604020202020204" pitchFamily="34" charset="0"/>
                <a:cs typeface="Arial" panose="020B0604020202020204" pitchFamily="34" charset="0"/>
              </a:rPr>
              <a:t>(filter)</a:t>
            </a:r>
            <a:endParaRPr lang="zh-CN" alt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文本框 60">
            <a:extLst>
              <a:ext uri="{FF2B5EF4-FFF2-40B4-BE49-F238E27FC236}">
                <a16:creationId xmlns:a16="http://schemas.microsoft.com/office/drawing/2014/main" id="{3A5A34AE-6023-BE57-0115-A2B5A9169376}"/>
              </a:ext>
            </a:extLst>
          </p:cNvPr>
          <p:cNvSpPr txBox="1"/>
          <p:nvPr/>
        </p:nvSpPr>
        <p:spPr>
          <a:xfrm>
            <a:off x="7655190" y="2564074"/>
            <a:ext cx="25809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Arial" panose="020B0604020202020204" pitchFamily="34" charset="0"/>
                <a:cs typeface="Arial" panose="020B0604020202020204" pitchFamily="34" charset="0"/>
              </a:rPr>
              <a:t>Input Activation Map</a:t>
            </a:r>
          </a:p>
          <a:p>
            <a:r>
              <a:rPr lang="en-US" altLang="zh-CN" sz="1600" b="1" dirty="0">
                <a:latin typeface="Arial" panose="020B0604020202020204" pitchFamily="34" charset="0"/>
                <a:cs typeface="Arial" panose="020B0604020202020204" pitchFamily="34" charset="0"/>
              </a:rPr>
              <a:t>(input feature)</a:t>
            </a:r>
            <a:endParaRPr lang="zh-CN" alt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0" name="Straight Arrow Connector 56">
            <a:extLst>
              <a:ext uri="{FF2B5EF4-FFF2-40B4-BE49-F238E27FC236}">
                <a16:creationId xmlns:a16="http://schemas.microsoft.com/office/drawing/2014/main" id="{4BF5B9EE-0819-8CC1-3ECA-E300B21B7D67}"/>
              </a:ext>
            </a:extLst>
          </p:cNvPr>
          <p:cNvCxnSpPr>
            <a:cxnSpLocks/>
          </p:cNvCxnSpPr>
          <p:nvPr/>
        </p:nvCxnSpPr>
        <p:spPr>
          <a:xfrm flipV="1">
            <a:off x="6868484" y="3735814"/>
            <a:ext cx="1105689" cy="68869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8">
            <a:extLst>
              <a:ext uri="{FF2B5EF4-FFF2-40B4-BE49-F238E27FC236}">
                <a16:creationId xmlns:a16="http://schemas.microsoft.com/office/drawing/2014/main" id="{C3725F2F-527B-0222-8751-82497A265FE5}"/>
              </a:ext>
            </a:extLst>
          </p:cNvPr>
          <p:cNvCxnSpPr>
            <a:cxnSpLocks/>
          </p:cNvCxnSpPr>
          <p:nvPr/>
        </p:nvCxnSpPr>
        <p:spPr>
          <a:xfrm>
            <a:off x="8342368" y="3576517"/>
            <a:ext cx="2382487" cy="168363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2" name="组合 65">
            <a:extLst>
              <a:ext uri="{FF2B5EF4-FFF2-40B4-BE49-F238E27FC236}">
                <a16:creationId xmlns:a16="http://schemas.microsoft.com/office/drawing/2014/main" id="{A9498869-2E69-75D5-C8B2-9DE37424000F}"/>
              </a:ext>
            </a:extLst>
          </p:cNvPr>
          <p:cNvGrpSpPr/>
          <p:nvPr/>
        </p:nvGrpSpPr>
        <p:grpSpPr>
          <a:xfrm>
            <a:off x="7427293" y="3185229"/>
            <a:ext cx="422834" cy="646331"/>
            <a:chOff x="4234899" y="1747621"/>
            <a:chExt cx="422834" cy="646331"/>
          </a:xfrm>
        </p:grpSpPr>
        <p:sp>
          <p:nvSpPr>
            <p:cNvPr id="53" name="椭圆 52">
              <a:extLst>
                <a:ext uri="{FF2B5EF4-FFF2-40B4-BE49-F238E27FC236}">
                  <a16:creationId xmlns:a16="http://schemas.microsoft.com/office/drawing/2014/main" id="{B275E260-60E6-3C83-09E1-11C98B6641FB}"/>
                </a:ext>
              </a:extLst>
            </p:cNvPr>
            <p:cNvSpPr/>
            <p:nvPr/>
          </p:nvSpPr>
          <p:spPr>
            <a:xfrm>
              <a:off x="4338785" y="1940329"/>
              <a:ext cx="281761" cy="281761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文本框 53">
              <a:extLst>
                <a:ext uri="{FF2B5EF4-FFF2-40B4-BE49-F238E27FC236}">
                  <a16:creationId xmlns:a16="http://schemas.microsoft.com/office/drawing/2014/main" id="{C1743B01-E40A-8681-357A-4147D8943418}"/>
                </a:ext>
              </a:extLst>
            </p:cNvPr>
            <p:cNvSpPr txBox="1"/>
            <p:nvPr/>
          </p:nvSpPr>
          <p:spPr>
            <a:xfrm>
              <a:off x="4234899" y="1747621"/>
              <a:ext cx="422834" cy="646331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3600" b="1" dirty="0"/>
                <a:t>×</a:t>
              </a:r>
              <a:endParaRPr lang="zh-CN" altLang="en-US" sz="3600" b="1" dirty="0"/>
            </a:p>
          </p:txBody>
        </p:sp>
      </p:grpSp>
      <p:sp>
        <p:nvSpPr>
          <p:cNvPr id="55" name="Content Placeholder 2">
            <a:extLst>
              <a:ext uri="{FF2B5EF4-FFF2-40B4-BE49-F238E27FC236}">
                <a16:creationId xmlns:a16="http://schemas.microsoft.com/office/drawing/2014/main" id="{81966DA0-3C49-0034-F256-CA3A917D31AB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469691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Wingdings" pitchFamily="2" charset="2"/>
              <a:buChar char="Ø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Wingdings" pitchFamily="2" charset="2"/>
              <a:buChar char="Ø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Wingdings" pitchFamily="2" charset="2"/>
              <a:buChar char="Ø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Wingdings" pitchFamily="2" charset="2"/>
              <a:buChar char="Ø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Convolve means: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altLang="zh-CN" sz="20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Dot product 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between the weight kernel and a small input map chunk with the same size of </a:t>
            </a:r>
            <a:b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the kernel. 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5529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D4D83E-3686-126C-CAF8-76193009E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15C74B01-EED8-7E60-8124-49CC9079E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" altLang="zh-CN" sz="4000">
                <a:latin typeface="Arial" panose="020B0604020202020204" pitchFamily="34" charset="0"/>
              </a:rPr>
              <a:t>Convolution and CNNs</a:t>
            </a:r>
            <a:endParaRPr kumimoji="1" lang="zh-CN" altLang="en-US" sz="4000">
              <a:latin typeface="Arial" panose="020B0604020202020204" pitchFamily="34" charset="0"/>
            </a:endParaRP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A3DA133-E1CE-7E5F-923E-2F083963E9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kumimoji="1" lang="en" altLang="zh-CN" sz="2400" dirty="0">
                <a:latin typeface="Arial" panose="020B0604020202020204" pitchFamily="34" charset="0"/>
              </a:rPr>
              <a:t>Convolution operations apply filters as a sliding window to input image.</a:t>
            </a:r>
            <a:endParaRPr kumimoji="1" lang="zh-CN" altLang="en-US" sz="2400" dirty="0">
              <a:latin typeface="Arial" panose="020B0604020202020204" pitchFamily="34" charset="0"/>
            </a:endParaRPr>
          </a:p>
        </p:txBody>
      </p:sp>
      <p:sp>
        <p:nvSpPr>
          <p:cNvPr id="6" name="立方体 8">
            <a:extLst>
              <a:ext uri="{FF2B5EF4-FFF2-40B4-BE49-F238E27FC236}">
                <a16:creationId xmlns:a16="http://schemas.microsoft.com/office/drawing/2014/main" id="{D65A65BD-CA5F-D9A6-71D9-A3F8D140EA43}"/>
              </a:ext>
            </a:extLst>
          </p:cNvPr>
          <p:cNvSpPr/>
          <p:nvPr/>
        </p:nvSpPr>
        <p:spPr>
          <a:xfrm>
            <a:off x="6709762" y="3332432"/>
            <a:ext cx="597292" cy="614289"/>
          </a:xfrm>
          <a:prstGeom prst="cube">
            <a:avLst>
              <a:gd name="adj" fmla="val 469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" name="直接箭头连接符 42">
            <a:extLst>
              <a:ext uri="{FF2B5EF4-FFF2-40B4-BE49-F238E27FC236}">
                <a16:creationId xmlns:a16="http://schemas.microsoft.com/office/drawing/2014/main" id="{CE7DC9C1-A2B2-72A0-0EA1-867DE6A0307D}"/>
              </a:ext>
            </a:extLst>
          </p:cNvPr>
          <p:cNvCxnSpPr>
            <a:cxnSpLocks/>
          </p:cNvCxnSpPr>
          <p:nvPr/>
        </p:nvCxnSpPr>
        <p:spPr>
          <a:xfrm flipV="1">
            <a:off x="6636131" y="3240110"/>
            <a:ext cx="325865" cy="339582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45">
            <a:extLst>
              <a:ext uri="{FF2B5EF4-FFF2-40B4-BE49-F238E27FC236}">
                <a16:creationId xmlns:a16="http://schemas.microsoft.com/office/drawing/2014/main" id="{610EF80D-70F6-79F4-B8C3-7F030B0F3D26}"/>
              </a:ext>
            </a:extLst>
          </p:cNvPr>
          <p:cNvCxnSpPr>
            <a:cxnSpLocks/>
          </p:cNvCxnSpPr>
          <p:nvPr/>
        </p:nvCxnSpPr>
        <p:spPr>
          <a:xfrm rot="5400000">
            <a:off x="6870182" y="3865130"/>
            <a:ext cx="0" cy="327396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52">
            <a:extLst>
              <a:ext uri="{FF2B5EF4-FFF2-40B4-BE49-F238E27FC236}">
                <a16:creationId xmlns:a16="http://schemas.microsoft.com/office/drawing/2014/main" id="{4824733B-1EF7-CEEC-9E2E-143BCF37B54F}"/>
              </a:ext>
            </a:extLst>
          </p:cNvPr>
          <p:cNvSpPr txBox="1"/>
          <p:nvPr/>
        </p:nvSpPr>
        <p:spPr>
          <a:xfrm>
            <a:off x="6487681" y="3144052"/>
            <a:ext cx="4839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文本框 54">
            <a:extLst>
              <a:ext uri="{FF2B5EF4-FFF2-40B4-BE49-F238E27FC236}">
                <a16:creationId xmlns:a16="http://schemas.microsoft.com/office/drawing/2014/main" id="{25565536-0ACE-93FD-92F7-E993459028AE}"/>
              </a:ext>
            </a:extLst>
          </p:cNvPr>
          <p:cNvSpPr txBox="1"/>
          <p:nvPr/>
        </p:nvSpPr>
        <p:spPr>
          <a:xfrm>
            <a:off x="6575594" y="4043295"/>
            <a:ext cx="5972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R=3</a:t>
            </a:r>
            <a:endParaRPr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文本框 60">
            <a:extLst>
              <a:ext uri="{FF2B5EF4-FFF2-40B4-BE49-F238E27FC236}">
                <a16:creationId xmlns:a16="http://schemas.microsoft.com/office/drawing/2014/main" id="{B08A6F8F-4EF6-BF81-9B8C-2CDCE41DE565}"/>
              </a:ext>
            </a:extLst>
          </p:cNvPr>
          <p:cNvSpPr txBox="1"/>
          <p:nvPr/>
        </p:nvSpPr>
        <p:spPr>
          <a:xfrm>
            <a:off x="5316400" y="3391390"/>
            <a:ext cx="13380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Arial" panose="020B0604020202020204" pitchFamily="34" charset="0"/>
                <a:cs typeface="Arial" panose="020B0604020202020204" pitchFamily="34" charset="0"/>
              </a:rPr>
              <a:t>Weight #1</a:t>
            </a:r>
            <a:endParaRPr lang="zh-CN" alt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立方体 5">
            <a:extLst>
              <a:ext uri="{FF2B5EF4-FFF2-40B4-BE49-F238E27FC236}">
                <a16:creationId xmlns:a16="http://schemas.microsoft.com/office/drawing/2014/main" id="{99D0D579-56AF-8F4D-FADD-5C9752AF2889}"/>
              </a:ext>
            </a:extLst>
          </p:cNvPr>
          <p:cNvSpPr/>
          <p:nvPr/>
        </p:nvSpPr>
        <p:spPr>
          <a:xfrm>
            <a:off x="7974173" y="3254230"/>
            <a:ext cx="1620000" cy="1512000"/>
          </a:xfrm>
          <a:prstGeom prst="cube">
            <a:avLst>
              <a:gd name="adj" fmla="val 19197"/>
            </a:avLst>
          </a:prstGeom>
          <a:solidFill>
            <a:schemeClr val="bg1">
              <a:lumMod val="85000"/>
              <a:alpha val="96000"/>
            </a:schemeClr>
          </a:solidFill>
          <a:ln w="19050">
            <a:noFill/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" name="直接箭头连接符 48">
            <a:extLst>
              <a:ext uri="{FF2B5EF4-FFF2-40B4-BE49-F238E27FC236}">
                <a16:creationId xmlns:a16="http://schemas.microsoft.com/office/drawing/2014/main" id="{190C3EAF-7913-8145-113C-D1DD3DB8DC06}"/>
              </a:ext>
            </a:extLst>
          </p:cNvPr>
          <p:cNvCxnSpPr>
            <a:cxnSpLocks/>
          </p:cNvCxnSpPr>
          <p:nvPr/>
        </p:nvCxnSpPr>
        <p:spPr>
          <a:xfrm>
            <a:off x="9711360" y="3254230"/>
            <a:ext cx="0" cy="1221622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49">
            <a:extLst>
              <a:ext uri="{FF2B5EF4-FFF2-40B4-BE49-F238E27FC236}">
                <a16:creationId xmlns:a16="http://schemas.microsoft.com/office/drawing/2014/main" id="{678BF9A2-5D88-04AF-0750-AE6A767BB1DE}"/>
              </a:ext>
            </a:extLst>
          </p:cNvPr>
          <p:cNvCxnSpPr>
            <a:cxnSpLocks/>
          </p:cNvCxnSpPr>
          <p:nvPr/>
        </p:nvCxnSpPr>
        <p:spPr>
          <a:xfrm rot="5400000">
            <a:off x="8619680" y="4212490"/>
            <a:ext cx="0" cy="1367616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56">
            <a:extLst>
              <a:ext uri="{FF2B5EF4-FFF2-40B4-BE49-F238E27FC236}">
                <a16:creationId xmlns:a16="http://schemas.microsoft.com/office/drawing/2014/main" id="{84232788-8161-3A6F-619C-C654CCCD4962}"/>
              </a:ext>
            </a:extLst>
          </p:cNvPr>
          <p:cNvSpPr txBox="1"/>
          <p:nvPr/>
        </p:nvSpPr>
        <p:spPr>
          <a:xfrm>
            <a:off x="9680221" y="3675260"/>
            <a:ext cx="4839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endParaRPr lang="zh-CN" alt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6" name="Straight Connector 13">
            <a:extLst>
              <a:ext uri="{FF2B5EF4-FFF2-40B4-BE49-F238E27FC236}">
                <a16:creationId xmlns:a16="http://schemas.microsoft.com/office/drawing/2014/main" id="{54F3FBE4-8B00-0E3C-673C-67C8E0510361}"/>
              </a:ext>
            </a:extLst>
          </p:cNvPr>
          <p:cNvCxnSpPr>
            <a:cxnSpLocks/>
          </p:cNvCxnSpPr>
          <p:nvPr/>
        </p:nvCxnSpPr>
        <p:spPr>
          <a:xfrm>
            <a:off x="6706484" y="3735814"/>
            <a:ext cx="324000" cy="0"/>
          </a:xfrm>
          <a:prstGeom prst="line">
            <a:avLst/>
          </a:prstGeom>
          <a:solidFill>
            <a:schemeClr val="bg1">
              <a:lumMod val="6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" name="Straight Connector 14">
            <a:extLst>
              <a:ext uri="{FF2B5EF4-FFF2-40B4-BE49-F238E27FC236}">
                <a16:creationId xmlns:a16="http://schemas.microsoft.com/office/drawing/2014/main" id="{3627B7F0-DFD9-2FBA-55B0-6CADE96DF607}"/>
              </a:ext>
            </a:extLst>
          </p:cNvPr>
          <p:cNvCxnSpPr>
            <a:cxnSpLocks/>
          </p:cNvCxnSpPr>
          <p:nvPr/>
        </p:nvCxnSpPr>
        <p:spPr>
          <a:xfrm>
            <a:off x="6712240" y="3845084"/>
            <a:ext cx="324000" cy="0"/>
          </a:xfrm>
          <a:prstGeom prst="line">
            <a:avLst/>
          </a:prstGeom>
          <a:solidFill>
            <a:schemeClr val="bg1">
              <a:lumMod val="6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8" name="Straight Connector 15">
            <a:extLst>
              <a:ext uri="{FF2B5EF4-FFF2-40B4-BE49-F238E27FC236}">
                <a16:creationId xmlns:a16="http://schemas.microsoft.com/office/drawing/2014/main" id="{69B5E77E-9FC1-6E1A-53F8-AA0FE1C0A836}"/>
              </a:ext>
            </a:extLst>
          </p:cNvPr>
          <p:cNvCxnSpPr>
            <a:cxnSpLocks/>
          </p:cNvCxnSpPr>
          <p:nvPr/>
        </p:nvCxnSpPr>
        <p:spPr>
          <a:xfrm rot="16200000">
            <a:off x="6651846" y="3776072"/>
            <a:ext cx="324000" cy="0"/>
          </a:xfrm>
          <a:prstGeom prst="line">
            <a:avLst/>
          </a:prstGeom>
          <a:solidFill>
            <a:schemeClr val="bg1">
              <a:lumMod val="6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9" name="Straight Connector 16">
            <a:extLst>
              <a:ext uri="{FF2B5EF4-FFF2-40B4-BE49-F238E27FC236}">
                <a16:creationId xmlns:a16="http://schemas.microsoft.com/office/drawing/2014/main" id="{633C675A-5433-489D-C850-ED1C7A44B6F9}"/>
              </a:ext>
            </a:extLst>
          </p:cNvPr>
          <p:cNvCxnSpPr>
            <a:cxnSpLocks/>
          </p:cNvCxnSpPr>
          <p:nvPr/>
        </p:nvCxnSpPr>
        <p:spPr>
          <a:xfrm rot="16200000">
            <a:off x="6750316" y="3773304"/>
            <a:ext cx="345600" cy="0"/>
          </a:xfrm>
          <a:prstGeom prst="line">
            <a:avLst/>
          </a:prstGeom>
          <a:solidFill>
            <a:schemeClr val="bg1">
              <a:lumMod val="6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0" name="Group 17">
            <a:extLst>
              <a:ext uri="{FF2B5EF4-FFF2-40B4-BE49-F238E27FC236}">
                <a16:creationId xmlns:a16="http://schemas.microsoft.com/office/drawing/2014/main" id="{95181C1B-B7CD-1BF0-67A5-FB718989C827}"/>
              </a:ext>
            </a:extLst>
          </p:cNvPr>
          <p:cNvGrpSpPr/>
          <p:nvPr/>
        </p:nvGrpSpPr>
        <p:grpSpPr>
          <a:xfrm>
            <a:off x="7953124" y="3254976"/>
            <a:ext cx="600570" cy="614289"/>
            <a:chOff x="5055483" y="3409509"/>
            <a:chExt cx="600570" cy="614289"/>
          </a:xfrm>
          <a:noFill/>
        </p:grpSpPr>
        <p:sp>
          <p:nvSpPr>
            <p:cNvPr id="21" name="立方体 8">
              <a:extLst>
                <a:ext uri="{FF2B5EF4-FFF2-40B4-BE49-F238E27FC236}">
                  <a16:creationId xmlns:a16="http://schemas.microsoft.com/office/drawing/2014/main" id="{B6314A88-955A-8E5B-CE57-0BD3841FCE8B}"/>
                </a:ext>
              </a:extLst>
            </p:cNvPr>
            <p:cNvSpPr/>
            <p:nvPr/>
          </p:nvSpPr>
          <p:spPr>
            <a:xfrm>
              <a:off x="5058761" y="3409509"/>
              <a:ext cx="597292" cy="614289"/>
            </a:xfrm>
            <a:prstGeom prst="cube">
              <a:avLst>
                <a:gd name="adj" fmla="val 46934"/>
              </a:avLst>
            </a:prstGeom>
            <a:grpFill/>
            <a:ln w="19050">
              <a:solidFill>
                <a:schemeClr val="bg1">
                  <a:lumMod val="50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2" name="Straight Connector 19">
              <a:extLst>
                <a:ext uri="{FF2B5EF4-FFF2-40B4-BE49-F238E27FC236}">
                  <a16:creationId xmlns:a16="http://schemas.microsoft.com/office/drawing/2014/main" id="{CED6B572-A645-D443-EC54-1D8B4D3617DD}"/>
                </a:ext>
              </a:extLst>
            </p:cNvPr>
            <p:cNvCxnSpPr>
              <a:cxnSpLocks/>
            </p:cNvCxnSpPr>
            <p:nvPr/>
          </p:nvCxnSpPr>
          <p:spPr>
            <a:xfrm>
              <a:off x="5055483" y="3812891"/>
              <a:ext cx="324000" cy="0"/>
            </a:xfrm>
            <a:prstGeom prst="line">
              <a:avLst/>
            </a:prstGeom>
            <a:grpFill/>
            <a:ln w="19050">
              <a:solidFill>
                <a:schemeClr val="bg1">
                  <a:lumMod val="50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4" name="Straight Connector 20">
              <a:extLst>
                <a:ext uri="{FF2B5EF4-FFF2-40B4-BE49-F238E27FC236}">
                  <a16:creationId xmlns:a16="http://schemas.microsoft.com/office/drawing/2014/main" id="{B7409D4F-810A-F628-5D19-F9BE851F1ADF}"/>
                </a:ext>
              </a:extLst>
            </p:cNvPr>
            <p:cNvCxnSpPr>
              <a:cxnSpLocks/>
            </p:cNvCxnSpPr>
            <p:nvPr/>
          </p:nvCxnSpPr>
          <p:spPr>
            <a:xfrm>
              <a:off x="5061239" y="3922161"/>
              <a:ext cx="324000" cy="0"/>
            </a:xfrm>
            <a:prstGeom prst="line">
              <a:avLst/>
            </a:prstGeom>
            <a:grpFill/>
            <a:ln w="19050">
              <a:solidFill>
                <a:schemeClr val="bg1">
                  <a:lumMod val="50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6" name="Straight Connector 21">
              <a:extLst>
                <a:ext uri="{FF2B5EF4-FFF2-40B4-BE49-F238E27FC236}">
                  <a16:creationId xmlns:a16="http://schemas.microsoft.com/office/drawing/2014/main" id="{14415614-A990-B42C-16E6-B663C4E6A8BB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5000845" y="3853149"/>
              <a:ext cx="324000" cy="0"/>
            </a:xfrm>
            <a:prstGeom prst="line">
              <a:avLst/>
            </a:prstGeom>
            <a:grpFill/>
            <a:ln w="19050">
              <a:solidFill>
                <a:schemeClr val="bg1">
                  <a:lumMod val="50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7" name="Straight Connector 22">
              <a:extLst>
                <a:ext uri="{FF2B5EF4-FFF2-40B4-BE49-F238E27FC236}">
                  <a16:creationId xmlns:a16="http://schemas.microsoft.com/office/drawing/2014/main" id="{CD23714C-A6A4-B7A2-9FF4-51CA7946B3BA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5110115" y="3858905"/>
              <a:ext cx="324000" cy="0"/>
            </a:xfrm>
            <a:prstGeom prst="line">
              <a:avLst/>
            </a:prstGeom>
            <a:grpFill/>
            <a:ln w="19050">
              <a:solidFill>
                <a:schemeClr val="bg1">
                  <a:lumMod val="50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58" name="文本框 56">
            <a:extLst>
              <a:ext uri="{FF2B5EF4-FFF2-40B4-BE49-F238E27FC236}">
                <a16:creationId xmlns:a16="http://schemas.microsoft.com/office/drawing/2014/main" id="{F9FC941E-78F3-F42F-FE88-C036AB038A87}"/>
              </a:ext>
            </a:extLst>
          </p:cNvPr>
          <p:cNvSpPr txBox="1"/>
          <p:nvPr/>
        </p:nvSpPr>
        <p:spPr>
          <a:xfrm>
            <a:off x="8461759" y="4896298"/>
            <a:ext cx="4839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endParaRPr lang="zh-CN" alt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9" name="直接箭头连接符 42">
            <a:extLst>
              <a:ext uri="{FF2B5EF4-FFF2-40B4-BE49-F238E27FC236}">
                <a16:creationId xmlns:a16="http://schemas.microsoft.com/office/drawing/2014/main" id="{042FD4C2-386A-A846-5020-54108F003061}"/>
              </a:ext>
            </a:extLst>
          </p:cNvPr>
          <p:cNvCxnSpPr>
            <a:cxnSpLocks/>
          </p:cNvCxnSpPr>
          <p:nvPr/>
        </p:nvCxnSpPr>
        <p:spPr>
          <a:xfrm flipV="1">
            <a:off x="9353865" y="4540225"/>
            <a:ext cx="325865" cy="339582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文本框 52">
            <a:extLst>
              <a:ext uri="{FF2B5EF4-FFF2-40B4-BE49-F238E27FC236}">
                <a16:creationId xmlns:a16="http://schemas.microsoft.com/office/drawing/2014/main" id="{0BD477F0-A5D1-BC21-0C4D-E44826E14A1B}"/>
              </a:ext>
            </a:extLst>
          </p:cNvPr>
          <p:cNvSpPr txBox="1"/>
          <p:nvPr/>
        </p:nvSpPr>
        <p:spPr>
          <a:xfrm>
            <a:off x="9471556" y="4661987"/>
            <a:ext cx="4839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" name="矩形 18">
            <a:extLst>
              <a:ext uri="{FF2B5EF4-FFF2-40B4-BE49-F238E27FC236}">
                <a16:creationId xmlns:a16="http://schemas.microsoft.com/office/drawing/2014/main" id="{80FD1920-6555-4EA1-8B6D-D76DF331B5EF}"/>
              </a:ext>
            </a:extLst>
          </p:cNvPr>
          <p:cNvSpPr/>
          <p:nvPr/>
        </p:nvSpPr>
        <p:spPr>
          <a:xfrm flipV="1">
            <a:off x="10596755" y="3579689"/>
            <a:ext cx="483907" cy="280923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文本框 60">
            <a:extLst>
              <a:ext uri="{FF2B5EF4-FFF2-40B4-BE49-F238E27FC236}">
                <a16:creationId xmlns:a16="http://schemas.microsoft.com/office/drawing/2014/main" id="{CD63271C-718E-44A7-F93F-A9C2EC99F344}"/>
              </a:ext>
            </a:extLst>
          </p:cNvPr>
          <p:cNvSpPr txBox="1"/>
          <p:nvPr/>
        </p:nvSpPr>
        <p:spPr>
          <a:xfrm>
            <a:off x="10616855" y="3614131"/>
            <a:ext cx="216000" cy="216000"/>
          </a:xfrm>
          <a:prstGeom prst="rect">
            <a:avLst/>
          </a:prstGeom>
          <a:grpFill/>
          <a:ln w="19050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>
              <a:defRPr>
                <a:solidFill>
                  <a:schemeClr val="lt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3" name="文本框 60">
            <a:extLst>
              <a:ext uri="{FF2B5EF4-FFF2-40B4-BE49-F238E27FC236}">
                <a16:creationId xmlns:a16="http://schemas.microsoft.com/office/drawing/2014/main" id="{D409A6FD-25DB-FE65-B0EF-42F80797B4A2}"/>
              </a:ext>
            </a:extLst>
          </p:cNvPr>
          <p:cNvSpPr txBox="1"/>
          <p:nvPr/>
        </p:nvSpPr>
        <p:spPr>
          <a:xfrm>
            <a:off x="5316400" y="3391390"/>
            <a:ext cx="13380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Arial" panose="020B0604020202020204" pitchFamily="34" charset="0"/>
                <a:cs typeface="Arial" panose="020B0604020202020204" pitchFamily="34" charset="0"/>
              </a:rPr>
              <a:t>Weight #1</a:t>
            </a:r>
          </a:p>
          <a:p>
            <a:r>
              <a:rPr lang="en-US" altLang="zh-CN" sz="1600" b="1" dirty="0">
                <a:latin typeface="Arial" panose="020B0604020202020204" pitchFamily="34" charset="0"/>
                <a:cs typeface="Arial" panose="020B0604020202020204" pitchFamily="34" charset="0"/>
              </a:rPr>
              <a:t>(filter)</a:t>
            </a:r>
            <a:endParaRPr lang="zh-CN" alt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4" name="Straight Arrow Connector 56">
            <a:extLst>
              <a:ext uri="{FF2B5EF4-FFF2-40B4-BE49-F238E27FC236}">
                <a16:creationId xmlns:a16="http://schemas.microsoft.com/office/drawing/2014/main" id="{8BE9F2A4-7013-EA10-5482-BD7DF693E864}"/>
              </a:ext>
            </a:extLst>
          </p:cNvPr>
          <p:cNvCxnSpPr>
            <a:cxnSpLocks/>
          </p:cNvCxnSpPr>
          <p:nvPr/>
        </p:nvCxnSpPr>
        <p:spPr>
          <a:xfrm flipV="1">
            <a:off x="6868484" y="3709152"/>
            <a:ext cx="1375717" cy="95532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58">
            <a:extLst>
              <a:ext uri="{FF2B5EF4-FFF2-40B4-BE49-F238E27FC236}">
                <a16:creationId xmlns:a16="http://schemas.microsoft.com/office/drawing/2014/main" id="{AF05DB44-91BA-44E4-92E1-390F04126E2F}"/>
              </a:ext>
            </a:extLst>
          </p:cNvPr>
          <p:cNvCxnSpPr>
            <a:cxnSpLocks/>
          </p:cNvCxnSpPr>
          <p:nvPr/>
        </p:nvCxnSpPr>
        <p:spPr>
          <a:xfrm>
            <a:off x="8517246" y="3493152"/>
            <a:ext cx="2475505" cy="274476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6" name="组合 65">
            <a:extLst>
              <a:ext uri="{FF2B5EF4-FFF2-40B4-BE49-F238E27FC236}">
                <a16:creationId xmlns:a16="http://schemas.microsoft.com/office/drawing/2014/main" id="{714938EB-1DFE-4302-3C3E-830011F930ED}"/>
              </a:ext>
            </a:extLst>
          </p:cNvPr>
          <p:cNvGrpSpPr/>
          <p:nvPr/>
        </p:nvGrpSpPr>
        <p:grpSpPr>
          <a:xfrm>
            <a:off x="7427293" y="3185229"/>
            <a:ext cx="422834" cy="646331"/>
            <a:chOff x="4234899" y="1747621"/>
            <a:chExt cx="422834" cy="646331"/>
          </a:xfrm>
        </p:grpSpPr>
        <p:sp>
          <p:nvSpPr>
            <p:cNvPr id="67" name="椭圆 66">
              <a:extLst>
                <a:ext uri="{FF2B5EF4-FFF2-40B4-BE49-F238E27FC236}">
                  <a16:creationId xmlns:a16="http://schemas.microsoft.com/office/drawing/2014/main" id="{2A336AA1-9A11-7FFD-6AF8-82C3C89FFCB1}"/>
                </a:ext>
              </a:extLst>
            </p:cNvPr>
            <p:cNvSpPr/>
            <p:nvPr/>
          </p:nvSpPr>
          <p:spPr>
            <a:xfrm>
              <a:off x="4338785" y="1940329"/>
              <a:ext cx="281761" cy="281761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" name="文本框 67">
              <a:extLst>
                <a:ext uri="{FF2B5EF4-FFF2-40B4-BE49-F238E27FC236}">
                  <a16:creationId xmlns:a16="http://schemas.microsoft.com/office/drawing/2014/main" id="{0D655E97-8094-7031-CCB0-6DFD808F16FE}"/>
                </a:ext>
              </a:extLst>
            </p:cNvPr>
            <p:cNvSpPr txBox="1"/>
            <p:nvPr/>
          </p:nvSpPr>
          <p:spPr>
            <a:xfrm>
              <a:off x="4234899" y="1747621"/>
              <a:ext cx="422834" cy="646331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3600" b="1" dirty="0"/>
                <a:t>×</a:t>
              </a:r>
              <a:endParaRPr lang="zh-CN" altLang="en-US" sz="3600" b="1" dirty="0"/>
            </a:p>
          </p:txBody>
        </p:sp>
      </p:grpSp>
      <p:grpSp>
        <p:nvGrpSpPr>
          <p:cNvPr id="69" name="Group 35">
            <a:extLst>
              <a:ext uri="{FF2B5EF4-FFF2-40B4-BE49-F238E27FC236}">
                <a16:creationId xmlns:a16="http://schemas.microsoft.com/office/drawing/2014/main" id="{0B524D08-5F9F-6AB2-DA59-89A44D80F7CB}"/>
              </a:ext>
            </a:extLst>
          </p:cNvPr>
          <p:cNvGrpSpPr/>
          <p:nvPr/>
        </p:nvGrpSpPr>
        <p:grpSpPr>
          <a:xfrm>
            <a:off x="8057631" y="3256861"/>
            <a:ext cx="600570" cy="614289"/>
            <a:chOff x="5055483" y="3409509"/>
            <a:chExt cx="600570" cy="614289"/>
          </a:xfrm>
          <a:noFill/>
        </p:grpSpPr>
        <p:sp>
          <p:nvSpPr>
            <p:cNvPr id="70" name="立方体 8">
              <a:extLst>
                <a:ext uri="{FF2B5EF4-FFF2-40B4-BE49-F238E27FC236}">
                  <a16:creationId xmlns:a16="http://schemas.microsoft.com/office/drawing/2014/main" id="{654CFD3E-0FCA-82E0-7145-22BBF4D8AB11}"/>
                </a:ext>
              </a:extLst>
            </p:cNvPr>
            <p:cNvSpPr/>
            <p:nvPr/>
          </p:nvSpPr>
          <p:spPr>
            <a:xfrm>
              <a:off x="5058761" y="3409509"/>
              <a:ext cx="597292" cy="614289"/>
            </a:xfrm>
            <a:prstGeom prst="cube">
              <a:avLst>
                <a:gd name="adj" fmla="val 46934"/>
              </a:avLst>
            </a:prstGeom>
            <a:grpFill/>
            <a:ln w="19050">
              <a:solidFill>
                <a:srgbClr val="0070C0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71" name="Straight Connector 37">
              <a:extLst>
                <a:ext uri="{FF2B5EF4-FFF2-40B4-BE49-F238E27FC236}">
                  <a16:creationId xmlns:a16="http://schemas.microsoft.com/office/drawing/2014/main" id="{642F1AEC-B674-9C59-834D-5F504704522A}"/>
                </a:ext>
              </a:extLst>
            </p:cNvPr>
            <p:cNvCxnSpPr>
              <a:cxnSpLocks/>
            </p:cNvCxnSpPr>
            <p:nvPr/>
          </p:nvCxnSpPr>
          <p:spPr>
            <a:xfrm>
              <a:off x="5055483" y="3812891"/>
              <a:ext cx="324000" cy="0"/>
            </a:xfrm>
            <a:prstGeom prst="line">
              <a:avLst/>
            </a:prstGeom>
            <a:grpFill/>
            <a:ln w="19050">
              <a:solidFill>
                <a:srgbClr val="0070C0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2" name="Straight Connector 38">
              <a:extLst>
                <a:ext uri="{FF2B5EF4-FFF2-40B4-BE49-F238E27FC236}">
                  <a16:creationId xmlns:a16="http://schemas.microsoft.com/office/drawing/2014/main" id="{988DA1AB-4879-E338-2B0C-3167BB37989C}"/>
                </a:ext>
              </a:extLst>
            </p:cNvPr>
            <p:cNvCxnSpPr>
              <a:cxnSpLocks/>
            </p:cNvCxnSpPr>
            <p:nvPr/>
          </p:nvCxnSpPr>
          <p:spPr>
            <a:xfrm>
              <a:off x="5061239" y="3922161"/>
              <a:ext cx="324000" cy="0"/>
            </a:xfrm>
            <a:prstGeom prst="line">
              <a:avLst/>
            </a:prstGeom>
            <a:grpFill/>
            <a:ln w="19050">
              <a:solidFill>
                <a:srgbClr val="0070C0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3" name="Straight Connector 39">
              <a:extLst>
                <a:ext uri="{FF2B5EF4-FFF2-40B4-BE49-F238E27FC236}">
                  <a16:creationId xmlns:a16="http://schemas.microsoft.com/office/drawing/2014/main" id="{FA0256DD-FB1A-02A6-EE33-52410802E8C0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5000845" y="3853149"/>
              <a:ext cx="324000" cy="0"/>
            </a:xfrm>
            <a:prstGeom prst="line">
              <a:avLst/>
            </a:prstGeom>
            <a:grpFill/>
            <a:ln w="19050">
              <a:solidFill>
                <a:srgbClr val="0070C0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4" name="Straight Connector 42">
              <a:extLst>
                <a:ext uri="{FF2B5EF4-FFF2-40B4-BE49-F238E27FC236}">
                  <a16:creationId xmlns:a16="http://schemas.microsoft.com/office/drawing/2014/main" id="{50A51A59-ED52-9722-51DF-627B5D754869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5110115" y="3858905"/>
              <a:ext cx="324000" cy="0"/>
            </a:xfrm>
            <a:prstGeom prst="line">
              <a:avLst/>
            </a:prstGeom>
            <a:grpFill/>
            <a:ln w="19050">
              <a:solidFill>
                <a:srgbClr val="0070C0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75" name="文本框 60">
            <a:extLst>
              <a:ext uri="{FF2B5EF4-FFF2-40B4-BE49-F238E27FC236}">
                <a16:creationId xmlns:a16="http://schemas.microsoft.com/office/drawing/2014/main" id="{EA30CCC9-82B1-C0AF-4ED5-D2EEF3C9D02C}"/>
              </a:ext>
            </a:extLst>
          </p:cNvPr>
          <p:cNvSpPr txBox="1"/>
          <p:nvPr/>
        </p:nvSpPr>
        <p:spPr>
          <a:xfrm>
            <a:off x="10834600" y="3614131"/>
            <a:ext cx="216000" cy="216000"/>
          </a:xfrm>
          <a:prstGeom prst="rect">
            <a:avLst/>
          </a:prstGeom>
          <a:grpFill/>
          <a:ln w="19050">
            <a:solidFill>
              <a:srgbClr val="0070C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>
              <a:defRPr>
                <a:solidFill>
                  <a:schemeClr val="lt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6" name="文本框 60">
            <a:extLst>
              <a:ext uri="{FF2B5EF4-FFF2-40B4-BE49-F238E27FC236}">
                <a16:creationId xmlns:a16="http://schemas.microsoft.com/office/drawing/2014/main" id="{99CA084A-9E99-ACD0-D45D-9E87965889C0}"/>
              </a:ext>
            </a:extLst>
          </p:cNvPr>
          <p:cNvSpPr txBox="1"/>
          <p:nvPr/>
        </p:nvSpPr>
        <p:spPr>
          <a:xfrm>
            <a:off x="7815676" y="2750535"/>
            <a:ext cx="483909" cy="409468"/>
          </a:xfrm>
          <a:prstGeom prst="rect">
            <a:avLst/>
          </a:prstGeom>
          <a:grpFill/>
          <a:ln w="19050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>
              <a:defRPr>
                <a:solidFill>
                  <a:schemeClr val="lt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zh-CN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</a:t>
            </a:r>
            <a:br>
              <a:rPr lang="en-US" altLang="zh-CN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#1</a:t>
            </a:r>
            <a:endParaRPr lang="zh-CN" altLang="en-US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7" name="文本框 60">
            <a:extLst>
              <a:ext uri="{FF2B5EF4-FFF2-40B4-BE49-F238E27FC236}">
                <a16:creationId xmlns:a16="http://schemas.microsoft.com/office/drawing/2014/main" id="{C534FE3B-EB5B-1940-0C2F-8F2163A29CFB}"/>
              </a:ext>
            </a:extLst>
          </p:cNvPr>
          <p:cNvSpPr txBox="1"/>
          <p:nvPr/>
        </p:nvSpPr>
        <p:spPr>
          <a:xfrm>
            <a:off x="8300264" y="2748196"/>
            <a:ext cx="483909" cy="409468"/>
          </a:xfrm>
          <a:prstGeom prst="rect">
            <a:avLst/>
          </a:prstGeom>
          <a:grpFill/>
          <a:ln w="19050">
            <a:solidFill>
              <a:srgbClr val="0070C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>
              <a:defRPr>
                <a:solidFill>
                  <a:schemeClr val="lt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zh-CN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</a:t>
            </a:r>
            <a:br>
              <a:rPr lang="en-US" altLang="zh-CN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#2</a:t>
            </a:r>
            <a:endParaRPr lang="zh-CN" altLang="en-US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9" name="Content Placeholder 2">
            <a:extLst>
              <a:ext uri="{FF2B5EF4-FFF2-40B4-BE49-F238E27FC236}">
                <a16:creationId xmlns:a16="http://schemas.microsoft.com/office/drawing/2014/main" id="{481C6D4C-B843-6FC2-5807-310963E204FA}"/>
              </a:ext>
            </a:extLst>
          </p:cNvPr>
          <p:cNvSpPr txBox="1">
            <a:spLocks/>
          </p:cNvSpPr>
          <p:nvPr/>
        </p:nvSpPr>
        <p:spPr>
          <a:xfrm>
            <a:off x="838199" y="1825624"/>
            <a:ext cx="5557809" cy="45275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Wingdings" pitchFamily="2" charset="2"/>
              <a:buChar char="Ø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Wingdings" pitchFamily="2" charset="2"/>
              <a:buChar char="Ø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Wingdings" pitchFamily="2" charset="2"/>
              <a:buChar char="Ø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Wingdings" pitchFamily="2" charset="2"/>
              <a:buChar char="Ø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Convolve means: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altLang="zh-CN" sz="20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Dot product 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between the weight kernel and a small input map</a:t>
            </a:r>
            <a:b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chunk with the same size of </a:t>
            </a:r>
            <a:b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the kernel. 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altLang="zh-CN" sz="20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Slide over 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the map spatially.</a:t>
            </a:r>
            <a:b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The step size is called stride. </a:t>
            </a:r>
          </a:p>
          <a:p>
            <a:pPr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altLang="zh-CN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Weight Reuse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altLang="zh-CN" sz="2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One weight multiple input activation</a:t>
            </a:r>
            <a:endParaRPr lang="zh-CN" altLang="en-US" sz="20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1333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98241-9F6D-C77B-2EAE-E5838E63B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1BD8C2E0-15DA-3CFF-571D-E778F2C9A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" altLang="zh-CN" sz="4000">
                <a:latin typeface="Arial" panose="020B0604020202020204" pitchFamily="34" charset="0"/>
              </a:rPr>
              <a:t>Convolution and CNNs</a:t>
            </a:r>
            <a:endParaRPr kumimoji="1" lang="zh-CN" altLang="en-US" sz="4000">
              <a:latin typeface="Arial" panose="020B0604020202020204" pitchFamily="34" charset="0"/>
            </a:endParaRP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6856150-E88C-D0E2-9710-6572E59F77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kumimoji="1" lang="en" altLang="zh-CN" sz="2400" dirty="0">
                <a:latin typeface="Arial" panose="020B0604020202020204" pitchFamily="34" charset="0"/>
              </a:rPr>
              <a:t>Convolution operations apply filters as a sliding window to input image.</a:t>
            </a:r>
            <a:endParaRPr kumimoji="1" lang="zh-CN" altLang="en-US" sz="2400" dirty="0">
              <a:latin typeface="Arial" panose="020B0604020202020204" pitchFamily="34" charset="0"/>
            </a:endParaRPr>
          </a:p>
        </p:txBody>
      </p:sp>
      <p:sp>
        <p:nvSpPr>
          <p:cNvPr id="2" name="矩形 18">
            <a:extLst>
              <a:ext uri="{FF2B5EF4-FFF2-40B4-BE49-F238E27FC236}">
                <a16:creationId xmlns:a16="http://schemas.microsoft.com/office/drawing/2014/main" id="{B94D5304-5553-6569-16C7-D609A81B1A37}"/>
              </a:ext>
            </a:extLst>
          </p:cNvPr>
          <p:cNvSpPr/>
          <p:nvPr/>
        </p:nvSpPr>
        <p:spPr>
          <a:xfrm>
            <a:off x="10583623" y="3592784"/>
            <a:ext cx="877582" cy="883068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20A8829-16EF-1E07-BC6D-8E30C8403908}"/>
              </a:ext>
            </a:extLst>
          </p:cNvPr>
          <p:cNvSpPr txBox="1">
            <a:spLocks/>
          </p:cNvSpPr>
          <p:nvPr/>
        </p:nvSpPr>
        <p:spPr>
          <a:xfrm>
            <a:off x="838200" y="1825624"/>
            <a:ext cx="5291662" cy="45275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Wingdings" pitchFamily="2" charset="2"/>
              <a:buChar char="Ø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Wingdings" pitchFamily="2" charset="2"/>
              <a:buChar char="Ø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Wingdings" pitchFamily="2" charset="2"/>
              <a:buChar char="Ø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Wingdings" pitchFamily="2" charset="2"/>
              <a:buChar char="Ø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Convolve means: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altLang="zh-CN" sz="20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Dot product 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altLang="zh-CN" sz="20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Slide over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altLang="zh-CN" sz="20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Output Activation Map</a:t>
            </a:r>
          </a:p>
          <a:p>
            <a:pPr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altLang="zh-CN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Weight Reuse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Single weight multiple activation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altLang="zh-CN" sz="2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contrast with MLP, Convolution reduces the weight scale.</a:t>
            </a:r>
          </a:p>
        </p:txBody>
      </p:sp>
      <p:sp>
        <p:nvSpPr>
          <p:cNvPr id="23" name="立方体 8">
            <a:extLst>
              <a:ext uri="{FF2B5EF4-FFF2-40B4-BE49-F238E27FC236}">
                <a16:creationId xmlns:a16="http://schemas.microsoft.com/office/drawing/2014/main" id="{C759FE63-EA4D-2A43-3324-BCC62C202F89}"/>
              </a:ext>
            </a:extLst>
          </p:cNvPr>
          <p:cNvSpPr/>
          <p:nvPr/>
        </p:nvSpPr>
        <p:spPr>
          <a:xfrm>
            <a:off x="6709762" y="3332432"/>
            <a:ext cx="597292" cy="614289"/>
          </a:xfrm>
          <a:prstGeom prst="cube">
            <a:avLst>
              <a:gd name="adj" fmla="val 469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5" name="直接箭头连接符 42">
            <a:extLst>
              <a:ext uri="{FF2B5EF4-FFF2-40B4-BE49-F238E27FC236}">
                <a16:creationId xmlns:a16="http://schemas.microsoft.com/office/drawing/2014/main" id="{17C8B4A9-05ED-A7DB-5988-EEF6C826C108}"/>
              </a:ext>
            </a:extLst>
          </p:cNvPr>
          <p:cNvCxnSpPr>
            <a:cxnSpLocks/>
          </p:cNvCxnSpPr>
          <p:nvPr/>
        </p:nvCxnSpPr>
        <p:spPr>
          <a:xfrm flipV="1">
            <a:off x="6636131" y="3240110"/>
            <a:ext cx="325865" cy="339582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45">
            <a:extLst>
              <a:ext uri="{FF2B5EF4-FFF2-40B4-BE49-F238E27FC236}">
                <a16:creationId xmlns:a16="http://schemas.microsoft.com/office/drawing/2014/main" id="{2B28A7F6-A448-78CC-02F7-FD8A0BA5EBCB}"/>
              </a:ext>
            </a:extLst>
          </p:cNvPr>
          <p:cNvCxnSpPr>
            <a:cxnSpLocks/>
          </p:cNvCxnSpPr>
          <p:nvPr/>
        </p:nvCxnSpPr>
        <p:spPr>
          <a:xfrm rot="5400000">
            <a:off x="6870182" y="3865130"/>
            <a:ext cx="0" cy="327396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52">
            <a:extLst>
              <a:ext uri="{FF2B5EF4-FFF2-40B4-BE49-F238E27FC236}">
                <a16:creationId xmlns:a16="http://schemas.microsoft.com/office/drawing/2014/main" id="{3AF62C8B-0753-60B4-B0E5-45B5DB182F6B}"/>
              </a:ext>
            </a:extLst>
          </p:cNvPr>
          <p:cNvSpPr txBox="1"/>
          <p:nvPr/>
        </p:nvSpPr>
        <p:spPr>
          <a:xfrm>
            <a:off x="6487681" y="3144052"/>
            <a:ext cx="4839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文本框 54">
            <a:extLst>
              <a:ext uri="{FF2B5EF4-FFF2-40B4-BE49-F238E27FC236}">
                <a16:creationId xmlns:a16="http://schemas.microsoft.com/office/drawing/2014/main" id="{31542713-76CC-2253-05B1-8BD54D1CCB21}"/>
              </a:ext>
            </a:extLst>
          </p:cNvPr>
          <p:cNvSpPr txBox="1"/>
          <p:nvPr/>
        </p:nvSpPr>
        <p:spPr>
          <a:xfrm>
            <a:off x="6575594" y="4043295"/>
            <a:ext cx="5972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R=3</a:t>
            </a:r>
            <a:endParaRPr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文本框 60">
            <a:extLst>
              <a:ext uri="{FF2B5EF4-FFF2-40B4-BE49-F238E27FC236}">
                <a16:creationId xmlns:a16="http://schemas.microsoft.com/office/drawing/2014/main" id="{60281CBF-CD63-DEE1-21E7-46C6A6F9B073}"/>
              </a:ext>
            </a:extLst>
          </p:cNvPr>
          <p:cNvSpPr txBox="1"/>
          <p:nvPr/>
        </p:nvSpPr>
        <p:spPr>
          <a:xfrm>
            <a:off x="5316400" y="3391390"/>
            <a:ext cx="13380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Arial" panose="020B0604020202020204" pitchFamily="34" charset="0"/>
                <a:cs typeface="Arial" panose="020B0604020202020204" pitchFamily="34" charset="0"/>
              </a:rPr>
              <a:t>Weight #1</a:t>
            </a:r>
            <a:endParaRPr lang="zh-CN" alt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立方体 5">
            <a:extLst>
              <a:ext uri="{FF2B5EF4-FFF2-40B4-BE49-F238E27FC236}">
                <a16:creationId xmlns:a16="http://schemas.microsoft.com/office/drawing/2014/main" id="{EA17160F-8719-0857-B504-40DF3CC8C26E}"/>
              </a:ext>
            </a:extLst>
          </p:cNvPr>
          <p:cNvSpPr/>
          <p:nvPr/>
        </p:nvSpPr>
        <p:spPr>
          <a:xfrm>
            <a:off x="7974173" y="3254230"/>
            <a:ext cx="1620000" cy="1512000"/>
          </a:xfrm>
          <a:prstGeom prst="cube">
            <a:avLst>
              <a:gd name="adj" fmla="val 19197"/>
            </a:avLst>
          </a:prstGeom>
          <a:solidFill>
            <a:schemeClr val="bg1">
              <a:lumMod val="85000"/>
              <a:alpha val="96000"/>
            </a:schemeClr>
          </a:solidFill>
          <a:ln w="19050">
            <a:noFill/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1" name="直接箭头连接符 48">
            <a:extLst>
              <a:ext uri="{FF2B5EF4-FFF2-40B4-BE49-F238E27FC236}">
                <a16:creationId xmlns:a16="http://schemas.microsoft.com/office/drawing/2014/main" id="{808E262B-8BC9-E89A-28DF-43824FAC07AB}"/>
              </a:ext>
            </a:extLst>
          </p:cNvPr>
          <p:cNvCxnSpPr>
            <a:cxnSpLocks/>
          </p:cNvCxnSpPr>
          <p:nvPr/>
        </p:nvCxnSpPr>
        <p:spPr>
          <a:xfrm>
            <a:off x="9711360" y="3254230"/>
            <a:ext cx="0" cy="1221622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49">
            <a:extLst>
              <a:ext uri="{FF2B5EF4-FFF2-40B4-BE49-F238E27FC236}">
                <a16:creationId xmlns:a16="http://schemas.microsoft.com/office/drawing/2014/main" id="{5102070B-87A6-F35A-9916-2ED416701AC3}"/>
              </a:ext>
            </a:extLst>
          </p:cNvPr>
          <p:cNvCxnSpPr>
            <a:cxnSpLocks/>
          </p:cNvCxnSpPr>
          <p:nvPr/>
        </p:nvCxnSpPr>
        <p:spPr>
          <a:xfrm rot="5400000">
            <a:off x="8619680" y="4212490"/>
            <a:ext cx="0" cy="1367616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框 56">
            <a:extLst>
              <a:ext uri="{FF2B5EF4-FFF2-40B4-BE49-F238E27FC236}">
                <a16:creationId xmlns:a16="http://schemas.microsoft.com/office/drawing/2014/main" id="{2C22A5AF-F172-664A-684A-0EAA2C20D935}"/>
              </a:ext>
            </a:extLst>
          </p:cNvPr>
          <p:cNvSpPr txBox="1"/>
          <p:nvPr/>
        </p:nvSpPr>
        <p:spPr>
          <a:xfrm>
            <a:off x="9680221" y="3675260"/>
            <a:ext cx="4839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endParaRPr lang="zh-CN" alt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4" name="Straight Connector 13">
            <a:extLst>
              <a:ext uri="{FF2B5EF4-FFF2-40B4-BE49-F238E27FC236}">
                <a16:creationId xmlns:a16="http://schemas.microsoft.com/office/drawing/2014/main" id="{FB37AB4A-6236-3143-395A-79B8DCCE8CDD}"/>
              </a:ext>
            </a:extLst>
          </p:cNvPr>
          <p:cNvCxnSpPr>
            <a:cxnSpLocks/>
          </p:cNvCxnSpPr>
          <p:nvPr/>
        </p:nvCxnSpPr>
        <p:spPr>
          <a:xfrm>
            <a:off x="6706484" y="3735814"/>
            <a:ext cx="324000" cy="0"/>
          </a:xfrm>
          <a:prstGeom prst="line">
            <a:avLst/>
          </a:prstGeom>
          <a:solidFill>
            <a:schemeClr val="bg1">
              <a:lumMod val="6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5" name="Straight Connector 14">
            <a:extLst>
              <a:ext uri="{FF2B5EF4-FFF2-40B4-BE49-F238E27FC236}">
                <a16:creationId xmlns:a16="http://schemas.microsoft.com/office/drawing/2014/main" id="{EAF46C52-2CE1-0FC9-2CBC-A6A78C445DA9}"/>
              </a:ext>
            </a:extLst>
          </p:cNvPr>
          <p:cNvCxnSpPr>
            <a:cxnSpLocks/>
          </p:cNvCxnSpPr>
          <p:nvPr/>
        </p:nvCxnSpPr>
        <p:spPr>
          <a:xfrm>
            <a:off x="6712240" y="3845084"/>
            <a:ext cx="324000" cy="0"/>
          </a:xfrm>
          <a:prstGeom prst="line">
            <a:avLst/>
          </a:prstGeom>
          <a:solidFill>
            <a:schemeClr val="bg1">
              <a:lumMod val="6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6" name="Straight Connector 15">
            <a:extLst>
              <a:ext uri="{FF2B5EF4-FFF2-40B4-BE49-F238E27FC236}">
                <a16:creationId xmlns:a16="http://schemas.microsoft.com/office/drawing/2014/main" id="{4BBEAE8B-B24D-99F1-E701-8D5341BA052D}"/>
              </a:ext>
            </a:extLst>
          </p:cNvPr>
          <p:cNvCxnSpPr>
            <a:cxnSpLocks/>
          </p:cNvCxnSpPr>
          <p:nvPr/>
        </p:nvCxnSpPr>
        <p:spPr>
          <a:xfrm rot="16200000">
            <a:off x="6651846" y="3776072"/>
            <a:ext cx="324000" cy="0"/>
          </a:xfrm>
          <a:prstGeom prst="line">
            <a:avLst/>
          </a:prstGeom>
          <a:solidFill>
            <a:schemeClr val="bg1">
              <a:lumMod val="6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7" name="Straight Connector 16">
            <a:extLst>
              <a:ext uri="{FF2B5EF4-FFF2-40B4-BE49-F238E27FC236}">
                <a16:creationId xmlns:a16="http://schemas.microsoft.com/office/drawing/2014/main" id="{E72C8A6D-D407-1E88-1240-0F3A5FD265A2}"/>
              </a:ext>
            </a:extLst>
          </p:cNvPr>
          <p:cNvCxnSpPr>
            <a:cxnSpLocks/>
          </p:cNvCxnSpPr>
          <p:nvPr/>
        </p:nvCxnSpPr>
        <p:spPr>
          <a:xfrm rot="16200000">
            <a:off x="6750316" y="3773304"/>
            <a:ext cx="345600" cy="0"/>
          </a:xfrm>
          <a:prstGeom prst="line">
            <a:avLst/>
          </a:prstGeom>
          <a:solidFill>
            <a:schemeClr val="bg1">
              <a:lumMod val="6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38" name="Group 17">
            <a:extLst>
              <a:ext uri="{FF2B5EF4-FFF2-40B4-BE49-F238E27FC236}">
                <a16:creationId xmlns:a16="http://schemas.microsoft.com/office/drawing/2014/main" id="{A52D62F8-8C2D-18D3-AC58-75854CF69A70}"/>
              </a:ext>
            </a:extLst>
          </p:cNvPr>
          <p:cNvGrpSpPr/>
          <p:nvPr/>
        </p:nvGrpSpPr>
        <p:grpSpPr>
          <a:xfrm>
            <a:off x="7953124" y="3254976"/>
            <a:ext cx="600570" cy="614289"/>
            <a:chOff x="5055483" y="3409509"/>
            <a:chExt cx="600570" cy="614289"/>
          </a:xfrm>
          <a:noFill/>
        </p:grpSpPr>
        <p:sp>
          <p:nvSpPr>
            <p:cNvPr id="39" name="立方体 8">
              <a:extLst>
                <a:ext uri="{FF2B5EF4-FFF2-40B4-BE49-F238E27FC236}">
                  <a16:creationId xmlns:a16="http://schemas.microsoft.com/office/drawing/2014/main" id="{57393916-A9E4-B8E3-0CAB-03BF81F83E97}"/>
                </a:ext>
              </a:extLst>
            </p:cNvPr>
            <p:cNvSpPr/>
            <p:nvPr/>
          </p:nvSpPr>
          <p:spPr>
            <a:xfrm>
              <a:off x="5058761" y="3409509"/>
              <a:ext cx="597292" cy="614289"/>
            </a:xfrm>
            <a:prstGeom prst="cube">
              <a:avLst>
                <a:gd name="adj" fmla="val 46934"/>
              </a:avLst>
            </a:prstGeom>
            <a:grpFill/>
            <a:ln w="19050">
              <a:solidFill>
                <a:schemeClr val="bg1">
                  <a:lumMod val="50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0" name="Straight Connector 19">
              <a:extLst>
                <a:ext uri="{FF2B5EF4-FFF2-40B4-BE49-F238E27FC236}">
                  <a16:creationId xmlns:a16="http://schemas.microsoft.com/office/drawing/2014/main" id="{39288B07-CE80-05EB-9896-C09F8757B593}"/>
                </a:ext>
              </a:extLst>
            </p:cNvPr>
            <p:cNvCxnSpPr>
              <a:cxnSpLocks/>
            </p:cNvCxnSpPr>
            <p:nvPr/>
          </p:nvCxnSpPr>
          <p:spPr>
            <a:xfrm>
              <a:off x="5055483" y="3812891"/>
              <a:ext cx="324000" cy="0"/>
            </a:xfrm>
            <a:prstGeom prst="line">
              <a:avLst/>
            </a:prstGeom>
            <a:grpFill/>
            <a:ln w="19050">
              <a:solidFill>
                <a:schemeClr val="bg1">
                  <a:lumMod val="50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1" name="Straight Connector 20">
              <a:extLst>
                <a:ext uri="{FF2B5EF4-FFF2-40B4-BE49-F238E27FC236}">
                  <a16:creationId xmlns:a16="http://schemas.microsoft.com/office/drawing/2014/main" id="{592D82A8-3F72-A428-F98D-68BC0A222334}"/>
                </a:ext>
              </a:extLst>
            </p:cNvPr>
            <p:cNvCxnSpPr>
              <a:cxnSpLocks/>
            </p:cNvCxnSpPr>
            <p:nvPr/>
          </p:nvCxnSpPr>
          <p:spPr>
            <a:xfrm>
              <a:off x="5061239" y="3922161"/>
              <a:ext cx="324000" cy="0"/>
            </a:xfrm>
            <a:prstGeom prst="line">
              <a:avLst/>
            </a:prstGeom>
            <a:grpFill/>
            <a:ln w="19050">
              <a:solidFill>
                <a:schemeClr val="bg1">
                  <a:lumMod val="50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2" name="Straight Connector 21">
              <a:extLst>
                <a:ext uri="{FF2B5EF4-FFF2-40B4-BE49-F238E27FC236}">
                  <a16:creationId xmlns:a16="http://schemas.microsoft.com/office/drawing/2014/main" id="{1806E2D3-7F1D-2DE6-D75B-881FBE9A61B0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5000845" y="3853149"/>
              <a:ext cx="324000" cy="0"/>
            </a:xfrm>
            <a:prstGeom prst="line">
              <a:avLst/>
            </a:prstGeom>
            <a:grpFill/>
            <a:ln w="19050">
              <a:solidFill>
                <a:schemeClr val="bg1">
                  <a:lumMod val="50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3" name="Straight Connector 22">
              <a:extLst>
                <a:ext uri="{FF2B5EF4-FFF2-40B4-BE49-F238E27FC236}">
                  <a16:creationId xmlns:a16="http://schemas.microsoft.com/office/drawing/2014/main" id="{946B4CEA-60C1-C5D6-C762-2E9557CB0F1B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5110115" y="3858905"/>
              <a:ext cx="324000" cy="0"/>
            </a:xfrm>
            <a:prstGeom prst="line">
              <a:avLst/>
            </a:prstGeom>
            <a:grpFill/>
            <a:ln w="19050">
              <a:solidFill>
                <a:schemeClr val="bg1">
                  <a:lumMod val="50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44" name="文本框 56">
            <a:extLst>
              <a:ext uri="{FF2B5EF4-FFF2-40B4-BE49-F238E27FC236}">
                <a16:creationId xmlns:a16="http://schemas.microsoft.com/office/drawing/2014/main" id="{51255EB4-48E7-42FB-B4BA-BE60B4C92B67}"/>
              </a:ext>
            </a:extLst>
          </p:cNvPr>
          <p:cNvSpPr txBox="1"/>
          <p:nvPr/>
        </p:nvSpPr>
        <p:spPr>
          <a:xfrm>
            <a:off x="8461759" y="4896298"/>
            <a:ext cx="4839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endParaRPr lang="zh-CN" alt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5" name="直接箭头连接符 42">
            <a:extLst>
              <a:ext uri="{FF2B5EF4-FFF2-40B4-BE49-F238E27FC236}">
                <a16:creationId xmlns:a16="http://schemas.microsoft.com/office/drawing/2014/main" id="{0A1A22E2-4DC0-2905-9411-71679F8FE426}"/>
              </a:ext>
            </a:extLst>
          </p:cNvPr>
          <p:cNvCxnSpPr>
            <a:cxnSpLocks/>
          </p:cNvCxnSpPr>
          <p:nvPr/>
        </p:nvCxnSpPr>
        <p:spPr>
          <a:xfrm flipV="1">
            <a:off x="9353865" y="4540225"/>
            <a:ext cx="325865" cy="339582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文本框 52">
            <a:extLst>
              <a:ext uri="{FF2B5EF4-FFF2-40B4-BE49-F238E27FC236}">
                <a16:creationId xmlns:a16="http://schemas.microsoft.com/office/drawing/2014/main" id="{831A395A-EC78-B3E5-FE59-8681DAC835AC}"/>
              </a:ext>
            </a:extLst>
          </p:cNvPr>
          <p:cNvSpPr txBox="1"/>
          <p:nvPr/>
        </p:nvSpPr>
        <p:spPr>
          <a:xfrm>
            <a:off x="9471556" y="4661987"/>
            <a:ext cx="4839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文本框 60">
            <a:extLst>
              <a:ext uri="{FF2B5EF4-FFF2-40B4-BE49-F238E27FC236}">
                <a16:creationId xmlns:a16="http://schemas.microsoft.com/office/drawing/2014/main" id="{8BA9CD15-BF8E-79C9-496B-8FCC7FDA16A7}"/>
              </a:ext>
            </a:extLst>
          </p:cNvPr>
          <p:cNvSpPr txBox="1"/>
          <p:nvPr/>
        </p:nvSpPr>
        <p:spPr>
          <a:xfrm>
            <a:off x="10616855" y="3614131"/>
            <a:ext cx="216000" cy="216000"/>
          </a:xfrm>
          <a:prstGeom prst="rect">
            <a:avLst/>
          </a:prstGeom>
          <a:grpFill/>
          <a:ln w="19050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>
              <a:defRPr>
                <a:solidFill>
                  <a:schemeClr val="lt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文本框 60">
            <a:extLst>
              <a:ext uri="{FF2B5EF4-FFF2-40B4-BE49-F238E27FC236}">
                <a16:creationId xmlns:a16="http://schemas.microsoft.com/office/drawing/2014/main" id="{B274E261-DC8D-1EE0-E1A0-D8DB2A16A232}"/>
              </a:ext>
            </a:extLst>
          </p:cNvPr>
          <p:cNvSpPr txBox="1"/>
          <p:nvPr/>
        </p:nvSpPr>
        <p:spPr>
          <a:xfrm>
            <a:off x="5316400" y="3391390"/>
            <a:ext cx="13380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Arial" panose="020B0604020202020204" pitchFamily="34" charset="0"/>
                <a:cs typeface="Arial" panose="020B0604020202020204" pitchFamily="34" charset="0"/>
              </a:rPr>
              <a:t>Weight #1</a:t>
            </a:r>
          </a:p>
          <a:p>
            <a:r>
              <a:rPr lang="en-US" altLang="zh-CN" sz="1600" b="1" dirty="0">
                <a:latin typeface="Arial" panose="020B0604020202020204" pitchFamily="34" charset="0"/>
                <a:cs typeface="Arial" panose="020B0604020202020204" pitchFamily="34" charset="0"/>
              </a:rPr>
              <a:t>(filter)</a:t>
            </a:r>
            <a:endParaRPr lang="zh-CN" alt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9" name="Straight Arrow Connector 56">
            <a:extLst>
              <a:ext uri="{FF2B5EF4-FFF2-40B4-BE49-F238E27FC236}">
                <a16:creationId xmlns:a16="http://schemas.microsoft.com/office/drawing/2014/main" id="{F4D3C580-CCFD-DADE-B37D-B392C9B7BFB4}"/>
              </a:ext>
            </a:extLst>
          </p:cNvPr>
          <p:cNvCxnSpPr>
            <a:cxnSpLocks/>
          </p:cNvCxnSpPr>
          <p:nvPr/>
        </p:nvCxnSpPr>
        <p:spPr>
          <a:xfrm>
            <a:off x="6868484" y="3804684"/>
            <a:ext cx="2096424" cy="808683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58">
            <a:extLst>
              <a:ext uri="{FF2B5EF4-FFF2-40B4-BE49-F238E27FC236}">
                <a16:creationId xmlns:a16="http://schemas.microsoft.com/office/drawing/2014/main" id="{B355C802-01A3-9782-9661-F57C735B9B8D}"/>
              </a:ext>
            </a:extLst>
          </p:cNvPr>
          <p:cNvCxnSpPr>
            <a:cxnSpLocks/>
          </p:cNvCxnSpPr>
          <p:nvPr/>
        </p:nvCxnSpPr>
        <p:spPr>
          <a:xfrm flipV="1">
            <a:off x="9123630" y="4363467"/>
            <a:ext cx="2230170" cy="243497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1" name="组合 65">
            <a:extLst>
              <a:ext uri="{FF2B5EF4-FFF2-40B4-BE49-F238E27FC236}">
                <a16:creationId xmlns:a16="http://schemas.microsoft.com/office/drawing/2014/main" id="{1B584304-E21F-44CD-37DD-77767294838E}"/>
              </a:ext>
            </a:extLst>
          </p:cNvPr>
          <p:cNvGrpSpPr/>
          <p:nvPr/>
        </p:nvGrpSpPr>
        <p:grpSpPr>
          <a:xfrm>
            <a:off x="7427293" y="3185229"/>
            <a:ext cx="422834" cy="646331"/>
            <a:chOff x="4234899" y="1747621"/>
            <a:chExt cx="422834" cy="646331"/>
          </a:xfrm>
        </p:grpSpPr>
        <p:sp>
          <p:nvSpPr>
            <p:cNvPr id="52" name="椭圆 51">
              <a:extLst>
                <a:ext uri="{FF2B5EF4-FFF2-40B4-BE49-F238E27FC236}">
                  <a16:creationId xmlns:a16="http://schemas.microsoft.com/office/drawing/2014/main" id="{A6AA6486-0B4A-C30B-73B2-E94950072783}"/>
                </a:ext>
              </a:extLst>
            </p:cNvPr>
            <p:cNvSpPr/>
            <p:nvPr/>
          </p:nvSpPr>
          <p:spPr>
            <a:xfrm>
              <a:off x="4338785" y="1940329"/>
              <a:ext cx="281761" cy="281761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C0D2AE61-86A1-F007-7AD1-CAAEC141BBE3}"/>
                </a:ext>
              </a:extLst>
            </p:cNvPr>
            <p:cNvSpPr txBox="1"/>
            <p:nvPr/>
          </p:nvSpPr>
          <p:spPr>
            <a:xfrm>
              <a:off x="4234899" y="1747621"/>
              <a:ext cx="422834" cy="646331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3600" b="1" dirty="0"/>
                <a:t>×</a:t>
              </a:r>
              <a:endParaRPr lang="zh-CN" altLang="en-US" sz="3600" b="1" dirty="0"/>
            </a:p>
          </p:txBody>
        </p:sp>
      </p:grpSp>
      <p:grpSp>
        <p:nvGrpSpPr>
          <p:cNvPr id="54" name="Group 35">
            <a:extLst>
              <a:ext uri="{FF2B5EF4-FFF2-40B4-BE49-F238E27FC236}">
                <a16:creationId xmlns:a16="http://schemas.microsoft.com/office/drawing/2014/main" id="{21F31DCD-8182-6E2F-8938-D9D71EB91CCD}"/>
              </a:ext>
            </a:extLst>
          </p:cNvPr>
          <p:cNvGrpSpPr/>
          <p:nvPr/>
        </p:nvGrpSpPr>
        <p:grpSpPr>
          <a:xfrm>
            <a:off x="8057631" y="3256861"/>
            <a:ext cx="600570" cy="614289"/>
            <a:chOff x="5055483" y="3409509"/>
            <a:chExt cx="600570" cy="614289"/>
          </a:xfrm>
          <a:noFill/>
        </p:grpSpPr>
        <p:sp>
          <p:nvSpPr>
            <p:cNvPr id="55" name="立方体 8">
              <a:extLst>
                <a:ext uri="{FF2B5EF4-FFF2-40B4-BE49-F238E27FC236}">
                  <a16:creationId xmlns:a16="http://schemas.microsoft.com/office/drawing/2014/main" id="{77FD6EDC-4C1D-4E84-FA41-3FE985D3C18D}"/>
                </a:ext>
              </a:extLst>
            </p:cNvPr>
            <p:cNvSpPr/>
            <p:nvPr/>
          </p:nvSpPr>
          <p:spPr>
            <a:xfrm>
              <a:off x="5058761" y="3409509"/>
              <a:ext cx="597292" cy="614289"/>
            </a:xfrm>
            <a:prstGeom prst="cube">
              <a:avLst>
                <a:gd name="adj" fmla="val 46934"/>
              </a:avLst>
            </a:prstGeom>
            <a:grpFill/>
            <a:ln w="19050">
              <a:solidFill>
                <a:srgbClr val="0070C0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78" name="Straight Connector 37">
              <a:extLst>
                <a:ext uri="{FF2B5EF4-FFF2-40B4-BE49-F238E27FC236}">
                  <a16:creationId xmlns:a16="http://schemas.microsoft.com/office/drawing/2014/main" id="{A85A0DEA-A8CF-EFC6-2D1C-579BFA0403CB}"/>
                </a:ext>
              </a:extLst>
            </p:cNvPr>
            <p:cNvCxnSpPr>
              <a:cxnSpLocks/>
            </p:cNvCxnSpPr>
            <p:nvPr/>
          </p:nvCxnSpPr>
          <p:spPr>
            <a:xfrm>
              <a:off x="5055483" y="3812891"/>
              <a:ext cx="324000" cy="0"/>
            </a:xfrm>
            <a:prstGeom prst="line">
              <a:avLst/>
            </a:prstGeom>
            <a:grpFill/>
            <a:ln w="19050">
              <a:solidFill>
                <a:srgbClr val="0070C0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9" name="Straight Connector 38">
              <a:extLst>
                <a:ext uri="{FF2B5EF4-FFF2-40B4-BE49-F238E27FC236}">
                  <a16:creationId xmlns:a16="http://schemas.microsoft.com/office/drawing/2014/main" id="{E5540B6D-C008-5610-FD16-8F372F24E7B9}"/>
                </a:ext>
              </a:extLst>
            </p:cNvPr>
            <p:cNvCxnSpPr>
              <a:cxnSpLocks/>
            </p:cNvCxnSpPr>
            <p:nvPr/>
          </p:nvCxnSpPr>
          <p:spPr>
            <a:xfrm>
              <a:off x="5061239" y="3922161"/>
              <a:ext cx="324000" cy="0"/>
            </a:xfrm>
            <a:prstGeom prst="line">
              <a:avLst/>
            </a:prstGeom>
            <a:grpFill/>
            <a:ln w="19050">
              <a:solidFill>
                <a:srgbClr val="0070C0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0" name="Straight Connector 39">
              <a:extLst>
                <a:ext uri="{FF2B5EF4-FFF2-40B4-BE49-F238E27FC236}">
                  <a16:creationId xmlns:a16="http://schemas.microsoft.com/office/drawing/2014/main" id="{9DC1D65B-7D47-2118-0DEE-A7C06B37C703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5000845" y="3853149"/>
              <a:ext cx="324000" cy="0"/>
            </a:xfrm>
            <a:prstGeom prst="line">
              <a:avLst/>
            </a:prstGeom>
            <a:grpFill/>
            <a:ln w="19050">
              <a:solidFill>
                <a:srgbClr val="0070C0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1" name="Straight Connector 42">
              <a:extLst>
                <a:ext uri="{FF2B5EF4-FFF2-40B4-BE49-F238E27FC236}">
                  <a16:creationId xmlns:a16="http://schemas.microsoft.com/office/drawing/2014/main" id="{49FB4B96-E4C9-582F-81F1-70B432C5333C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5110115" y="3858905"/>
              <a:ext cx="324000" cy="0"/>
            </a:xfrm>
            <a:prstGeom prst="line">
              <a:avLst/>
            </a:prstGeom>
            <a:grpFill/>
            <a:ln w="19050">
              <a:solidFill>
                <a:srgbClr val="0070C0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82" name="文本框 60">
            <a:extLst>
              <a:ext uri="{FF2B5EF4-FFF2-40B4-BE49-F238E27FC236}">
                <a16:creationId xmlns:a16="http://schemas.microsoft.com/office/drawing/2014/main" id="{A6EBB88E-676D-F286-C9EB-B99E16BDC362}"/>
              </a:ext>
            </a:extLst>
          </p:cNvPr>
          <p:cNvSpPr txBox="1"/>
          <p:nvPr/>
        </p:nvSpPr>
        <p:spPr>
          <a:xfrm>
            <a:off x="10834600" y="3614131"/>
            <a:ext cx="216000" cy="216000"/>
          </a:xfrm>
          <a:prstGeom prst="rect">
            <a:avLst/>
          </a:prstGeom>
          <a:grpFill/>
          <a:ln w="19050">
            <a:solidFill>
              <a:srgbClr val="0070C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>
              <a:defRPr>
                <a:solidFill>
                  <a:schemeClr val="lt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3" name="文本框 60">
            <a:extLst>
              <a:ext uri="{FF2B5EF4-FFF2-40B4-BE49-F238E27FC236}">
                <a16:creationId xmlns:a16="http://schemas.microsoft.com/office/drawing/2014/main" id="{84F54A7D-EB01-0575-2610-CFDCD279D073}"/>
              </a:ext>
            </a:extLst>
          </p:cNvPr>
          <p:cNvSpPr txBox="1"/>
          <p:nvPr/>
        </p:nvSpPr>
        <p:spPr>
          <a:xfrm>
            <a:off x="7815676" y="2750535"/>
            <a:ext cx="483909" cy="409468"/>
          </a:xfrm>
          <a:prstGeom prst="rect">
            <a:avLst/>
          </a:prstGeom>
          <a:grpFill/>
          <a:ln w="19050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>
              <a:defRPr>
                <a:solidFill>
                  <a:schemeClr val="lt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zh-CN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</a:t>
            </a:r>
            <a:br>
              <a:rPr lang="en-US" altLang="zh-CN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#1</a:t>
            </a:r>
            <a:endParaRPr lang="zh-CN" altLang="en-US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4" name="文本框 60">
            <a:extLst>
              <a:ext uri="{FF2B5EF4-FFF2-40B4-BE49-F238E27FC236}">
                <a16:creationId xmlns:a16="http://schemas.microsoft.com/office/drawing/2014/main" id="{557DC736-70EE-8053-EA09-C2155CABC42D}"/>
              </a:ext>
            </a:extLst>
          </p:cNvPr>
          <p:cNvSpPr txBox="1"/>
          <p:nvPr/>
        </p:nvSpPr>
        <p:spPr>
          <a:xfrm>
            <a:off x="8300264" y="2748196"/>
            <a:ext cx="483909" cy="409468"/>
          </a:xfrm>
          <a:prstGeom prst="rect">
            <a:avLst/>
          </a:prstGeom>
          <a:grpFill/>
          <a:ln w="19050">
            <a:solidFill>
              <a:srgbClr val="0070C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>
              <a:defRPr>
                <a:solidFill>
                  <a:schemeClr val="lt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zh-CN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</a:t>
            </a:r>
            <a:br>
              <a:rPr lang="en-US" altLang="zh-CN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#2</a:t>
            </a:r>
            <a:endParaRPr lang="zh-CN" altLang="en-US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5" name="文本框 60">
            <a:extLst>
              <a:ext uri="{FF2B5EF4-FFF2-40B4-BE49-F238E27FC236}">
                <a16:creationId xmlns:a16="http://schemas.microsoft.com/office/drawing/2014/main" id="{36CEB704-F7CC-AC0A-A568-0F5FEDBC0A56}"/>
              </a:ext>
            </a:extLst>
          </p:cNvPr>
          <p:cNvSpPr txBox="1"/>
          <p:nvPr/>
        </p:nvSpPr>
        <p:spPr>
          <a:xfrm>
            <a:off x="9143670" y="2748196"/>
            <a:ext cx="483909" cy="409468"/>
          </a:xfrm>
          <a:prstGeom prst="rect">
            <a:avLst/>
          </a:prstGeom>
          <a:grpFill/>
          <a:ln w="19050">
            <a:solidFill>
              <a:srgbClr val="7030A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>
              <a:defRPr>
                <a:solidFill>
                  <a:schemeClr val="lt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zh-CN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</a:t>
            </a:r>
            <a:br>
              <a:rPr lang="en-US" altLang="zh-CN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#N</a:t>
            </a:r>
            <a:endParaRPr lang="zh-CN" altLang="en-US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6" name="Group 46">
            <a:extLst>
              <a:ext uri="{FF2B5EF4-FFF2-40B4-BE49-F238E27FC236}">
                <a16:creationId xmlns:a16="http://schemas.microsoft.com/office/drawing/2014/main" id="{6E067B57-F9DA-807D-0FAE-967498240758}"/>
              </a:ext>
            </a:extLst>
          </p:cNvPr>
          <p:cNvGrpSpPr/>
          <p:nvPr/>
        </p:nvGrpSpPr>
        <p:grpSpPr>
          <a:xfrm>
            <a:off x="8992362" y="4151941"/>
            <a:ext cx="600570" cy="614289"/>
            <a:chOff x="5055483" y="3409509"/>
            <a:chExt cx="600570" cy="614289"/>
          </a:xfrm>
          <a:noFill/>
        </p:grpSpPr>
        <p:sp>
          <p:nvSpPr>
            <p:cNvPr id="87" name="立方体 8">
              <a:extLst>
                <a:ext uri="{FF2B5EF4-FFF2-40B4-BE49-F238E27FC236}">
                  <a16:creationId xmlns:a16="http://schemas.microsoft.com/office/drawing/2014/main" id="{BBF344FA-2C14-FC2F-AA64-E2B5C6FD2A39}"/>
                </a:ext>
              </a:extLst>
            </p:cNvPr>
            <p:cNvSpPr/>
            <p:nvPr/>
          </p:nvSpPr>
          <p:spPr>
            <a:xfrm>
              <a:off x="5058761" y="3409509"/>
              <a:ext cx="597292" cy="614289"/>
            </a:xfrm>
            <a:prstGeom prst="cube">
              <a:avLst>
                <a:gd name="adj" fmla="val 46934"/>
              </a:avLst>
            </a:prstGeom>
            <a:grpFill/>
            <a:ln w="19050">
              <a:solidFill>
                <a:srgbClr val="7030A0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88" name="Straight Connector 50">
              <a:extLst>
                <a:ext uri="{FF2B5EF4-FFF2-40B4-BE49-F238E27FC236}">
                  <a16:creationId xmlns:a16="http://schemas.microsoft.com/office/drawing/2014/main" id="{C32A1A71-1919-12F1-568E-BC7E5A4EF0F7}"/>
                </a:ext>
              </a:extLst>
            </p:cNvPr>
            <p:cNvCxnSpPr>
              <a:cxnSpLocks/>
            </p:cNvCxnSpPr>
            <p:nvPr/>
          </p:nvCxnSpPr>
          <p:spPr>
            <a:xfrm>
              <a:off x="5055483" y="3812891"/>
              <a:ext cx="324000" cy="0"/>
            </a:xfrm>
            <a:prstGeom prst="line">
              <a:avLst/>
            </a:prstGeom>
            <a:grpFill/>
            <a:ln w="19050">
              <a:solidFill>
                <a:srgbClr val="7030A0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9" name="Straight Connector 51">
              <a:extLst>
                <a:ext uri="{FF2B5EF4-FFF2-40B4-BE49-F238E27FC236}">
                  <a16:creationId xmlns:a16="http://schemas.microsoft.com/office/drawing/2014/main" id="{558C9C41-A497-A0FB-82F4-AB0857DF9A36}"/>
                </a:ext>
              </a:extLst>
            </p:cNvPr>
            <p:cNvCxnSpPr>
              <a:cxnSpLocks/>
            </p:cNvCxnSpPr>
            <p:nvPr/>
          </p:nvCxnSpPr>
          <p:spPr>
            <a:xfrm>
              <a:off x="5061239" y="3922161"/>
              <a:ext cx="324000" cy="0"/>
            </a:xfrm>
            <a:prstGeom prst="line">
              <a:avLst/>
            </a:prstGeom>
            <a:grpFill/>
            <a:ln w="19050">
              <a:solidFill>
                <a:srgbClr val="7030A0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0" name="Straight Connector 52">
              <a:extLst>
                <a:ext uri="{FF2B5EF4-FFF2-40B4-BE49-F238E27FC236}">
                  <a16:creationId xmlns:a16="http://schemas.microsoft.com/office/drawing/2014/main" id="{F7946722-FA2F-9031-4A8E-2079643C31EA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5000845" y="3853149"/>
              <a:ext cx="324000" cy="0"/>
            </a:xfrm>
            <a:prstGeom prst="line">
              <a:avLst/>
            </a:prstGeom>
            <a:grpFill/>
            <a:ln w="19050">
              <a:solidFill>
                <a:srgbClr val="7030A0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1" name="Straight Connector 53">
              <a:extLst>
                <a:ext uri="{FF2B5EF4-FFF2-40B4-BE49-F238E27FC236}">
                  <a16:creationId xmlns:a16="http://schemas.microsoft.com/office/drawing/2014/main" id="{DF0E4053-17B3-33C4-3038-1A58A02293FD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5110115" y="3858905"/>
              <a:ext cx="324000" cy="0"/>
            </a:xfrm>
            <a:prstGeom prst="line">
              <a:avLst/>
            </a:prstGeom>
            <a:grpFill/>
            <a:ln w="19050">
              <a:solidFill>
                <a:srgbClr val="7030A0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92" name="文本框 60">
            <a:extLst>
              <a:ext uri="{FF2B5EF4-FFF2-40B4-BE49-F238E27FC236}">
                <a16:creationId xmlns:a16="http://schemas.microsoft.com/office/drawing/2014/main" id="{793EC6E0-EA77-4080-3EDA-DEE18F1504D3}"/>
              </a:ext>
            </a:extLst>
          </p:cNvPr>
          <p:cNvSpPr txBox="1"/>
          <p:nvPr/>
        </p:nvSpPr>
        <p:spPr>
          <a:xfrm>
            <a:off x="11246429" y="4252610"/>
            <a:ext cx="216000" cy="216000"/>
          </a:xfrm>
          <a:prstGeom prst="rect">
            <a:avLst/>
          </a:prstGeom>
          <a:grpFill/>
          <a:ln w="19050">
            <a:solidFill>
              <a:srgbClr val="7030A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>
              <a:defRPr>
                <a:solidFill>
                  <a:schemeClr val="lt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79656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84D35D-CC9B-37A3-F096-1D53B7FDBA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D1E9EB51-CF2C-4A9C-6F32-85B067831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" altLang="zh-CN" sz="4000">
                <a:latin typeface="Arial" panose="020B0604020202020204" pitchFamily="34" charset="0"/>
              </a:rPr>
              <a:t>Convolution and CNNs</a:t>
            </a:r>
            <a:endParaRPr kumimoji="1" lang="zh-CN" altLang="en-US" sz="4000">
              <a:latin typeface="Arial" panose="020B0604020202020204" pitchFamily="34" charset="0"/>
            </a:endParaRP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BC5A2E2-F92F-F00F-BC54-928C86E987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kumimoji="1" lang="en" altLang="zh-CN" sz="2400" dirty="0">
                <a:latin typeface="Arial" panose="020B0604020202020204" pitchFamily="34" charset="0"/>
              </a:rPr>
              <a:t>Convolution operations apply filters as a sliding window to input image.</a:t>
            </a:r>
            <a:endParaRPr kumimoji="1" lang="zh-CN" altLang="en-US" sz="2400" dirty="0">
              <a:latin typeface="Arial" panose="020B0604020202020204" pitchFamily="34" charset="0"/>
            </a:endParaRPr>
          </a:p>
        </p:txBody>
      </p:sp>
      <p:sp>
        <p:nvSpPr>
          <p:cNvPr id="6" name="立方体 8">
            <a:extLst>
              <a:ext uri="{FF2B5EF4-FFF2-40B4-BE49-F238E27FC236}">
                <a16:creationId xmlns:a16="http://schemas.microsoft.com/office/drawing/2014/main" id="{1E68EEE5-336C-98E9-47D2-A9AF76C08B45}"/>
              </a:ext>
            </a:extLst>
          </p:cNvPr>
          <p:cNvSpPr/>
          <p:nvPr/>
        </p:nvSpPr>
        <p:spPr>
          <a:xfrm>
            <a:off x="6709762" y="3332432"/>
            <a:ext cx="597292" cy="614289"/>
          </a:xfrm>
          <a:prstGeom prst="cube">
            <a:avLst>
              <a:gd name="adj" fmla="val 469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" name="直接箭头连接符 42">
            <a:extLst>
              <a:ext uri="{FF2B5EF4-FFF2-40B4-BE49-F238E27FC236}">
                <a16:creationId xmlns:a16="http://schemas.microsoft.com/office/drawing/2014/main" id="{B2D74EBE-7138-A16D-3F8E-407F817FED07}"/>
              </a:ext>
            </a:extLst>
          </p:cNvPr>
          <p:cNvCxnSpPr>
            <a:cxnSpLocks/>
          </p:cNvCxnSpPr>
          <p:nvPr/>
        </p:nvCxnSpPr>
        <p:spPr>
          <a:xfrm flipV="1">
            <a:off x="6636131" y="3240110"/>
            <a:ext cx="325865" cy="339582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45">
            <a:extLst>
              <a:ext uri="{FF2B5EF4-FFF2-40B4-BE49-F238E27FC236}">
                <a16:creationId xmlns:a16="http://schemas.microsoft.com/office/drawing/2014/main" id="{41C62989-B538-5459-9FBC-C0E0C8B8BF9B}"/>
              </a:ext>
            </a:extLst>
          </p:cNvPr>
          <p:cNvCxnSpPr>
            <a:cxnSpLocks/>
          </p:cNvCxnSpPr>
          <p:nvPr/>
        </p:nvCxnSpPr>
        <p:spPr>
          <a:xfrm rot="5400000">
            <a:off x="6870182" y="3865130"/>
            <a:ext cx="0" cy="327396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52">
            <a:extLst>
              <a:ext uri="{FF2B5EF4-FFF2-40B4-BE49-F238E27FC236}">
                <a16:creationId xmlns:a16="http://schemas.microsoft.com/office/drawing/2014/main" id="{314B1555-0EF7-4C1D-9075-839A29F6AF8E}"/>
              </a:ext>
            </a:extLst>
          </p:cNvPr>
          <p:cNvSpPr txBox="1"/>
          <p:nvPr/>
        </p:nvSpPr>
        <p:spPr>
          <a:xfrm>
            <a:off x="6487681" y="3144052"/>
            <a:ext cx="4839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文本框 54">
            <a:extLst>
              <a:ext uri="{FF2B5EF4-FFF2-40B4-BE49-F238E27FC236}">
                <a16:creationId xmlns:a16="http://schemas.microsoft.com/office/drawing/2014/main" id="{44A0D5E9-64F4-561C-FA18-BEC5E0CA5DAE}"/>
              </a:ext>
            </a:extLst>
          </p:cNvPr>
          <p:cNvSpPr txBox="1"/>
          <p:nvPr/>
        </p:nvSpPr>
        <p:spPr>
          <a:xfrm>
            <a:off x="6575594" y="4043295"/>
            <a:ext cx="5972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R=3</a:t>
            </a:r>
            <a:endParaRPr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文本框 60">
            <a:extLst>
              <a:ext uri="{FF2B5EF4-FFF2-40B4-BE49-F238E27FC236}">
                <a16:creationId xmlns:a16="http://schemas.microsoft.com/office/drawing/2014/main" id="{B2D2C55A-2D19-BD21-A0AB-628993BD8688}"/>
              </a:ext>
            </a:extLst>
          </p:cNvPr>
          <p:cNvSpPr txBox="1"/>
          <p:nvPr/>
        </p:nvSpPr>
        <p:spPr>
          <a:xfrm>
            <a:off x="5316400" y="3391390"/>
            <a:ext cx="13380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Arial" panose="020B0604020202020204" pitchFamily="34" charset="0"/>
                <a:cs typeface="Arial" panose="020B0604020202020204" pitchFamily="34" charset="0"/>
              </a:rPr>
              <a:t>Weight #1</a:t>
            </a:r>
            <a:endParaRPr lang="zh-CN" alt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立方体 5">
            <a:extLst>
              <a:ext uri="{FF2B5EF4-FFF2-40B4-BE49-F238E27FC236}">
                <a16:creationId xmlns:a16="http://schemas.microsoft.com/office/drawing/2014/main" id="{E869E8BF-3A20-C866-CC84-427781DC3D60}"/>
              </a:ext>
            </a:extLst>
          </p:cNvPr>
          <p:cNvSpPr/>
          <p:nvPr/>
        </p:nvSpPr>
        <p:spPr>
          <a:xfrm>
            <a:off x="7974173" y="3254230"/>
            <a:ext cx="1620000" cy="1512000"/>
          </a:xfrm>
          <a:prstGeom prst="cube">
            <a:avLst>
              <a:gd name="adj" fmla="val 19197"/>
            </a:avLst>
          </a:prstGeom>
          <a:solidFill>
            <a:schemeClr val="bg1">
              <a:lumMod val="85000"/>
              <a:alpha val="96000"/>
            </a:schemeClr>
          </a:solidFill>
          <a:ln w="19050">
            <a:noFill/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" name="直接箭头连接符 48">
            <a:extLst>
              <a:ext uri="{FF2B5EF4-FFF2-40B4-BE49-F238E27FC236}">
                <a16:creationId xmlns:a16="http://schemas.microsoft.com/office/drawing/2014/main" id="{D0711CCB-DD20-3D96-1726-CF4FC0A6AACE}"/>
              </a:ext>
            </a:extLst>
          </p:cNvPr>
          <p:cNvCxnSpPr>
            <a:cxnSpLocks/>
          </p:cNvCxnSpPr>
          <p:nvPr/>
        </p:nvCxnSpPr>
        <p:spPr>
          <a:xfrm>
            <a:off x="9711360" y="3254230"/>
            <a:ext cx="0" cy="1221622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49">
            <a:extLst>
              <a:ext uri="{FF2B5EF4-FFF2-40B4-BE49-F238E27FC236}">
                <a16:creationId xmlns:a16="http://schemas.microsoft.com/office/drawing/2014/main" id="{3366A17D-E21E-DA47-C622-3539C9533A5F}"/>
              </a:ext>
            </a:extLst>
          </p:cNvPr>
          <p:cNvCxnSpPr>
            <a:cxnSpLocks/>
          </p:cNvCxnSpPr>
          <p:nvPr/>
        </p:nvCxnSpPr>
        <p:spPr>
          <a:xfrm rot="5400000">
            <a:off x="8619680" y="4212490"/>
            <a:ext cx="0" cy="1367616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56">
            <a:extLst>
              <a:ext uri="{FF2B5EF4-FFF2-40B4-BE49-F238E27FC236}">
                <a16:creationId xmlns:a16="http://schemas.microsoft.com/office/drawing/2014/main" id="{2F372AF2-9135-9988-5743-F24D7AD5CC3A}"/>
              </a:ext>
            </a:extLst>
          </p:cNvPr>
          <p:cNvSpPr txBox="1"/>
          <p:nvPr/>
        </p:nvSpPr>
        <p:spPr>
          <a:xfrm>
            <a:off x="9680221" y="3675260"/>
            <a:ext cx="4839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endParaRPr lang="zh-CN" alt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6" name="Straight Connector 57">
            <a:extLst>
              <a:ext uri="{FF2B5EF4-FFF2-40B4-BE49-F238E27FC236}">
                <a16:creationId xmlns:a16="http://schemas.microsoft.com/office/drawing/2014/main" id="{E463C425-3BAC-8022-820F-65D7C05A557A}"/>
              </a:ext>
            </a:extLst>
          </p:cNvPr>
          <p:cNvCxnSpPr>
            <a:cxnSpLocks/>
          </p:cNvCxnSpPr>
          <p:nvPr/>
        </p:nvCxnSpPr>
        <p:spPr>
          <a:xfrm>
            <a:off x="6706484" y="3735814"/>
            <a:ext cx="324000" cy="0"/>
          </a:xfrm>
          <a:prstGeom prst="line">
            <a:avLst/>
          </a:prstGeom>
          <a:solidFill>
            <a:schemeClr val="bg1">
              <a:lumMod val="6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" name="Straight Connector 59">
            <a:extLst>
              <a:ext uri="{FF2B5EF4-FFF2-40B4-BE49-F238E27FC236}">
                <a16:creationId xmlns:a16="http://schemas.microsoft.com/office/drawing/2014/main" id="{8D56C7F7-C0F5-4C8F-92E9-0C99932404FB}"/>
              </a:ext>
            </a:extLst>
          </p:cNvPr>
          <p:cNvCxnSpPr>
            <a:cxnSpLocks/>
          </p:cNvCxnSpPr>
          <p:nvPr/>
        </p:nvCxnSpPr>
        <p:spPr>
          <a:xfrm>
            <a:off x="6712240" y="3845084"/>
            <a:ext cx="324000" cy="0"/>
          </a:xfrm>
          <a:prstGeom prst="line">
            <a:avLst/>
          </a:prstGeom>
          <a:solidFill>
            <a:schemeClr val="bg1">
              <a:lumMod val="6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8" name="Straight Connector 60">
            <a:extLst>
              <a:ext uri="{FF2B5EF4-FFF2-40B4-BE49-F238E27FC236}">
                <a16:creationId xmlns:a16="http://schemas.microsoft.com/office/drawing/2014/main" id="{8E484E34-E4B5-BA76-2310-B85EF7311D40}"/>
              </a:ext>
            </a:extLst>
          </p:cNvPr>
          <p:cNvCxnSpPr>
            <a:cxnSpLocks/>
          </p:cNvCxnSpPr>
          <p:nvPr/>
        </p:nvCxnSpPr>
        <p:spPr>
          <a:xfrm rot="16200000">
            <a:off x="6651846" y="3776072"/>
            <a:ext cx="324000" cy="0"/>
          </a:xfrm>
          <a:prstGeom prst="line">
            <a:avLst/>
          </a:prstGeom>
          <a:solidFill>
            <a:schemeClr val="bg1">
              <a:lumMod val="6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9" name="Straight Connector 61">
            <a:extLst>
              <a:ext uri="{FF2B5EF4-FFF2-40B4-BE49-F238E27FC236}">
                <a16:creationId xmlns:a16="http://schemas.microsoft.com/office/drawing/2014/main" id="{BD33896F-48E5-D21E-BB55-0F827C12629A}"/>
              </a:ext>
            </a:extLst>
          </p:cNvPr>
          <p:cNvCxnSpPr>
            <a:cxnSpLocks/>
          </p:cNvCxnSpPr>
          <p:nvPr/>
        </p:nvCxnSpPr>
        <p:spPr>
          <a:xfrm rot="16200000">
            <a:off x="6750316" y="3773304"/>
            <a:ext cx="345600" cy="0"/>
          </a:xfrm>
          <a:prstGeom prst="line">
            <a:avLst/>
          </a:prstGeom>
          <a:solidFill>
            <a:schemeClr val="bg1">
              <a:lumMod val="6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0" name="Group 65">
            <a:extLst>
              <a:ext uri="{FF2B5EF4-FFF2-40B4-BE49-F238E27FC236}">
                <a16:creationId xmlns:a16="http://schemas.microsoft.com/office/drawing/2014/main" id="{B6533A91-547C-C1FD-2A44-910475209A14}"/>
              </a:ext>
            </a:extLst>
          </p:cNvPr>
          <p:cNvGrpSpPr/>
          <p:nvPr/>
        </p:nvGrpSpPr>
        <p:grpSpPr>
          <a:xfrm>
            <a:off x="7953124" y="3254976"/>
            <a:ext cx="600570" cy="614289"/>
            <a:chOff x="5055483" y="3409509"/>
            <a:chExt cx="600570" cy="614289"/>
          </a:xfrm>
          <a:noFill/>
        </p:grpSpPr>
        <p:sp>
          <p:nvSpPr>
            <p:cNvPr id="21" name="立方体 8">
              <a:extLst>
                <a:ext uri="{FF2B5EF4-FFF2-40B4-BE49-F238E27FC236}">
                  <a16:creationId xmlns:a16="http://schemas.microsoft.com/office/drawing/2014/main" id="{1806E744-0FA1-B391-BF6D-3BE46BB7DCD7}"/>
                </a:ext>
              </a:extLst>
            </p:cNvPr>
            <p:cNvSpPr/>
            <p:nvPr/>
          </p:nvSpPr>
          <p:spPr>
            <a:xfrm>
              <a:off x="5058761" y="3409509"/>
              <a:ext cx="597292" cy="614289"/>
            </a:xfrm>
            <a:prstGeom prst="cube">
              <a:avLst>
                <a:gd name="adj" fmla="val 46934"/>
              </a:avLst>
            </a:prstGeom>
            <a:grpFill/>
            <a:ln w="19050">
              <a:solidFill>
                <a:schemeClr val="bg1">
                  <a:lumMod val="50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2" name="Straight Connector 67">
              <a:extLst>
                <a:ext uri="{FF2B5EF4-FFF2-40B4-BE49-F238E27FC236}">
                  <a16:creationId xmlns:a16="http://schemas.microsoft.com/office/drawing/2014/main" id="{A85FBCB5-4A2C-FDE3-BAD9-809EB7103A67}"/>
                </a:ext>
              </a:extLst>
            </p:cNvPr>
            <p:cNvCxnSpPr>
              <a:cxnSpLocks/>
            </p:cNvCxnSpPr>
            <p:nvPr/>
          </p:nvCxnSpPr>
          <p:spPr>
            <a:xfrm>
              <a:off x="5055483" y="3812891"/>
              <a:ext cx="324000" cy="0"/>
            </a:xfrm>
            <a:prstGeom prst="line">
              <a:avLst/>
            </a:prstGeom>
            <a:grpFill/>
            <a:ln w="19050">
              <a:solidFill>
                <a:schemeClr val="bg1">
                  <a:lumMod val="50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4" name="Straight Connector 68">
              <a:extLst>
                <a:ext uri="{FF2B5EF4-FFF2-40B4-BE49-F238E27FC236}">
                  <a16:creationId xmlns:a16="http://schemas.microsoft.com/office/drawing/2014/main" id="{D8AE130F-3CCF-3ABD-EB9F-B65903EB16CB}"/>
                </a:ext>
              </a:extLst>
            </p:cNvPr>
            <p:cNvCxnSpPr>
              <a:cxnSpLocks/>
            </p:cNvCxnSpPr>
            <p:nvPr/>
          </p:nvCxnSpPr>
          <p:spPr>
            <a:xfrm>
              <a:off x="5061239" y="3922161"/>
              <a:ext cx="324000" cy="0"/>
            </a:xfrm>
            <a:prstGeom prst="line">
              <a:avLst/>
            </a:prstGeom>
            <a:grpFill/>
            <a:ln w="19050">
              <a:solidFill>
                <a:schemeClr val="bg1">
                  <a:lumMod val="50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6" name="Straight Connector 69">
              <a:extLst>
                <a:ext uri="{FF2B5EF4-FFF2-40B4-BE49-F238E27FC236}">
                  <a16:creationId xmlns:a16="http://schemas.microsoft.com/office/drawing/2014/main" id="{3E4FFEC3-6077-EA1B-0B5A-F42815F60845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5000845" y="3853149"/>
              <a:ext cx="324000" cy="0"/>
            </a:xfrm>
            <a:prstGeom prst="line">
              <a:avLst/>
            </a:prstGeom>
            <a:grpFill/>
            <a:ln w="19050">
              <a:solidFill>
                <a:schemeClr val="bg1">
                  <a:lumMod val="50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7" name="Straight Connector 70">
              <a:extLst>
                <a:ext uri="{FF2B5EF4-FFF2-40B4-BE49-F238E27FC236}">
                  <a16:creationId xmlns:a16="http://schemas.microsoft.com/office/drawing/2014/main" id="{538D2303-7953-138B-290B-646D95BE2071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5110115" y="3858905"/>
              <a:ext cx="324000" cy="0"/>
            </a:xfrm>
            <a:prstGeom prst="line">
              <a:avLst/>
            </a:prstGeom>
            <a:grpFill/>
            <a:ln w="19050">
              <a:solidFill>
                <a:schemeClr val="bg1">
                  <a:lumMod val="50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58" name="立方体 8">
            <a:extLst>
              <a:ext uri="{FF2B5EF4-FFF2-40B4-BE49-F238E27FC236}">
                <a16:creationId xmlns:a16="http://schemas.microsoft.com/office/drawing/2014/main" id="{75CE3A3D-C1E8-12D2-2D06-DDEF5C98A021}"/>
              </a:ext>
            </a:extLst>
          </p:cNvPr>
          <p:cNvSpPr/>
          <p:nvPr/>
        </p:nvSpPr>
        <p:spPr>
          <a:xfrm>
            <a:off x="6702874" y="4360896"/>
            <a:ext cx="597292" cy="614289"/>
          </a:xfrm>
          <a:prstGeom prst="cube">
            <a:avLst>
              <a:gd name="adj" fmla="val 46934"/>
            </a:avLst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9" name="Straight Connector 72">
            <a:extLst>
              <a:ext uri="{FF2B5EF4-FFF2-40B4-BE49-F238E27FC236}">
                <a16:creationId xmlns:a16="http://schemas.microsoft.com/office/drawing/2014/main" id="{D6E8B181-2DF3-A29C-D19E-EF88D9A80688}"/>
              </a:ext>
            </a:extLst>
          </p:cNvPr>
          <p:cNvCxnSpPr>
            <a:cxnSpLocks/>
          </p:cNvCxnSpPr>
          <p:nvPr/>
        </p:nvCxnSpPr>
        <p:spPr>
          <a:xfrm>
            <a:off x="6699596" y="4764278"/>
            <a:ext cx="324000" cy="0"/>
          </a:xfrm>
          <a:prstGeom prst="line">
            <a:avLst/>
          </a:prstGeom>
          <a:solidFill>
            <a:schemeClr val="bg1">
              <a:lumMod val="6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0" name="Straight Connector 73">
            <a:extLst>
              <a:ext uri="{FF2B5EF4-FFF2-40B4-BE49-F238E27FC236}">
                <a16:creationId xmlns:a16="http://schemas.microsoft.com/office/drawing/2014/main" id="{257E682A-F61C-A5F7-D5C6-58113AD91AA6}"/>
              </a:ext>
            </a:extLst>
          </p:cNvPr>
          <p:cNvCxnSpPr>
            <a:cxnSpLocks/>
          </p:cNvCxnSpPr>
          <p:nvPr/>
        </p:nvCxnSpPr>
        <p:spPr>
          <a:xfrm>
            <a:off x="6705352" y="4873548"/>
            <a:ext cx="324000" cy="0"/>
          </a:xfrm>
          <a:prstGeom prst="line">
            <a:avLst/>
          </a:prstGeom>
          <a:solidFill>
            <a:schemeClr val="bg1">
              <a:lumMod val="6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1" name="Straight Connector 74">
            <a:extLst>
              <a:ext uri="{FF2B5EF4-FFF2-40B4-BE49-F238E27FC236}">
                <a16:creationId xmlns:a16="http://schemas.microsoft.com/office/drawing/2014/main" id="{39BF8363-C65E-1A27-B136-49BDCFF6526C}"/>
              </a:ext>
            </a:extLst>
          </p:cNvPr>
          <p:cNvCxnSpPr>
            <a:cxnSpLocks/>
          </p:cNvCxnSpPr>
          <p:nvPr/>
        </p:nvCxnSpPr>
        <p:spPr>
          <a:xfrm rot="16200000">
            <a:off x="6644958" y="4804536"/>
            <a:ext cx="324000" cy="0"/>
          </a:xfrm>
          <a:prstGeom prst="line">
            <a:avLst/>
          </a:prstGeom>
          <a:solidFill>
            <a:schemeClr val="bg1">
              <a:lumMod val="6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2" name="Straight Connector 75">
            <a:extLst>
              <a:ext uri="{FF2B5EF4-FFF2-40B4-BE49-F238E27FC236}">
                <a16:creationId xmlns:a16="http://schemas.microsoft.com/office/drawing/2014/main" id="{F9C2FB79-CFAC-1691-C13E-F21942E84585}"/>
              </a:ext>
            </a:extLst>
          </p:cNvPr>
          <p:cNvCxnSpPr>
            <a:cxnSpLocks/>
          </p:cNvCxnSpPr>
          <p:nvPr/>
        </p:nvCxnSpPr>
        <p:spPr>
          <a:xfrm rot="16200000">
            <a:off x="6743428" y="4814468"/>
            <a:ext cx="345600" cy="0"/>
          </a:xfrm>
          <a:prstGeom prst="line">
            <a:avLst/>
          </a:prstGeom>
          <a:solidFill>
            <a:schemeClr val="bg1">
              <a:lumMod val="6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3" name="文本框 60">
            <a:extLst>
              <a:ext uri="{FF2B5EF4-FFF2-40B4-BE49-F238E27FC236}">
                <a16:creationId xmlns:a16="http://schemas.microsoft.com/office/drawing/2014/main" id="{E03432CF-EDA6-D6A0-C8CA-8EDFD2D191E4}"/>
              </a:ext>
            </a:extLst>
          </p:cNvPr>
          <p:cNvSpPr txBox="1"/>
          <p:nvPr/>
        </p:nvSpPr>
        <p:spPr>
          <a:xfrm>
            <a:off x="5319160" y="4389841"/>
            <a:ext cx="13380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Arial" panose="020B0604020202020204" pitchFamily="34" charset="0"/>
                <a:cs typeface="Arial" panose="020B0604020202020204" pitchFamily="34" charset="0"/>
              </a:rPr>
              <a:t>Weight #2</a:t>
            </a:r>
            <a:endParaRPr lang="zh-CN" alt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4" name="文本框 56">
            <a:extLst>
              <a:ext uri="{FF2B5EF4-FFF2-40B4-BE49-F238E27FC236}">
                <a16:creationId xmlns:a16="http://schemas.microsoft.com/office/drawing/2014/main" id="{9A8487AA-D558-BAD5-CBAE-42017C994D62}"/>
              </a:ext>
            </a:extLst>
          </p:cNvPr>
          <p:cNvSpPr txBox="1"/>
          <p:nvPr/>
        </p:nvSpPr>
        <p:spPr>
          <a:xfrm>
            <a:off x="8461759" y="4896298"/>
            <a:ext cx="4839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endParaRPr lang="zh-CN" alt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5" name="直接箭头连接符 42">
            <a:extLst>
              <a:ext uri="{FF2B5EF4-FFF2-40B4-BE49-F238E27FC236}">
                <a16:creationId xmlns:a16="http://schemas.microsoft.com/office/drawing/2014/main" id="{2503C039-8562-4141-4018-C27EA35F4455}"/>
              </a:ext>
            </a:extLst>
          </p:cNvPr>
          <p:cNvCxnSpPr>
            <a:cxnSpLocks/>
          </p:cNvCxnSpPr>
          <p:nvPr/>
        </p:nvCxnSpPr>
        <p:spPr>
          <a:xfrm flipV="1">
            <a:off x="9353865" y="4540225"/>
            <a:ext cx="325865" cy="339582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文本框 52">
            <a:extLst>
              <a:ext uri="{FF2B5EF4-FFF2-40B4-BE49-F238E27FC236}">
                <a16:creationId xmlns:a16="http://schemas.microsoft.com/office/drawing/2014/main" id="{FBAFD5FB-1390-E433-5D75-85F9C940FFA2}"/>
              </a:ext>
            </a:extLst>
          </p:cNvPr>
          <p:cNvSpPr txBox="1"/>
          <p:nvPr/>
        </p:nvSpPr>
        <p:spPr>
          <a:xfrm>
            <a:off x="9471556" y="4661987"/>
            <a:ext cx="4839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7" name="Group 80">
            <a:extLst>
              <a:ext uri="{FF2B5EF4-FFF2-40B4-BE49-F238E27FC236}">
                <a16:creationId xmlns:a16="http://schemas.microsoft.com/office/drawing/2014/main" id="{3291A394-D089-E914-3816-A788AF43E7E9}"/>
              </a:ext>
            </a:extLst>
          </p:cNvPr>
          <p:cNvGrpSpPr/>
          <p:nvPr/>
        </p:nvGrpSpPr>
        <p:grpSpPr>
          <a:xfrm>
            <a:off x="8057631" y="3256861"/>
            <a:ext cx="600570" cy="614289"/>
            <a:chOff x="5055483" y="3409509"/>
            <a:chExt cx="600570" cy="614289"/>
          </a:xfrm>
          <a:noFill/>
        </p:grpSpPr>
        <p:sp>
          <p:nvSpPr>
            <p:cNvPr id="68" name="立方体 8">
              <a:extLst>
                <a:ext uri="{FF2B5EF4-FFF2-40B4-BE49-F238E27FC236}">
                  <a16:creationId xmlns:a16="http://schemas.microsoft.com/office/drawing/2014/main" id="{AF3FF18D-AB80-C91D-77FD-9C56C2B35D76}"/>
                </a:ext>
              </a:extLst>
            </p:cNvPr>
            <p:cNvSpPr/>
            <p:nvPr/>
          </p:nvSpPr>
          <p:spPr>
            <a:xfrm>
              <a:off x="5058761" y="3409509"/>
              <a:ext cx="597292" cy="614289"/>
            </a:xfrm>
            <a:prstGeom prst="cube">
              <a:avLst>
                <a:gd name="adj" fmla="val 46934"/>
              </a:avLst>
            </a:prstGeom>
            <a:grpFill/>
            <a:ln w="19050">
              <a:solidFill>
                <a:srgbClr val="0070C0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69" name="Straight Connector 82">
              <a:extLst>
                <a:ext uri="{FF2B5EF4-FFF2-40B4-BE49-F238E27FC236}">
                  <a16:creationId xmlns:a16="http://schemas.microsoft.com/office/drawing/2014/main" id="{12ABEB96-68C3-7143-220C-3F6FC2C0F779}"/>
                </a:ext>
              </a:extLst>
            </p:cNvPr>
            <p:cNvCxnSpPr>
              <a:cxnSpLocks/>
            </p:cNvCxnSpPr>
            <p:nvPr/>
          </p:nvCxnSpPr>
          <p:spPr>
            <a:xfrm>
              <a:off x="5055483" y="3812891"/>
              <a:ext cx="324000" cy="0"/>
            </a:xfrm>
            <a:prstGeom prst="line">
              <a:avLst/>
            </a:prstGeom>
            <a:grpFill/>
            <a:ln w="19050">
              <a:solidFill>
                <a:srgbClr val="0070C0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0" name="Straight Connector 83">
              <a:extLst>
                <a:ext uri="{FF2B5EF4-FFF2-40B4-BE49-F238E27FC236}">
                  <a16:creationId xmlns:a16="http://schemas.microsoft.com/office/drawing/2014/main" id="{28D61155-C3AF-F032-15B7-1000EBFF7560}"/>
                </a:ext>
              </a:extLst>
            </p:cNvPr>
            <p:cNvCxnSpPr>
              <a:cxnSpLocks/>
            </p:cNvCxnSpPr>
            <p:nvPr/>
          </p:nvCxnSpPr>
          <p:spPr>
            <a:xfrm>
              <a:off x="5061239" y="3922161"/>
              <a:ext cx="324000" cy="0"/>
            </a:xfrm>
            <a:prstGeom prst="line">
              <a:avLst/>
            </a:prstGeom>
            <a:grpFill/>
            <a:ln w="19050">
              <a:solidFill>
                <a:srgbClr val="0070C0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1" name="Straight Connector 84">
              <a:extLst>
                <a:ext uri="{FF2B5EF4-FFF2-40B4-BE49-F238E27FC236}">
                  <a16:creationId xmlns:a16="http://schemas.microsoft.com/office/drawing/2014/main" id="{6D5F785A-F865-B9D9-CA95-B519AF301E25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5000845" y="3853149"/>
              <a:ext cx="324000" cy="0"/>
            </a:xfrm>
            <a:prstGeom prst="line">
              <a:avLst/>
            </a:prstGeom>
            <a:grpFill/>
            <a:ln w="19050">
              <a:solidFill>
                <a:srgbClr val="0070C0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2" name="Straight Connector 85">
              <a:extLst>
                <a:ext uri="{FF2B5EF4-FFF2-40B4-BE49-F238E27FC236}">
                  <a16:creationId xmlns:a16="http://schemas.microsoft.com/office/drawing/2014/main" id="{526889E7-28AF-D076-DB20-39C05D77E73A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5110115" y="3858905"/>
              <a:ext cx="324000" cy="0"/>
            </a:xfrm>
            <a:prstGeom prst="line">
              <a:avLst/>
            </a:prstGeom>
            <a:grpFill/>
            <a:ln w="19050">
              <a:solidFill>
                <a:srgbClr val="0070C0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73" name="文本框 60">
            <a:extLst>
              <a:ext uri="{FF2B5EF4-FFF2-40B4-BE49-F238E27FC236}">
                <a16:creationId xmlns:a16="http://schemas.microsoft.com/office/drawing/2014/main" id="{6F49497D-7F6F-913F-FC02-984F4BC865F8}"/>
              </a:ext>
            </a:extLst>
          </p:cNvPr>
          <p:cNvSpPr txBox="1"/>
          <p:nvPr/>
        </p:nvSpPr>
        <p:spPr>
          <a:xfrm>
            <a:off x="7815676" y="2750535"/>
            <a:ext cx="483909" cy="409468"/>
          </a:xfrm>
          <a:prstGeom prst="rect">
            <a:avLst/>
          </a:prstGeom>
          <a:grpFill/>
          <a:ln w="19050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>
              <a:defRPr>
                <a:solidFill>
                  <a:schemeClr val="lt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zh-CN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</a:t>
            </a:r>
            <a:br>
              <a:rPr lang="en-US" altLang="zh-CN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#1</a:t>
            </a:r>
            <a:endParaRPr lang="zh-CN" altLang="en-US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4" name="文本框 60">
            <a:extLst>
              <a:ext uri="{FF2B5EF4-FFF2-40B4-BE49-F238E27FC236}">
                <a16:creationId xmlns:a16="http://schemas.microsoft.com/office/drawing/2014/main" id="{AD40ADB1-5A81-FA72-8E86-B664BA5200DC}"/>
              </a:ext>
            </a:extLst>
          </p:cNvPr>
          <p:cNvSpPr txBox="1"/>
          <p:nvPr/>
        </p:nvSpPr>
        <p:spPr>
          <a:xfrm>
            <a:off x="8300264" y="2748196"/>
            <a:ext cx="483909" cy="409468"/>
          </a:xfrm>
          <a:prstGeom prst="rect">
            <a:avLst/>
          </a:prstGeom>
          <a:grpFill/>
          <a:ln w="19050">
            <a:solidFill>
              <a:srgbClr val="0070C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>
              <a:defRPr>
                <a:solidFill>
                  <a:schemeClr val="lt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zh-CN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</a:t>
            </a:r>
            <a:br>
              <a:rPr lang="en-US" altLang="zh-CN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#2</a:t>
            </a:r>
            <a:endParaRPr lang="zh-CN" altLang="en-US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5" name="矩形 18">
            <a:extLst>
              <a:ext uri="{FF2B5EF4-FFF2-40B4-BE49-F238E27FC236}">
                <a16:creationId xmlns:a16="http://schemas.microsoft.com/office/drawing/2014/main" id="{40290A44-A70A-8856-6CAC-8E58CD5D8F70}"/>
              </a:ext>
            </a:extLst>
          </p:cNvPr>
          <p:cNvSpPr/>
          <p:nvPr/>
        </p:nvSpPr>
        <p:spPr>
          <a:xfrm>
            <a:off x="10583623" y="3592784"/>
            <a:ext cx="877582" cy="883068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" name="文本框 60">
            <a:extLst>
              <a:ext uri="{FF2B5EF4-FFF2-40B4-BE49-F238E27FC236}">
                <a16:creationId xmlns:a16="http://schemas.microsoft.com/office/drawing/2014/main" id="{C6F35CBA-0D95-19A0-343F-DFED1399726E}"/>
              </a:ext>
            </a:extLst>
          </p:cNvPr>
          <p:cNvSpPr txBox="1"/>
          <p:nvPr/>
        </p:nvSpPr>
        <p:spPr>
          <a:xfrm>
            <a:off x="10616855" y="3614131"/>
            <a:ext cx="216000" cy="216000"/>
          </a:xfrm>
          <a:prstGeom prst="rect">
            <a:avLst/>
          </a:prstGeom>
          <a:grpFill/>
          <a:ln w="19050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>
              <a:defRPr>
                <a:solidFill>
                  <a:schemeClr val="lt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7" name="文本框 60">
            <a:extLst>
              <a:ext uri="{FF2B5EF4-FFF2-40B4-BE49-F238E27FC236}">
                <a16:creationId xmlns:a16="http://schemas.microsoft.com/office/drawing/2014/main" id="{2493C9C0-1178-F0D6-E94B-FC957D82CBE4}"/>
              </a:ext>
            </a:extLst>
          </p:cNvPr>
          <p:cNvSpPr txBox="1"/>
          <p:nvPr/>
        </p:nvSpPr>
        <p:spPr>
          <a:xfrm>
            <a:off x="10834600" y="3614131"/>
            <a:ext cx="216000" cy="216000"/>
          </a:xfrm>
          <a:prstGeom prst="rect">
            <a:avLst/>
          </a:prstGeom>
          <a:grpFill/>
          <a:ln w="19050">
            <a:solidFill>
              <a:srgbClr val="0070C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>
              <a:defRPr>
                <a:solidFill>
                  <a:schemeClr val="lt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3" name="矩形 18">
            <a:extLst>
              <a:ext uri="{FF2B5EF4-FFF2-40B4-BE49-F238E27FC236}">
                <a16:creationId xmlns:a16="http://schemas.microsoft.com/office/drawing/2014/main" id="{6344DB07-174A-15CE-0AA7-BFAE65F9A5E4}"/>
              </a:ext>
            </a:extLst>
          </p:cNvPr>
          <p:cNvSpPr/>
          <p:nvPr/>
        </p:nvSpPr>
        <p:spPr>
          <a:xfrm>
            <a:off x="10265838" y="4083468"/>
            <a:ext cx="877582" cy="88306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4" name="文本框 60">
            <a:extLst>
              <a:ext uri="{FF2B5EF4-FFF2-40B4-BE49-F238E27FC236}">
                <a16:creationId xmlns:a16="http://schemas.microsoft.com/office/drawing/2014/main" id="{61AA3F1F-D863-81F6-EC77-0D626CC326D2}"/>
              </a:ext>
            </a:extLst>
          </p:cNvPr>
          <p:cNvSpPr txBox="1"/>
          <p:nvPr/>
        </p:nvSpPr>
        <p:spPr>
          <a:xfrm>
            <a:off x="10299070" y="4104815"/>
            <a:ext cx="216000" cy="216000"/>
          </a:xfrm>
          <a:prstGeom prst="rect">
            <a:avLst/>
          </a:prstGeom>
          <a:grpFill/>
          <a:ln w="19050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>
              <a:defRPr>
                <a:solidFill>
                  <a:schemeClr val="lt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5" name="文本框 60">
            <a:extLst>
              <a:ext uri="{FF2B5EF4-FFF2-40B4-BE49-F238E27FC236}">
                <a16:creationId xmlns:a16="http://schemas.microsoft.com/office/drawing/2014/main" id="{937550BE-FA60-61BB-5752-426B639C512E}"/>
              </a:ext>
            </a:extLst>
          </p:cNvPr>
          <p:cNvSpPr txBox="1"/>
          <p:nvPr/>
        </p:nvSpPr>
        <p:spPr>
          <a:xfrm>
            <a:off x="10516815" y="4104815"/>
            <a:ext cx="216000" cy="216000"/>
          </a:xfrm>
          <a:prstGeom prst="rect">
            <a:avLst/>
          </a:prstGeom>
          <a:grpFill/>
          <a:ln w="19050">
            <a:solidFill>
              <a:srgbClr val="0070C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>
              <a:defRPr>
                <a:solidFill>
                  <a:schemeClr val="lt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6" name="Rectangle 94">
            <a:extLst>
              <a:ext uri="{FF2B5EF4-FFF2-40B4-BE49-F238E27FC236}">
                <a16:creationId xmlns:a16="http://schemas.microsoft.com/office/drawing/2014/main" id="{80EAD7D2-554C-83E1-6637-1DDA090AD167}"/>
              </a:ext>
            </a:extLst>
          </p:cNvPr>
          <p:cNvSpPr/>
          <p:nvPr/>
        </p:nvSpPr>
        <p:spPr>
          <a:xfrm>
            <a:off x="10243781" y="4393958"/>
            <a:ext cx="90942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Output</a:t>
            </a:r>
            <a:b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Ch #2</a:t>
            </a:r>
            <a:endParaRPr lang="zh-CN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7" name="Rectangle 95">
            <a:extLst>
              <a:ext uri="{FF2B5EF4-FFF2-40B4-BE49-F238E27FC236}">
                <a16:creationId xmlns:a16="http://schemas.microsoft.com/office/drawing/2014/main" id="{B4DA9A57-46CE-C091-DA8E-6200CE7E5347}"/>
              </a:ext>
            </a:extLst>
          </p:cNvPr>
          <p:cNvSpPr/>
          <p:nvPr/>
        </p:nvSpPr>
        <p:spPr>
          <a:xfrm>
            <a:off x="10607969" y="3802444"/>
            <a:ext cx="90942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Output</a:t>
            </a:r>
            <a:b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 #1</a:t>
            </a:r>
            <a:endParaRPr lang="zh-CN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98" name="Straight Arrow Connector 96">
            <a:extLst>
              <a:ext uri="{FF2B5EF4-FFF2-40B4-BE49-F238E27FC236}">
                <a16:creationId xmlns:a16="http://schemas.microsoft.com/office/drawing/2014/main" id="{1006680E-3A05-ABE6-6943-4A51D01FB466}"/>
              </a:ext>
            </a:extLst>
          </p:cNvPr>
          <p:cNvCxnSpPr/>
          <p:nvPr/>
        </p:nvCxnSpPr>
        <p:spPr>
          <a:xfrm flipV="1">
            <a:off x="6868484" y="3722131"/>
            <a:ext cx="1351147" cy="1109133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7">
            <a:extLst>
              <a:ext uri="{FF2B5EF4-FFF2-40B4-BE49-F238E27FC236}">
                <a16:creationId xmlns:a16="http://schemas.microsoft.com/office/drawing/2014/main" id="{AC594BD6-D45E-FDAF-E2F7-6BAA0EA4C240}"/>
              </a:ext>
            </a:extLst>
          </p:cNvPr>
          <p:cNvCxnSpPr>
            <a:cxnSpLocks/>
          </p:cNvCxnSpPr>
          <p:nvPr/>
        </p:nvCxnSpPr>
        <p:spPr>
          <a:xfrm>
            <a:off x="8228517" y="3710641"/>
            <a:ext cx="2386593" cy="505579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文本框 60">
            <a:extLst>
              <a:ext uri="{FF2B5EF4-FFF2-40B4-BE49-F238E27FC236}">
                <a16:creationId xmlns:a16="http://schemas.microsoft.com/office/drawing/2014/main" id="{9989DC60-BA04-A8BE-96C4-4E6A6DF11898}"/>
              </a:ext>
            </a:extLst>
          </p:cNvPr>
          <p:cNvSpPr txBox="1"/>
          <p:nvPr/>
        </p:nvSpPr>
        <p:spPr>
          <a:xfrm>
            <a:off x="11246429" y="4252610"/>
            <a:ext cx="216000" cy="216000"/>
          </a:xfrm>
          <a:prstGeom prst="rect">
            <a:avLst/>
          </a:prstGeom>
          <a:grpFill/>
          <a:ln w="19050">
            <a:solidFill>
              <a:srgbClr val="7030A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>
              <a:defRPr>
                <a:solidFill>
                  <a:schemeClr val="lt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01" name="Group 103">
            <a:extLst>
              <a:ext uri="{FF2B5EF4-FFF2-40B4-BE49-F238E27FC236}">
                <a16:creationId xmlns:a16="http://schemas.microsoft.com/office/drawing/2014/main" id="{3F716812-3E47-D498-282A-B785F4220770}"/>
              </a:ext>
            </a:extLst>
          </p:cNvPr>
          <p:cNvGrpSpPr/>
          <p:nvPr/>
        </p:nvGrpSpPr>
        <p:grpSpPr>
          <a:xfrm>
            <a:off x="8992362" y="4151941"/>
            <a:ext cx="600570" cy="614289"/>
            <a:chOff x="5055483" y="3409509"/>
            <a:chExt cx="600570" cy="614289"/>
          </a:xfrm>
          <a:noFill/>
        </p:grpSpPr>
        <p:sp>
          <p:nvSpPr>
            <p:cNvPr id="102" name="立方体 8">
              <a:extLst>
                <a:ext uri="{FF2B5EF4-FFF2-40B4-BE49-F238E27FC236}">
                  <a16:creationId xmlns:a16="http://schemas.microsoft.com/office/drawing/2014/main" id="{40E4A5ED-E25E-2D92-4F29-6301708617BD}"/>
                </a:ext>
              </a:extLst>
            </p:cNvPr>
            <p:cNvSpPr/>
            <p:nvPr/>
          </p:nvSpPr>
          <p:spPr>
            <a:xfrm>
              <a:off x="5058761" y="3409509"/>
              <a:ext cx="597292" cy="614289"/>
            </a:xfrm>
            <a:prstGeom prst="cube">
              <a:avLst>
                <a:gd name="adj" fmla="val 46934"/>
              </a:avLst>
            </a:prstGeom>
            <a:grpFill/>
            <a:ln w="19050">
              <a:solidFill>
                <a:srgbClr val="7030A0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03" name="Straight Connector 105">
              <a:extLst>
                <a:ext uri="{FF2B5EF4-FFF2-40B4-BE49-F238E27FC236}">
                  <a16:creationId xmlns:a16="http://schemas.microsoft.com/office/drawing/2014/main" id="{E5FBFD74-082F-C148-28DC-76206EC1B172}"/>
                </a:ext>
              </a:extLst>
            </p:cNvPr>
            <p:cNvCxnSpPr>
              <a:cxnSpLocks/>
            </p:cNvCxnSpPr>
            <p:nvPr/>
          </p:nvCxnSpPr>
          <p:spPr>
            <a:xfrm>
              <a:off x="5055483" y="3812891"/>
              <a:ext cx="324000" cy="0"/>
            </a:xfrm>
            <a:prstGeom prst="line">
              <a:avLst/>
            </a:prstGeom>
            <a:grpFill/>
            <a:ln w="19050">
              <a:solidFill>
                <a:srgbClr val="7030A0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04" name="Straight Connector 106">
              <a:extLst>
                <a:ext uri="{FF2B5EF4-FFF2-40B4-BE49-F238E27FC236}">
                  <a16:creationId xmlns:a16="http://schemas.microsoft.com/office/drawing/2014/main" id="{8DC0F0B7-A62C-78F4-ECD8-D33C8078A722}"/>
                </a:ext>
              </a:extLst>
            </p:cNvPr>
            <p:cNvCxnSpPr>
              <a:cxnSpLocks/>
            </p:cNvCxnSpPr>
            <p:nvPr/>
          </p:nvCxnSpPr>
          <p:spPr>
            <a:xfrm>
              <a:off x="5061239" y="3922161"/>
              <a:ext cx="324000" cy="0"/>
            </a:xfrm>
            <a:prstGeom prst="line">
              <a:avLst/>
            </a:prstGeom>
            <a:grpFill/>
            <a:ln w="19050">
              <a:solidFill>
                <a:srgbClr val="7030A0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05" name="Straight Connector 107">
              <a:extLst>
                <a:ext uri="{FF2B5EF4-FFF2-40B4-BE49-F238E27FC236}">
                  <a16:creationId xmlns:a16="http://schemas.microsoft.com/office/drawing/2014/main" id="{2D95EC73-46F4-5B8F-E04D-18B1C5CFFC72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5000845" y="3853149"/>
              <a:ext cx="324000" cy="0"/>
            </a:xfrm>
            <a:prstGeom prst="line">
              <a:avLst/>
            </a:prstGeom>
            <a:grpFill/>
            <a:ln w="19050">
              <a:solidFill>
                <a:srgbClr val="7030A0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06" name="Straight Connector 108">
              <a:extLst>
                <a:ext uri="{FF2B5EF4-FFF2-40B4-BE49-F238E27FC236}">
                  <a16:creationId xmlns:a16="http://schemas.microsoft.com/office/drawing/2014/main" id="{1AD84DA0-6232-2BE6-A61A-D3ED580680E9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5110115" y="3858905"/>
              <a:ext cx="324000" cy="0"/>
            </a:xfrm>
            <a:prstGeom prst="line">
              <a:avLst/>
            </a:prstGeom>
            <a:grpFill/>
            <a:ln w="19050">
              <a:solidFill>
                <a:srgbClr val="7030A0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07" name="Content Placeholder 2">
            <a:extLst>
              <a:ext uri="{FF2B5EF4-FFF2-40B4-BE49-F238E27FC236}">
                <a16:creationId xmlns:a16="http://schemas.microsoft.com/office/drawing/2014/main" id="{82270057-74B1-8391-ED65-86FB23C5DEA4}"/>
              </a:ext>
            </a:extLst>
          </p:cNvPr>
          <p:cNvSpPr txBox="1">
            <a:spLocks/>
          </p:cNvSpPr>
          <p:nvPr/>
        </p:nvSpPr>
        <p:spPr>
          <a:xfrm>
            <a:off x="838199" y="1825624"/>
            <a:ext cx="4826673" cy="45275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Wingdings" pitchFamily="2" charset="2"/>
              <a:buChar char="Ø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Wingdings" pitchFamily="2" charset="2"/>
              <a:buChar char="Ø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Wingdings" pitchFamily="2" charset="2"/>
              <a:buChar char="Ø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Wingdings" pitchFamily="2" charset="2"/>
              <a:buChar char="Ø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Consider a second weight kernel (green)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Perform the same convolution with different weight kernel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altLang="zh-CN" sz="2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Output channel width 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= Weight kernel number</a:t>
            </a:r>
          </a:p>
          <a:p>
            <a:pPr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altLang="zh-CN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Input reuse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altLang="zh-CN" sz="2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Single activation multiple weight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64128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E5A380D-878C-8578-57DB-66F5A6D8D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" altLang="zh-CN" sz="4000">
                <a:latin typeface="Arial" panose="020B0604020202020204" pitchFamily="34" charset="0"/>
              </a:rPr>
              <a:t>AlexNet and VGG</a:t>
            </a:r>
            <a:endParaRPr kumimoji="1" lang="zh-CN" altLang="en-US" sz="4000">
              <a:latin typeface="Arial" panose="020B0604020202020204" pitchFamily="34" charset="0"/>
            </a:endParaRP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7736631-ED50-1C15-3603-28DCDBF6FA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8400" y="1161535"/>
            <a:ext cx="11913600" cy="5015428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kumimoji="1" lang="en" altLang="zh-CN" sz="2400" b="1" dirty="0">
                <a:solidFill>
                  <a:srgbClr val="C00000"/>
                </a:solidFill>
                <a:latin typeface="Arial" panose="020B0604020202020204" pitchFamily="34" charset="0"/>
              </a:rPr>
              <a:t>AlexNet (8-layers) </a:t>
            </a:r>
            <a:r>
              <a:rPr kumimoji="1" lang="en" altLang="zh-CN" sz="2400" dirty="0">
                <a:latin typeface="Arial" panose="020B0604020202020204" pitchFamily="34" charset="0"/>
              </a:rPr>
              <a:t>introduced deep CNN with </a:t>
            </a:r>
            <a:r>
              <a:rPr kumimoji="1" lang="en" altLang="zh-CN" sz="2400" b="1" dirty="0">
                <a:solidFill>
                  <a:srgbClr val="C00000"/>
                </a:solidFill>
                <a:latin typeface="Arial" panose="020B0604020202020204" pitchFamily="34" charset="0"/>
              </a:rPr>
              <a:t>ReLU activation and GPU acceleration</a:t>
            </a:r>
            <a:r>
              <a:rPr kumimoji="1" lang="en" altLang="zh-CN" sz="2400" dirty="0">
                <a:latin typeface="Arial" panose="020B0604020202020204" pitchFamily="34" charset="0"/>
              </a:rPr>
              <a:t>, achieving significant improvements in image classification accuracy.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kumimoji="1" lang="en" altLang="zh-CN" sz="2400" b="1" dirty="0">
                <a:solidFill>
                  <a:srgbClr val="C00000"/>
                </a:solidFill>
                <a:latin typeface="Arial" panose="020B0604020202020204" pitchFamily="34" charset="0"/>
              </a:rPr>
              <a:t>VGG (19-layers) </a:t>
            </a:r>
            <a:r>
              <a:rPr kumimoji="1" lang="en" altLang="zh-CN" sz="2400" dirty="0">
                <a:latin typeface="Arial" panose="020B0604020202020204" pitchFamily="34" charset="0"/>
              </a:rPr>
              <a:t>demonstrated that CNN with </a:t>
            </a:r>
            <a:r>
              <a:rPr kumimoji="1" lang="en" altLang="zh-CN" sz="2400" b="1" dirty="0">
                <a:solidFill>
                  <a:srgbClr val="C00000"/>
                </a:solidFill>
                <a:latin typeface="Arial" panose="020B0604020202020204" pitchFamily="34" charset="0"/>
              </a:rPr>
              <a:t>small 3×3 convolutional filters outperform shallow networks</a:t>
            </a:r>
            <a:r>
              <a:rPr kumimoji="1" lang="en" altLang="zh-CN" sz="2400" dirty="0">
                <a:latin typeface="Arial" panose="020B0604020202020204" pitchFamily="34" charset="0"/>
              </a:rPr>
              <a:t>, leading to more accurate image classification.</a:t>
            </a:r>
            <a:endParaRPr kumimoji="1" lang="zh-CN" altLang="en-US" sz="2400" dirty="0">
              <a:latin typeface="Arial" panose="020B0604020202020204" pitchFamily="34" charset="0"/>
            </a:endParaRPr>
          </a:p>
        </p:txBody>
      </p:sp>
      <p:pic>
        <p:nvPicPr>
          <p:cNvPr id="5" name="图片 1">
            <a:extLst>
              <a:ext uri="{FF2B5EF4-FFF2-40B4-BE49-F238E27FC236}">
                <a16:creationId xmlns:a16="http://schemas.microsoft.com/office/drawing/2014/main" id="{ABB270CA-98A0-8AF7-69E5-425FDEFB5DD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" t="2980" r="13017" b="12528"/>
          <a:stretch/>
        </p:blipFill>
        <p:spPr>
          <a:xfrm>
            <a:off x="103695" y="3118208"/>
            <a:ext cx="6268530" cy="3425526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3D30C034-3D99-E2A9-287F-881EF7D84E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2225" y="3316717"/>
            <a:ext cx="5657246" cy="3171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3438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05343-20E6-FF10-6FE0-D8371810D6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E54BC9A6-7F22-0B50-5114-E7AD1799B5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400" y="136525"/>
            <a:ext cx="10662502" cy="658239"/>
          </a:xfrm>
        </p:spPr>
        <p:txBody>
          <a:bodyPr>
            <a:normAutofit/>
          </a:bodyPr>
          <a:lstStyle/>
          <a:p>
            <a:r>
              <a:rPr kumimoji="1" lang="en" altLang="zh-CN" sz="4000" dirty="0">
                <a:latin typeface="Arial" panose="020B0604020202020204" pitchFamily="34" charset="0"/>
              </a:rPr>
              <a:t>Pooling Layer / Normalization Layer</a:t>
            </a:r>
            <a:endParaRPr kumimoji="1" lang="zh-CN" altLang="en-US" sz="4000" dirty="0">
              <a:latin typeface="Arial" panose="020B0604020202020204" pitchFamily="34" charset="0"/>
            </a:endParaRP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2DC4387-D17A-C277-B19D-6891446E0A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kumimoji="1" lang="en" altLang="zh-CN" sz="2400" b="1" dirty="0">
                <a:solidFill>
                  <a:srgbClr val="C00000"/>
                </a:solidFill>
                <a:latin typeface="Arial" panose="020B0604020202020204" pitchFamily="34" charset="0"/>
              </a:rPr>
              <a:t>Pooling</a:t>
            </a:r>
            <a:r>
              <a:rPr kumimoji="1" lang="en" altLang="zh-CN" sz="2400" dirty="0">
                <a:latin typeface="Arial" panose="020B0604020202020204" pitchFamily="34" charset="0"/>
              </a:rPr>
              <a:t> </a:t>
            </a:r>
            <a:r>
              <a:rPr kumimoji="1" lang="en" altLang="zh-CN" sz="2400" b="1" dirty="0">
                <a:solidFill>
                  <a:srgbClr val="C00000"/>
                </a:solidFill>
                <a:latin typeface="Arial" panose="020B0604020202020204" pitchFamily="34" charset="0"/>
              </a:rPr>
              <a:t>reduces the spatial dimensions of data</a:t>
            </a:r>
            <a:r>
              <a:rPr kumimoji="1" lang="en" altLang="zh-CN" sz="2400" dirty="0">
                <a:latin typeface="Arial" panose="020B0604020202020204" pitchFamily="34" charset="0"/>
              </a:rPr>
              <a:t>, retaining essential features while decreasing computational load.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kumimoji="1" lang="en" altLang="zh-CN" sz="2400" b="1" dirty="0">
                <a:solidFill>
                  <a:srgbClr val="C00000"/>
                </a:solidFill>
                <a:latin typeface="Arial" panose="020B0604020202020204" pitchFamily="34" charset="0"/>
              </a:rPr>
              <a:t>Batch Normalization (BN): </a:t>
            </a:r>
            <a:r>
              <a:rPr kumimoji="1" lang="en" altLang="zh-CN" sz="2400" dirty="0">
                <a:latin typeface="Arial" panose="020B0604020202020204" pitchFamily="34" charset="0"/>
              </a:rPr>
              <a:t>Activations towards mean=0 and std. dev.=1 based on the statistics of the training dataset, </a:t>
            </a:r>
            <a:r>
              <a:rPr kumimoji="1" lang="en" altLang="zh-CN" sz="2400" b="1" dirty="0">
                <a:solidFill>
                  <a:srgbClr val="C00000"/>
                </a:solidFill>
                <a:latin typeface="Arial" panose="020B0604020202020204" pitchFamily="34" charset="0"/>
              </a:rPr>
              <a:t>improving training efficiency.</a:t>
            </a:r>
          </a:p>
        </p:txBody>
      </p:sp>
      <p:pic>
        <p:nvPicPr>
          <p:cNvPr id="2" name="内容占位符 3" descr="屏幕剪辑">
            <a:extLst>
              <a:ext uri="{FF2B5EF4-FFF2-40B4-BE49-F238E27FC236}">
                <a16:creationId xmlns:a16="http://schemas.microsoft.com/office/drawing/2014/main" id="{F1F94556-CE73-752E-191E-D4EE290D88DB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034" y="3096332"/>
            <a:ext cx="4748305" cy="3447401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9264DC15-6FD1-64EC-DA15-28C28632764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797" t="26682" r="662" b="10059"/>
          <a:stretch/>
        </p:blipFill>
        <p:spPr>
          <a:xfrm>
            <a:off x="5492693" y="3150713"/>
            <a:ext cx="5752200" cy="3143761"/>
          </a:xfrm>
          <a:prstGeom prst="rect">
            <a:avLst/>
          </a:prstGeom>
        </p:spPr>
      </p:pic>
      <p:pic>
        <p:nvPicPr>
          <p:cNvPr id="5" name="图片 4" descr="屏幕剪辑">
            <a:extLst>
              <a:ext uri="{FF2B5EF4-FFF2-40B4-BE49-F238E27FC236}">
                <a16:creationId xmlns:a16="http://schemas.microsoft.com/office/drawing/2014/main" id="{633EE0E0-770C-F994-F4D1-F0E62E56121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9508" y="4931694"/>
            <a:ext cx="2948446" cy="1534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5773914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9872</TotalTime>
  <Words>1024</Words>
  <Application>Microsoft Office PowerPoint</Application>
  <PresentationFormat>宽屏</PresentationFormat>
  <Paragraphs>154</Paragraphs>
  <Slides>22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2" baseType="lpstr">
      <vt:lpstr>等线</vt:lpstr>
      <vt:lpstr>思源宋体 CN</vt:lpstr>
      <vt:lpstr>微软雅黑</vt:lpstr>
      <vt:lpstr>微软雅黑</vt:lpstr>
      <vt:lpstr>Arial</vt:lpstr>
      <vt:lpstr>Calibri</vt:lpstr>
      <vt:lpstr>Calibri Light</vt:lpstr>
      <vt:lpstr>Times New Roman</vt:lpstr>
      <vt:lpstr>Wingdings</vt:lpstr>
      <vt:lpstr>1_Office Theme</vt:lpstr>
      <vt:lpstr>PowerPoint 演示文稿</vt:lpstr>
      <vt:lpstr>Overview of the Lecture</vt:lpstr>
      <vt:lpstr>From Bio Neurons to Artificial Neurons</vt:lpstr>
      <vt:lpstr>Early Developments in Neural Networks</vt:lpstr>
      <vt:lpstr>Linear Regression &amp; Machine Learning</vt:lpstr>
      <vt:lpstr>Gradient Descent of Linear Regression</vt:lpstr>
      <vt:lpstr>Matrix-Vector Products</vt:lpstr>
      <vt:lpstr>Activation Functions</vt:lpstr>
      <vt:lpstr>Classifier and Loss Functions</vt:lpstr>
      <vt:lpstr>Softmax Classifier </vt:lpstr>
      <vt:lpstr>Softmax Classifier </vt:lpstr>
      <vt:lpstr>Softmax Classifier </vt:lpstr>
      <vt:lpstr>Backpropagation of Softmax Classifier</vt:lpstr>
      <vt:lpstr>Weight Updating and Adam Optimizer</vt:lpstr>
      <vt:lpstr>Image Classification Tasks</vt:lpstr>
      <vt:lpstr>Convolution and CNNs</vt:lpstr>
      <vt:lpstr>Convolution and CNNs</vt:lpstr>
      <vt:lpstr>Convolution and CNNs</vt:lpstr>
      <vt:lpstr>Convolution and CNNs</vt:lpstr>
      <vt:lpstr>Convolution and CNNs</vt:lpstr>
      <vt:lpstr>AlexNet and VGG</vt:lpstr>
      <vt:lpstr>Pooling Layer / Normalization Layer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 Chen</dc:creator>
  <cp:lastModifiedBy>Shiwei Liu</cp:lastModifiedBy>
  <cp:revision>53</cp:revision>
  <dcterms:created xsi:type="dcterms:W3CDTF">2025-01-30T14:22:41Z</dcterms:created>
  <dcterms:modified xsi:type="dcterms:W3CDTF">2026-09-28T11:55:34Z</dcterms:modified>
</cp:coreProperties>
</file>