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0.jpg" ContentType="image/png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81" r:id="rId2"/>
    <p:sldId id="262" r:id="rId3"/>
    <p:sldId id="263" r:id="rId4"/>
    <p:sldId id="259" r:id="rId5"/>
    <p:sldId id="282" r:id="rId6"/>
    <p:sldId id="260" r:id="rId7"/>
    <p:sldId id="261" r:id="rId8"/>
    <p:sldId id="264" r:id="rId9"/>
    <p:sldId id="265" r:id="rId10"/>
    <p:sldId id="266" r:id="rId11"/>
    <p:sldId id="267" r:id="rId12"/>
    <p:sldId id="280" r:id="rId13"/>
    <p:sldId id="268" r:id="rId14"/>
    <p:sldId id="269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6233" autoAdjust="0"/>
  </p:normalViewPr>
  <p:slideViewPr>
    <p:cSldViewPr snapToGrid="0">
      <p:cViewPr varScale="1">
        <p:scale>
          <a:sx n="110" d="100"/>
          <a:sy n="110" d="100"/>
        </p:scale>
        <p:origin x="10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732BC-6A9D-EC4D-B902-047F666BD028}" type="datetimeFigureOut">
              <a:rPr kumimoji="1" lang="zh-CN" altLang="en-US" smtClean="0"/>
              <a:t>2026/9/14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1F72E-2586-4B4D-9FDF-2B0534DE9BB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669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13DAB7-4622-4D71-A561-AC5BB0C8770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21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-</a:t>
            </a:r>
            <a:r>
              <a:rPr kumimoji="1" lang="zh-CN" altLang="en-US" dirty="0"/>
              <a:t> 人工智能算法的的发展</a:t>
            </a:r>
            <a:endParaRPr kumimoji="1" lang="en-US" altLang="zh-CN" dirty="0"/>
          </a:p>
          <a:p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ChatGPT </a:t>
            </a:r>
            <a:r>
              <a:rPr kumimoji="1" lang="en-US" altLang="zh-CN" dirty="0" err="1"/>
              <a:t>DeepSeek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6566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6746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6AB1-AFE0-2544-E7CB-12D2EC27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030C72-02CE-EE46-F4E3-848191F49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5C5F54-35ED-A9D3-1F7F-98B00DBE8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0B38A-09DE-FA42-BC1A-EC185441D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2961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95DB-CD23-B28E-C868-A0D5D79B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CE3BA7-1179-929A-C82E-E928FBC43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9AD259-964C-C525-F26C-339381CC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7E863-0B80-FCCC-2E7B-3B32FCCD3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1978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C6E7-5BEB-434B-713B-BB7FA18D5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057D7-7401-2999-3B1E-CB3519795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22A62E-8E82-6634-B2B6-9482D65C1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45EC5C-533F-29C3-8923-AEA468CBD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169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4332-8C26-6DF7-7518-F7CCFF95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F54442-FF11-31DB-CB29-3C843E7F8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7C0E4B-438D-31D4-9491-721891A58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493EFC-90D6-4564-187E-84897B40E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9344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C272-12D6-E047-FD30-E1BAAE38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09ECAB-5564-C66A-7797-221F6A3B2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096C39-674C-AB86-42BE-0C9B259E9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多举例子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B2D55-7D18-757F-262B-3F8869F5A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7283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7BE9-BBF8-D260-3E4A-34A13211D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A515A0-92A0-F1B4-1A80-F7DF8B09BD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97ECC7-C4B0-0644-F6C5-A0729822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http://</a:t>
            </a:r>
            <a:r>
              <a:rPr kumimoji="1" lang="en" altLang="zh-CN" dirty="0" err="1"/>
              <a:t>ixbtlabs.com</a:t>
            </a:r>
            <a:r>
              <a:rPr kumimoji="1" lang="en" altLang="zh-CN" dirty="0"/>
              <a:t>/articles/ibmpower4/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B34D8-4B8E-D9CF-4BB3-C3B4933F1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539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6D10-625F-09CF-68AB-CBECBB61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1C2370-7722-67BA-91F6-B6CD76FC6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57E919-E28A-0BDF-8AD1-E6DF3317D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 dirty="0"/>
              <a:t>https://</a:t>
            </a:r>
            <a:r>
              <a:rPr kumimoji="1" lang="en" altLang="zh-CN" dirty="0" err="1"/>
              <a:t>youtu.be</a:t>
            </a:r>
            <a:r>
              <a:rPr kumimoji="1" lang="en" altLang="zh-CN" dirty="0"/>
              <a:t>/FSwKCL8A9JQ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0EC308-0659-03E7-1E6F-EA585DC48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1F72E-2586-4B4D-9FDF-2B0534DE9BBA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2513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 descr="preencoded.png">
            <a:extLst>
              <a:ext uri="{FF2B5EF4-FFF2-40B4-BE49-F238E27FC236}">
                <a16:creationId xmlns:a16="http://schemas.microsoft.com/office/drawing/2014/main" id="{8F87A1CA-3353-BB9F-27F2-D0DACC935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1" r="737" b="32856"/>
          <a:stretch/>
        </p:blipFill>
        <p:spPr>
          <a:xfrm flipH="1">
            <a:off x="-1" y="0"/>
            <a:ext cx="12191997" cy="472107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37E6C05-8A94-4B12-3551-9A5DEC1CA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2674"/>
            <a:ext cx="9144000" cy="879475"/>
          </a:xfrm>
        </p:spPr>
        <p:txBody>
          <a:bodyPr/>
          <a:lstStyle>
            <a:lvl1pPr marL="0" indent="0" algn="ctr">
              <a:buNone/>
              <a:defRPr sz="24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4E868-5A70-219A-AE20-974FA91B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FA6C-6B29-E6E0-8DFE-60B391A2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9D2B1-85A9-3D18-B2D8-6F8729279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E23A63-6DC8-C515-0B0F-2C198E8F5775}"/>
              </a:ext>
            </a:extLst>
          </p:cNvPr>
          <p:cNvSpPr/>
          <p:nvPr userDrawn="1"/>
        </p:nvSpPr>
        <p:spPr>
          <a:xfrm>
            <a:off x="0" y="2724461"/>
            <a:ext cx="12192000" cy="20026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91000">
                <a:schemeClr val="accent5">
                  <a:lumMod val="75000"/>
                  <a:alpha val="8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BB44D-ABB5-30C8-131F-4EEEEDF3D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279122"/>
            <a:ext cx="9144000" cy="2387600"/>
          </a:xfrm>
        </p:spPr>
        <p:txBody>
          <a:bodyPr anchor="b"/>
          <a:lstStyle>
            <a:lvl1pPr algn="ctr">
              <a:defRPr sz="60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pic>
        <p:nvPicPr>
          <p:cNvPr id="14" name="Object 12" descr="preencoded.png">
            <a:extLst>
              <a:ext uri="{FF2B5EF4-FFF2-40B4-BE49-F238E27FC236}">
                <a16:creationId xmlns:a16="http://schemas.microsoft.com/office/drawing/2014/main" id="{F108C0CC-162A-82E2-3865-87ACBAAAE8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7947" y="136525"/>
            <a:ext cx="1681411" cy="53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00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C760E0-86AF-7358-6C3B-12D8958B6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20000"/>
          </a:blip>
          <a:srcRect t="1" b="53952"/>
          <a:stretch/>
        </p:blipFill>
        <p:spPr>
          <a:xfrm>
            <a:off x="218612" y="2565784"/>
            <a:ext cx="11769608" cy="3985491"/>
          </a:xfrm>
          <a:prstGeom prst="rect">
            <a:avLst/>
          </a:prstGeom>
        </p:spPr>
      </p:pic>
      <p:sp>
        <p:nvSpPr>
          <p:cNvPr id="10" name="矩形 11">
            <a:extLst>
              <a:ext uri="{FF2B5EF4-FFF2-40B4-BE49-F238E27FC236}">
                <a16:creationId xmlns:a16="http://schemas.microsoft.com/office/drawing/2014/main" id="{02158C45-4BD1-F6B1-46EC-46C35100AB12}"/>
              </a:ext>
            </a:extLst>
          </p:cNvPr>
          <p:cNvSpPr/>
          <p:nvPr userDrawn="1"/>
        </p:nvSpPr>
        <p:spPr>
          <a:xfrm>
            <a:off x="278400" y="6492815"/>
            <a:ext cx="11635200" cy="115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27511"/>
                </a:schemeClr>
              </a:gs>
              <a:gs pos="78000">
                <a:srgbClr val="8BB4DD">
                  <a:alpha val="92000"/>
                </a:srgbClr>
              </a:gs>
              <a:gs pos="97000">
                <a:srgbClr val="8BB4DD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DB682-842D-65E4-01B9-E64FA7BE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8817473" cy="658239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18B4C-F6BA-C651-048A-FA53E048F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161535"/>
            <a:ext cx="11635200" cy="501542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3pPr>
            <a:lvl4pPr marL="16002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4pPr>
            <a:lvl5pPr marL="2057400" indent="-228600">
              <a:lnSpc>
                <a:spcPct val="120000"/>
              </a:lnSpc>
              <a:buFont typeface="Wingdings" pitchFamily="2" charset="2"/>
              <a:buChar char="Ø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6ED5F-B662-7759-9ABD-BC2743DD2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AE07-70B2-784F-BB04-B9DEB9DC4049}" type="datetime1">
              <a:rPr lang="en-US" smtClean="0"/>
              <a:t>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11AE-A152-E822-D90F-1B275A83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4AB7-7320-E597-42F2-5076E520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2476" y="6356350"/>
            <a:ext cx="1841156" cy="365125"/>
          </a:xfrm>
        </p:spPr>
        <p:txBody>
          <a:bodyPr/>
          <a:lstStyle>
            <a:lvl1pPr>
              <a:defRPr sz="18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029BAFA-4642-B343-98EA-5F7B20942092}" type="slidenum">
              <a:rPr lang="en-CN" smtClean="0"/>
              <a:pPr/>
              <a:t>‹#›</a:t>
            </a:fld>
            <a:endParaRPr lang="en-CN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26407E0B-FDBE-FF0F-AB0B-4A4F9B2766EE}"/>
              </a:ext>
            </a:extLst>
          </p:cNvPr>
          <p:cNvSpPr/>
          <p:nvPr userDrawn="1"/>
        </p:nvSpPr>
        <p:spPr>
          <a:xfrm>
            <a:off x="278400" y="851827"/>
            <a:ext cx="11635200" cy="1152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0000">
                <a:srgbClr val="5E8DB9">
                  <a:alpha val="92000"/>
                </a:srgbClr>
              </a:gs>
              <a:gs pos="96000">
                <a:srgbClr val="5E8DB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同济大学校徽Logo PNG SVG AI矢量图下载_免费高清资源">
            <a:extLst>
              <a:ext uri="{FF2B5EF4-FFF2-40B4-BE49-F238E27FC236}">
                <a16:creationId xmlns:a16="http://schemas.microsoft.com/office/drawing/2014/main" id="{8D668636-DE17-57A4-7836-C598B73696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34212" y="43908"/>
            <a:ext cx="779388" cy="7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3C0E-1617-12BC-3BD3-B8EDC243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8F5F-5358-F5F6-DB6E-470E20D08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9944-9188-8D91-63A8-9FF4733C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06C06-E2AD-F734-05EC-D84CC4BC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D2E85-4FFD-DD91-2356-710A260C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138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70EB-1D1F-138D-EAED-87EB3748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6C222-0CBB-9F0B-8ABA-0D34A9224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63DC-50C1-9B94-12BE-17916C19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9E20-0D3E-7F14-762B-0422759C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8797-D984-33DE-52CE-41B66093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1466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9B3F-FA03-1759-FCF6-96E2C077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E29D4-76F6-534C-7538-2445D5639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CBCB9-A255-24FE-73A3-CFF445D6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CF643-AE79-0869-BFB2-2C804035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28327-D50E-E72A-90BA-6124408A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CBAA8-2A10-E8D3-1AAC-91ED658C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340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4135-3B4F-8C24-F579-95A44E63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D8FB7-55D2-9ECC-BF91-FFC65E04B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B6AAE-4E83-41D2-B127-10459BD93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3D98D-8EF7-91CA-60EF-6720C7BA3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05F71-7A63-AB1F-3AF7-5B21625AC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FC6701-4CCF-D75A-5924-6BA24520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0A158-1998-BC78-3677-0AA71661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CA0E4-B530-0420-F58D-C3F8525C5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666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D9B5-20C0-A670-D667-0F11441C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EC427-3C46-08C1-8D58-8AA5D95D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59B5C7-17B4-168A-F481-06217829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915C7-E026-D7D4-7D84-658D9362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6719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16753F-B852-03FA-DAC1-22ECD0CD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072AF-440A-79EE-0ADF-CA754690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8D17D-B398-0460-67A8-7BE60E3D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200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C76BC8-E235-F40C-BADB-D6E4C5C09E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t="19665" r="27381" b="21654"/>
          <a:stretch/>
        </p:blipFill>
        <p:spPr>
          <a:xfrm>
            <a:off x="2139043" y="0"/>
            <a:ext cx="10052957" cy="6863546"/>
          </a:xfrm>
          <a:prstGeom prst="rect">
            <a:avLst/>
          </a:prstGeom>
        </p:spPr>
      </p:pic>
      <p:pic>
        <p:nvPicPr>
          <p:cNvPr id="8" name="Object 9" descr="preencoded.png">
            <a:extLst>
              <a:ext uri="{FF2B5EF4-FFF2-40B4-BE49-F238E27FC236}">
                <a16:creationId xmlns:a16="http://schemas.microsoft.com/office/drawing/2014/main" id="{CFBAC008-175A-3FA5-7A97-88ABC1AA2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0207" y="794106"/>
            <a:ext cx="2566794" cy="82242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2B4F74F-EC1E-7737-5020-DED38EBC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79" y="1888365"/>
            <a:ext cx="5080907" cy="2103971"/>
          </a:xfrm>
        </p:spPr>
        <p:txBody>
          <a:bodyPr/>
          <a:lstStyle>
            <a:lvl1pPr>
              <a:defRPr b="0" i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818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77AA-0B28-FAEA-0710-71CF52E3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DA95-1F7B-7A19-CD36-E1CD7B9A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DE708-2666-FEA5-376D-015DDEE13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5C259-627A-0ED0-2D75-25E6B00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67667-F363-C11E-09F8-9FAB1F4C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98009-DFE7-BFE5-6C12-2632B114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897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3F80-6D41-B7FE-D226-98055BB3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119B6-2E17-AAE9-4146-5AE0C1BC4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743FC-4B25-3370-6B11-F95CAA247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5FAC6-69E8-3093-C920-69E7F0A1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5B377-1A86-9381-4896-C00295514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3EF1-3739-BD06-D154-3391FCB3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5868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AB4C-2BB8-6B18-029B-7B5E0141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4783-AEA0-4CD6-5410-AB7CFF8CF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7ADA-1597-246A-FE7B-4419A915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21A3B-C22F-59C8-0607-A8A9AB112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D3793-8AD5-4018-D9E3-92CD7940D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2936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9FC7A-9A66-908D-9EEE-8DBFF4F785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E61A6-0CDA-F4EF-FA05-433D59A42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C4CFC-3670-C93B-564B-638BA568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ED732-961C-13C6-D3F5-A73B8A42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9826-A0A9-EAAC-BFD6-D64051B9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3034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F0DB78-4D0F-1031-6751-F85230D9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8F3E-C383-A313-4586-A837DA5D3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7FF30-A9BE-0DA4-BDBF-09AD5FE65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063EB-17A0-624E-9B50-98EE20E14C1B}" type="datetimeFigureOut">
              <a:rPr lang="en-CN" smtClean="0"/>
              <a:t>09/14/2026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2B4C-D68F-E5AC-3738-ACC176404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EC6B-4A60-FD8C-AD36-006B8EF6B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65F23-317C-3E42-A444-97A1C022A51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073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shiweiliu-ai.github.io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5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GIF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A7CBD757-AD6D-4181-A4FB-B9AA3145D078}"/>
              </a:ext>
            </a:extLst>
          </p:cNvPr>
          <p:cNvSpPr/>
          <p:nvPr/>
        </p:nvSpPr>
        <p:spPr>
          <a:xfrm rot="5400000" flipV="1">
            <a:off x="7071519" y="-406587"/>
            <a:ext cx="4713892" cy="552707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6F9F843-9A67-4569-965A-4C1F41CEA699}"/>
              </a:ext>
            </a:extLst>
          </p:cNvPr>
          <p:cNvSpPr/>
          <p:nvPr/>
        </p:nvSpPr>
        <p:spPr>
          <a:xfrm>
            <a:off x="0" y="1599238"/>
            <a:ext cx="5754414" cy="5258761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8B44BA7-BD6A-4376-8A63-6BBAE7900CEC}"/>
              </a:ext>
            </a:extLst>
          </p:cNvPr>
          <p:cNvSpPr/>
          <p:nvPr/>
        </p:nvSpPr>
        <p:spPr>
          <a:xfrm>
            <a:off x="505326" y="878306"/>
            <a:ext cx="11201400" cy="5690937"/>
          </a:xfrm>
          <a:prstGeom prst="rect">
            <a:avLst/>
          </a:prstGeom>
          <a:solidFill>
            <a:srgbClr val="FEFEFE"/>
          </a:solidFill>
          <a:ln>
            <a:noFill/>
          </a:ln>
          <a:effectLst>
            <a:outerShdw blurRad="2667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43293F1-2F6E-41D2-B9E3-2660A069D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59" b="13471"/>
          <a:stretch>
            <a:fillRect/>
          </a:stretch>
        </p:blipFill>
        <p:spPr>
          <a:xfrm>
            <a:off x="489666" y="271835"/>
            <a:ext cx="11217059" cy="515112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098329CB-439F-4DAF-A4FD-3D14B80BCE6D}"/>
              </a:ext>
            </a:extLst>
          </p:cNvPr>
          <p:cNvSpPr/>
          <p:nvPr/>
        </p:nvSpPr>
        <p:spPr>
          <a:xfrm>
            <a:off x="485273" y="271835"/>
            <a:ext cx="11237111" cy="5168043"/>
          </a:xfrm>
          <a:prstGeom prst="rect">
            <a:avLst/>
          </a:prstGeom>
          <a:solidFill>
            <a:srgbClr val="2A82C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71C45C-4D49-47DD-BF08-298B745F3A72}"/>
              </a:ext>
            </a:extLst>
          </p:cNvPr>
          <p:cNvSpPr/>
          <p:nvPr/>
        </p:nvSpPr>
        <p:spPr>
          <a:xfrm>
            <a:off x="487471" y="1400592"/>
            <a:ext cx="1121705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智能片上集成系统设计</a:t>
            </a:r>
            <a:b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of Intelligent Computing Chip </a:t>
            </a:r>
            <a:r>
              <a:rPr kumimoji="0" lang="en-US" altLang="zh-CN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and System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箭头: V 形 35">
            <a:extLst>
              <a:ext uri="{FF2B5EF4-FFF2-40B4-BE49-F238E27FC236}">
                <a16:creationId xmlns:a16="http://schemas.microsoft.com/office/drawing/2014/main" id="{42E5E360-C405-40C9-A549-F4F7A94ECE8A}"/>
              </a:ext>
            </a:extLst>
          </p:cNvPr>
          <p:cNvSpPr/>
          <p:nvPr/>
        </p:nvSpPr>
        <p:spPr>
          <a:xfrm rot="16200000">
            <a:off x="5835869" y="5570205"/>
            <a:ext cx="520262" cy="520262"/>
          </a:xfrm>
          <a:prstGeom prst="chevron">
            <a:avLst/>
          </a:prstGeom>
          <a:solidFill>
            <a:srgbClr val="4C5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8A6954-4418-FA9D-1C42-7756040669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246" y="561613"/>
            <a:ext cx="1781164" cy="9049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FE0A2C4-1752-1117-76FA-66FFC4267977}"/>
              </a:ext>
            </a:extLst>
          </p:cNvPr>
          <p:cNvSpPr txBox="1">
            <a:spLocks/>
          </p:cNvSpPr>
          <p:nvPr/>
        </p:nvSpPr>
        <p:spPr>
          <a:xfrm>
            <a:off x="2338111" y="4228618"/>
            <a:ext cx="7803152" cy="1114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Shiwei Liu,</a:t>
            </a:r>
            <a:r>
              <a:rPr lang="zh-CN" alt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382077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AD46-BD06-B96E-BDB2-947191826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0352-55F9-5EE6-1696-C81B9A47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55366"/>
            <a:ext cx="8817473" cy="658239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Artificial Intelligence Era</a:t>
            </a:r>
            <a:endParaRPr lang="en-C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268AED2-4804-4656-A5EC-E5C2E87DE033}"/>
              </a:ext>
            </a:extLst>
          </p:cNvPr>
          <p:cNvSpPr txBox="1">
            <a:spLocks/>
          </p:cNvSpPr>
          <p:nvPr/>
        </p:nvSpPr>
        <p:spPr>
          <a:xfrm>
            <a:off x="279326" y="1001363"/>
            <a:ext cx="11633348" cy="2096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the past decades, artificial intelligence (AI) algorithms has grown exponentially in size and operations, evolved from CNN to transformer.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AI has enabling new innovations in many fields , e.g. nature language processing (ChatGPT/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Deepseek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 and multi-modal generation.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349B995-7969-0878-9A09-4FE363BDF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95847"/>
              </p:ext>
            </p:extLst>
          </p:nvPr>
        </p:nvGraphicFramePr>
        <p:xfrm>
          <a:off x="609597" y="3230806"/>
          <a:ext cx="5407396" cy="2857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676">
                  <a:extLst>
                    <a:ext uri="{9D8B030D-6E8A-4147-A177-3AD203B41FA5}">
                      <a16:colId xmlns:a16="http://schemas.microsoft.com/office/drawing/2014/main" val="2205817062"/>
                    </a:ext>
                  </a:extLst>
                </a:gridCol>
                <a:gridCol w="1498344">
                  <a:extLst>
                    <a:ext uri="{9D8B030D-6E8A-4147-A177-3AD203B41FA5}">
                      <a16:colId xmlns:a16="http://schemas.microsoft.com/office/drawing/2014/main" val="3354410771"/>
                    </a:ext>
                  </a:extLst>
                </a:gridCol>
                <a:gridCol w="1489667">
                  <a:extLst>
                    <a:ext uri="{9D8B030D-6E8A-4147-A177-3AD203B41FA5}">
                      <a16:colId xmlns:a16="http://schemas.microsoft.com/office/drawing/2014/main" val="3363217553"/>
                    </a:ext>
                  </a:extLst>
                </a:gridCol>
                <a:gridCol w="1612709">
                  <a:extLst>
                    <a:ext uri="{9D8B030D-6E8A-4147-A177-3AD203B41FA5}">
                      <a16:colId xmlns:a16="http://schemas.microsoft.com/office/drawing/2014/main" val="4258982624"/>
                    </a:ext>
                  </a:extLst>
                </a:gridCol>
              </a:tblGrid>
              <a:tr h="5807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Year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AI Models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Parameter</a:t>
                      </a:r>
                    </a:p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Size (GB)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icrosoft YaHei" panose="020B0503020204020204" pitchFamily="34" charset="-122"/>
                          <a:cs typeface="Arial" panose="020B0604020202020204" pitchFamily="34" charset="0"/>
                        </a:rPr>
                        <a:t>Computing TFLOPs-day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913462"/>
                  </a:ext>
                </a:extLst>
              </a:tr>
              <a:tr h="443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2012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AlexNet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70474"/>
                  </a:ext>
                </a:extLst>
              </a:tr>
              <a:tr h="443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052559"/>
                  </a:ext>
                </a:extLst>
              </a:tr>
              <a:tr h="443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069489"/>
                  </a:ext>
                </a:extLst>
              </a:tr>
              <a:tr h="443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2020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GPT-2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45806"/>
                  </a:ext>
                </a:extLst>
              </a:tr>
              <a:tr h="443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2024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Llama-405B</a:t>
                      </a: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1800" b="1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CN" altLang="en-US" sz="1800" b="1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363" marR="89363" marT="44682" marB="44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669332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CC69633A-730C-9D10-A54E-EC83E38F7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009" y="3176066"/>
            <a:ext cx="5623665" cy="29664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519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173B-86FB-AD51-8678-2D162D38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AC41-F9D1-406C-F078-B333D9005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55366"/>
            <a:ext cx="8817473" cy="658239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Intelligent Computing Chip</a:t>
            </a:r>
            <a:endParaRPr lang="en-C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7A1F6B-EC73-0F7C-BFC5-916E874DD21A}"/>
              </a:ext>
            </a:extLst>
          </p:cNvPr>
          <p:cNvSpPr txBox="1">
            <a:spLocks/>
          </p:cNvSpPr>
          <p:nvPr/>
        </p:nvSpPr>
        <p:spPr>
          <a:xfrm>
            <a:off x="576112" y="1093342"/>
            <a:ext cx="11385516" cy="2222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 performance computing chips are evolving to include specialized processing units designed to handle the </a:t>
            </a:r>
            <a:r>
              <a:rPr lang="en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massive computation 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required by AI models, such as GPUs, NPUs, and custom AI accelerating 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course objective is to learn the </a:t>
            </a:r>
            <a:r>
              <a:rPr lang="en-US" altLang="zh-CN" sz="2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and software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 these new cores.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BC9FC15-5470-86C4-B0F4-CF3432AB0EA3}"/>
              </a:ext>
            </a:extLst>
          </p:cNvPr>
          <p:cNvSpPr/>
          <p:nvPr/>
        </p:nvSpPr>
        <p:spPr>
          <a:xfrm>
            <a:off x="7837080" y="3144923"/>
            <a:ext cx="1169582" cy="706130"/>
          </a:xfrm>
          <a:prstGeom prst="roundRect">
            <a:avLst>
              <a:gd name="adj" fmla="val 11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16546B6-4A10-85B2-61EC-43CC1D53AF9D}"/>
              </a:ext>
            </a:extLst>
          </p:cNvPr>
          <p:cNvSpPr/>
          <p:nvPr/>
        </p:nvSpPr>
        <p:spPr>
          <a:xfrm>
            <a:off x="7677595" y="3319689"/>
            <a:ext cx="1169582" cy="706130"/>
          </a:xfrm>
          <a:prstGeom prst="roundRect">
            <a:avLst>
              <a:gd name="adj" fmla="val 11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左右箭头 6">
            <a:extLst>
              <a:ext uri="{FF2B5EF4-FFF2-40B4-BE49-F238E27FC236}">
                <a16:creationId xmlns:a16="http://schemas.microsoft.com/office/drawing/2014/main" id="{C72D717A-5C15-5F5C-9DE3-A6F3F3DAD6CD}"/>
              </a:ext>
            </a:extLst>
          </p:cNvPr>
          <p:cNvSpPr/>
          <p:nvPr/>
        </p:nvSpPr>
        <p:spPr>
          <a:xfrm>
            <a:off x="6712688" y="5465459"/>
            <a:ext cx="602512" cy="233887"/>
          </a:xfrm>
          <a:prstGeom prst="leftRightArrow">
            <a:avLst>
              <a:gd name="adj1" fmla="val 50000"/>
              <a:gd name="adj2" fmla="val 64051"/>
            </a:avLst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85D0AE5-F06C-9B98-17D5-51D13FD5C93E}"/>
              </a:ext>
            </a:extLst>
          </p:cNvPr>
          <p:cNvSpPr/>
          <p:nvPr/>
        </p:nvSpPr>
        <p:spPr>
          <a:xfrm>
            <a:off x="1034900" y="3264494"/>
            <a:ext cx="1275908" cy="914400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x4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798A7AD-52EF-B1B1-1BBA-6E5C25E062F6}"/>
              </a:ext>
            </a:extLst>
          </p:cNvPr>
          <p:cNvSpPr/>
          <p:nvPr/>
        </p:nvSpPr>
        <p:spPr>
          <a:xfrm>
            <a:off x="1034900" y="4270068"/>
            <a:ext cx="1275908" cy="715523"/>
          </a:xfrm>
          <a:prstGeom prst="roundRect">
            <a:avLst>
              <a:gd name="adj" fmla="val 11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SRAM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94C15A0C-3CA2-92BE-05AA-E5AD32361B5C}"/>
              </a:ext>
            </a:extLst>
          </p:cNvPr>
          <p:cNvCxnSpPr/>
          <p:nvPr/>
        </p:nvCxnSpPr>
        <p:spPr>
          <a:xfrm>
            <a:off x="1683486" y="4976201"/>
            <a:ext cx="0" cy="4134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8793B79-EB06-AC0E-A346-102081995C9D}"/>
              </a:ext>
            </a:extLst>
          </p:cNvPr>
          <p:cNvSpPr/>
          <p:nvPr/>
        </p:nvSpPr>
        <p:spPr>
          <a:xfrm>
            <a:off x="2959393" y="4548362"/>
            <a:ext cx="2243465" cy="427837"/>
          </a:xfrm>
          <a:prstGeom prst="roundRect">
            <a:avLst>
              <a:gd name="adj" fmla="val 11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L2 Cache SRAM</a:t>
            </a:r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6E2C81F0-A6F9-73FA-DF14-DAD9E5C04881}"/>
              </a:ext>
            </a:extLst>
          </p:cNvPr>
          <p:cNvCxnSpPr>
            <a:cxnSpLocks/>
          </p:cNvCxnSpPr>
          <p:nvPr/>
        </p:nvCxnSpPr>
        <p:spPr>
          <a:xfrm>
            <a:off x="4054548" y="4976199"/>
            <a:ext cx="0" cy="4134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0DA62AA-E651-6BC9-AEDB-CACE5EABD61D}"/>
              </a:ext>
            </a:extLst>
          </p:cNvPr>
          <p:cNvSpPr/>
          <p:nvPr/>
        </p:nvSpPr>
        <p:spPr>
          <a:xfrm>
            <a:off x="2959393" y="3264493"/>
            <a:ext cx="2243464" cy="1210175"/>
          </a:xfrm>
          <a:prstGeom prst="roundRect">
            <a:avLst>
              <a:gd name="adj" fmla="val 727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GPU/NPU/</a:t>
            </a:r>
            <a:r>
              <a:rPr kumimoji="1" lang="en-US" altLang="zh-C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Accl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196B2EB-1164-4B4F-283E-2E986FC89B1D}"/>
              </a:ext>
            </a:extLst>
          </p:cNvPr>
          <p:cNvCxnSpPr/>
          <p:nvPr/>
        </p:nvCxnSpPr>
        <p:spPr>
          <a:xfrm>
            <a:off x="6216501" y="4976199"/>
            <a:ext cx="0" cy="4134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51A51AA-F929-9E83-6268-9F0A9E9DCDB8}"/>
              </a:ext>
            </a:extLst>
          </p:cNvPr>
          <p:cNvSpPr/>
          <p:nvPr/>
        </p:nvSpPr>
        <p:spPr>
          <a:xfrm>
            <a:off x="5706138" y="3264494"/>
            <a:ext cx="1006550" cy="1717451"/>
          </a:xfrm>
          <a:prstGeom prst="roundRect">
            <a:avLst>
              <a:gd name="adj" fmla="val 11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L3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 SRAM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D25F24-A6EF-D71C-A230-3913ACF15D7E}"/>
              </a:ext>
            </a:extLst>
          </p:cNvPr>
          <p:cNvSpPr/>
          <p:nvPr/>
        </p:nvSpPr>
        <p:spPr>
          <a:xfrm>
            <a:off x="3129514" y="36742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4B5752-B1CC-3771-92DD-7BB0ED0F09EC}"/>
              </a:ext>
            </a:extLst>
          </p:cNvPr>
          <p:cNvSpPr/>
          <p:nvPr/>
        </p:nvSpPr>
        <p:spPr>
          <a:xfrm>
            <a:off x="3533551" y="36742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BD066-6C54-862A-69EC-32AA69649077}"/>
              </a:ext>
            </a:extLst>
          </p:cNvPr>
          <p:cNvSpPr/>
          <p:nvPr/>
        </p:nvSpPr>
        <p:spPr>
          <a:xfrm>
            <a:off x="3937588" y="36742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5485F8-29A6-1218-4BA5-DF0055BA9812}"/>
              </a:ext>
            </a:extLst>
          </p:cNvPr>
          <p:cNvSpPr/>
          <p:nvPr/>
        </p:nvSpPr>
        <p:spPr>
          <a:xfrm>
            <a:off x="4341625" y="36742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B44AA3-20FF-7445-72FD-55B346963D26}"/>
              </a:ext>
            </a:extLst>
          </p:cNvPr>
          <p:cNvSpPr/>
          <p:nvPr/>
        </p:nvSpPr>
        <p:spPr>
          <a:xfrm>
            <a:off x="3129514" y="40704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FF1FCD-F387-D4B2-5F38-48E4D925E806}"/>
              </a:ext>
            </a:extLst>
          </p:cNvPr>
          <p:cNvSpPr/>
          <p:nvPr/>
        </p:nvSpPr>
        <p:spPr>
          <a:xfrm>
            <a:off x="3533551" y="40704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9394AF-DE2F-6472-BDC5-F588B08948A3}"/>
              </a:ext>
            </a:extLst>
          </p:cNvPr>
          <p:cNvSpPr/>
          <p:nvPr/>
        </p:nvSpPr>
        <p:spPr>
          <a:xfrm>
            <a:off x="3937588" y="40704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1881B8-0259-C880-5F24-60AAB332FDB9}"/>
              </a:ext>
            </a:extLst>
          </p:cNvPr>
          <p:cNvSpPr/>
          <p:nvPr/>
        </p:nvSpPr>
        <p:spPr>
          <a:xfrm>
            <a:off x="4341625" y="40704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ED5052-3236-C4D1-BAE5-E45BFE7C6D36}"/>
              </a:ext>
            </a:extLst>
          </p:cNvPr>
          <p:cNvSpPr/>
          <p:nvPr/>
        </p:nvSpPr>
        <p:spPr>
          <a:xfrm>
            <a:off x="4747437" y="36742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47FBD4-789B-0754-E276-73360573D9EA}"/>
              </a:ext>
            </a:extLst>
          </p:cNvPr>
          <p:cNvSpPr/>
          <p:nvPr/>
        </p:nvSpPr>
        <p:spPr>
          <a:xfrm>
            <a:off x="4747437" y="4070429"/>
            <a:ext cx="265814" cy="25341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EFE687-1880-77D3-E145-C09AE94D5089}"/>
              </a:ext>
            </a:extLst>
          </p:cNvPr>
          <p:cNvSpPr/>
          <p:nvPr/>
        </p:nvSpPr>
        <p:spPr>
          <a:xfrm>
            <a:off x="1116421" y="5404037"/>
            <a:ext cx="5596268" cy="360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</a:t>
            </a:r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Interconnect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504FDB-3E61-04C9-D562-45E10E2C27F1}"/>
              </a:ext>
            </a:extLst>
          </p:cNvPr>
          <p:cNvSpPr/>
          <p:nvPr/>
        </p:nvSpPr>
        <p:spPr>
          <a:xfrm>
            <a:off x="7325832" y="5404050"/>
            <a:ext cx="3402417" cy="360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Controller Fabric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EDC48EEB-3586-BFCE-DD00-8A8F7A3F48E5}"/>
              </a:ext>
            </a:extLst>
          </p:cNvPr>
          <p:cNvCxnSpPr/>
          <p:nvPr/>
        </p:nvCxnSpPr>
        <p:spPr>
          <a:xfrm>
            <a:off x="8091376" y="4979621"/>
            <a:ext cx="0" cy="4134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6C8B675D-2032-7435-1151-4CA34B935FC7}"/>
              </a:ext>
            </a:extLst>
          </p:cNvPr>
          <p:cNvSpPr/>
          <p:nvPr/>
        </p:nvSpPr>
        <p:spPr>
          <a:xfrm>
            <a:off x="7518110" y="3497988"/>
            <a:ext cx="1169582" cy="706130"/>
          </a:xfrm>
          <a:prstGeom prst="roundRect">
            <a:avLst>
              <a:gd name="adj" fmla="val 11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1374CC5-C081-1B85-0C89-8C3B75824719}"/>
              </a:ext>
            </a:extLst>
          </p:cNvPr>
          <p:cNvSpPr/>
          <p:nvPr/>
        </p:nvSpPr>
        <p:spPr>
          <a:xfrm>
            <a:off x="7358625" y="3665544"/>
            <a:ext cx="1169582" cy="706130"/>
          </a:xfrm>
          <a:prstGeom prst="roundRect">
            <a:avLst>
              <a:gd name="adj" fmla="val 11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8Gb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DRAM</a:t>
            </a:r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1EB605FD-75C5-7D9A-8418-4D1897D6BC34}"/>
              </a:ext>
            </a:extLst>
          </p:cNvPr>
          <p:cNvCxnSpPr/>
          <p:nvPr/>
        </p:nvCxnSpPr>
        <p:spPr>
          <a:xfrm>
            <a:off x="10083208" y="4976198"/>
            <a:ext cx="0" cy="41343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1E185D1B-BDDD-1354-6D40-7405A5ABD667}"/>
              </a:ext>
            </a:extLst>
          </p:cNvPr>
          <p:cNvSpPr/>
          <p:nvPr/>
        </p:nvSpPr>
        <p:spPr>
          <a:xfrm>
            <a:off x="9453247" y="3202233"/>
            <a:ext cx="1240017" cy="1142872"/>
          </a:xfrm>
          <a:prstGeom prst="roundRect">
            <a:avLst>
              <a:gd name="adj" fmla="val 530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100GB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SSD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flash</a:t>
            </a: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6B0DB327-C223-B711-59CB-71AECF8D2D2F}"/>
              </a:ext>
            </a:extLst>
          </p:cNvPr>
          <p:cNvCxnSpPr>
            <a:cxnSpLocks/>
          </p:cNvCxnSpPr>
          <p:nvPr/>
        </p:nvCxnSpPr>
        <p:spPr>
          <a:xfrm>
            <a:off x="2310808" y="5699346"/>
            <a:ext cx="0" cy="27202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0D1FF88D-D8C6-AB18-5BD5-3943FB42E7CA}"/>
              </a:ext>
            </a:extLst>
          </p:cNvPr>
          <p:cNvSpPr/>
          <p:nvPr/>
        </p:nvSpPr>
        <p:spPr>
          <a:xfrm>
            <a:off x="1495645" y="5979826"/>
            <a:ext cx="1633870" cy="434778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PCIe links 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6FA22AF6-91E2-2E78-0E42-669C9513BF7B}"/>
              </a:ext>
            </a:extLst>
          </p:cNvPr>
          <p:cNvSpPr/>
          <p:nvPr/>
        </p:nvSpPr>
        <p:spPr>
          <a:xfrm>
            <a:off x="7332049" y="4558995"/>
            <a:ext cx="1501838" cy="434778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DDR PHY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CB39357-F9B7-F1C3-33FB-95608E6A1EC5}"/>
              </a:ext>
            </a:extLst>
          </p:cNvPr>
          <p:cNvSpPr/>
          <p:nvPr/>
        </p:nvSpPr>
        <p:spPr>
          <a:xfrm>
            <a:off x="9453248" y="4541419"/>
            <a:ext cx="1240018" cy="434778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NAND IO</a:t>
            </a: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B8F60D65-0566-47C4-93B1-C3F6C6486493}"/>
              </a:ext>
            </a:extLst>
          </p:cNvPr>
          <p:cNvCxnSpPr>
            <a:cxnSpLocks/>
          </p:cNvCxnSpPr>
          <p:nvPr/>
        </p:nvCxnSpPr>
        <p:spPr>
          <a:xfrm>
            <a:off x="8091376" y="4371674"/>
            <a:ext cx="0" cy="18732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36B64C6-C1BE-CCA6-6537-97E77218DEAD}"/>
              </a:ext>
            </a:extLst>
          </p:cNvPr>
          <p:cNvCxnSpPr>
            <a:cxnSpLocks/>
          </p:cNvCxnSpPr>
          <p:nvPr/>
        </p:nvCxnSpPr>
        <p:spPr>
          <a:xfrm>
            <a:off x="10086751" y="4354098"/>
            <a:ext cx="0" cy="187321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88A579E6-C339-39B9-9D29-2020C4B07F52}"/>
              </a:ext>
            </a:extLst>
          </p:cNvPr>
          <p:cNvCxnSpPr>
            <a:cxnSpLocks/>
          </p:cNvCxnSpPr>
          <p:nvPr/>
        </p:nvCxnSpPr>
        <p:spPr>
          <a:xfrm>
            <a:off x="7066220" y="4465334"/>
            <a:ext cx="3991641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988E9DA-C04F-C600-3404-AB3B07D4EBE3}"/>
              </a:ext>
            </a:extLst>
          </p:cNvPr>
          <p:cNvSpPr/>
          <p:nvPr/>
        </p:nvSpPr>
        <p:spPr>
          <a:xfrm>
            <a:off x="4474532" y="5983953"/>
            <a:ext cx="2037897" cy="434778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links </a:t>
            </a:r>
          </a:p>
        </p:txBody>
      </p: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2C5AA190-E16A-4B40-7375-C34D328E19DA}"/>
              </a:ext>
            </a:extLst>
          </p:cNvPr>
          <p:cNvCxnSpPr>
            <a:cxnSpLocks/>
          </p:cNvCxnSpPr>
          <p:nvPr/>
        </p:nvCxnSpPr>
        <p:spPr>
          <a:xfrm>
            <a:off x="5493480" y="5707800"/>
            <a:ext cx="0" cy="27202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E61E0EB9-B742-FBEC-0945-001387038B4D}"/>
              </a:ext>
            </a:extLst>
          </p:cNvPr>
          <p:cNvCxnSpPr>
            <a:cxnSpLocks/>
          </p:cNvCxnSpPr>
          <p:nvPr/>
        </p:nvCxnSpPr>
        <p:spPr>
          <a:xfrm>
            <a:off x="3799365" y="5716502"/>
            <a:ext cx="0" cy="27202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180CDECB-A9B3-4071-8C3B-EEBECE4E2B89}"/>
              </a:ext>
            </a:extLst>
          </p:cNvPr>
          <p:cNvSpPr/>
          <p:nvPr/>
        </p:nvSpPr>
        <p:spPr>
          <a:xfrm>
            <a:off x="3317357" y="5988528"/>
            <a:ext cx="964016" cy="434778"/>
          </a:xfrm>
          <a:prstGeom prst="roundRect">
            <a:avLst>
              <a:gd name="adj" fmla="val 11667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DMA</a:t>
            </a:r>
          </a:p>
        </p:txBody>
      </p:sp>
    </p:spTree>
    <p:extLst>
      <p:ext uri="{BB962C8B-B14F-4D97-AF65-F5344CB8AC3E}">
        <p14:creationId xmlns:p14="http://schemas.microsoft.com/office/powerpoint/2010/main" val="3113896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76C7-AF59-A3BC-45AB-4FE47BBC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929BE0-FF2F-6F10-B203-AA4E81248D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1" y="1195394"/>
            <a:ext cx="1795225" cy="26099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3166420-BBDC-0873-96F1-D334679FF85E}"/>
              </a:ext>
            </a:extLst>
          </p:cNvPr>
          <p:cNvSpPr txBox="1"/>
          <p:nvPr/>
        </p:nvSpPr>
        <p:spPr>
          <a:xfrm>
            <a:off x="246944" y="3913289"/>
            <a:ext cx="30575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Homepage</a:t>
            </a: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https://shiweiliu-ai.github.io/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AEB41B-D98C-6258-F5F3-BB46E8A23F7A}"/>
              </a:ext>
            </a:extLst>
          </p:cNvPr>
          <p:cNvSpPr txBox="1"/>
          <p:nvPr/>
        </p:nvSpPr>
        <p:spPr>
          <a:xfrm>
            <a:off x="178557" y="5036866"/>
            <a:ext cx="3194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shiweiliu@tongji.edu.cn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A667B30-82D8-DF16-8910-01285208BB41}"/>
              </a:ext>
            </a:extLst>
          </p:cNvPr>
          <p:cNvSpPr>
            <a:spLocks noGrp="1"/>
          </p:cNvSpPr>
          <p:nvPr/>
        </p:nvSpPr>
        <p:spPr>
          <a:xfrm>
            <a:off x="3304501" y="1195394"/>
            <a:ext cx="8493576" cy="5014994"/>
          </a:xfrm>
          <a:prstGeom prst="rect">
            <a:avLst/>
          </a:prstGeom>
        </p:spPr>
        <p:txBody>
          <a:bodyPr/>
          <a:lstStyle>
            <a:lvl1pPr marL="536575" indent="-536575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00113" indent="-442913" algn="l" defTabSz="914400" rtl="0" eaLnBrk="1" latinLnBrk="0" hangingPunct="1">
              <a:spcBef>
                <a:spcPct val="20000"/>
              </a:spcBef>
              <a:buSzPct val="90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−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Education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 – 2018, B.S.,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Fudan University</a:t>
            </a:r>
            <a:endParaRPr kumimoji="1" lang="en-US" altLang="ja-JP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2018 – 2021,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M.S.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Fudan University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2021 – 2024,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Ph.D.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Fudan University</a:t>
            </a:r>
            <a:endParaRPr kumimoji="1"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2023.09 –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2024.5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Research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 Researcher</a:t>
            </a:r>
            <a:endParaRPr kumimoji="1"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2024.06 </a:t>
            </a:r>
            <a:r>
              <a:rPr kumimoji="1" lang="en-US" altLang="ja-JP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2026.05, Hardware Architect, ByteDance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.05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Present, Assistant, Tonji University</a:t>
            </a:r>
            <a:endParaRPr kumimoji="1" lang="en-US" altLang="ja-JP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Research Interest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Compute-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in-Memory Chip Design and 2.5D/3D Chiplet Chip Design for LLM Acceleration.</a:t>
            </a:r>
          </a:p>
        </p:txBody>
      </p:sp>
    </p:spTree>
    <p:extLst>
      <p:ext uri="{BB962C8B-B14F-4D97-AF65-F5344CB8AC3E}">
        <p14:creationId xmlns:p14="http://schemas.microsoft.com/office/powerpoint/2010/main" val="23985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67B8E-EF7F-5DD1-A4F3-FB77E186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DB23-D4A5-BCD7-56CA-255882C8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96B75-CC16-9C6B-CB88-FC7F27B7A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552640"/>
            <a:ext cx="11635200" cy="4447172"/>
          </a:xfrm>
        </p:spPr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Shiwei Liu</a:t>
            </a:r>
            <a:b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Email:</a:t>
            </a:r>
            <a:r>
              <a:rPr lang="zh-CN" alt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shiweiliu@tongji.edu.cn</a:t>
            </a:r>
          </a:p>
          <a:p>
            <a:pPr marL="0" indent="0" algn="l">
              <a:buNone/>
            </a:pPr>
            <a:endParaRPr lang="en-US" sz="1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ocation: </a:t>
            </a:r>
            <a:r>
              <a:rPr lang="en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722 Zhixing Buiding </a:t>
            </a:r>
            <a:br>
              <a:rPr lang="en" altLang="zh-CN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@ Jiading Campus</a:t>
            </a:r>
            <a:endParaRPr lang="en-US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Time: </a:t>
            </a:r>
            <a:r>
              <a:rPr lang="en-US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Monday </a:t>
            </a:r>
            <a:r>
              <a:rPr lang="en-US" b="0" i="0" u="sng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Afternonn</a:t>
            </a:r>
            <a:r>
              <a:rPr lang="en-US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CN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US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:00</a:t>
            </a:r>
            <a:r>
              <a:rPr lang="en-US" b="0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-16:00)</a:t>
            </a:r>
          </a:p>
          <a:p>
            <a:endParaRPr lang="en-US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Website: </a:t>
            </a:r>
            <a:r>
              <a:rPr lang="en-US" altLang="zh-CN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https://shiweiliu-ai.github.io/</a:t>
            </a:r>
            <a:r>
              <a:rPr lang="en-US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 (Temporary)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TA: </a:t>
            </a:r>
            <a:r>
              <a:rPr lang="en-US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Rui Zheng (</a:t>
            </a:r>
            <a:r>
              <a:rPr lang="zh-CN" altLang="en-US" u="sng" dirty="0">
                <a:latin typeface="Arial" panose="020B0604020202020204" pitchFamily="34" charset="0"/>
                <a:cs typeface="Arial" panose="020B0604020202020204" pitchFamily="34" charset="0"/>
              </a:rPr>
              <a:t>郑睿</a:t>
            </a:r>
            <a:r>
              <a:rPr lang="en-US" altLang="zh-CN" u="sng" dirty="0">
                <a:latin typeface="Arial" panose="020B0604020202020204" pitchFamily="34" charset="0"/>
                <a:cs typeface="Arial" panose="020B0604020202020204" pitchFamily="34" charset="0"/>
              </a:rPr>
              <a:t>), zrlfx@tongji.edu.cn</a:t>
            </a:r>
          </a:p>
          <a:p>
            <a:endParaRPr lang="en-US" altLang="zh-CN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AD18DF-4D04-3869-B3C4-0E7E86C52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72" b="7830"/>
          <a:stretch>
            <a:fillRect/>
          </a:stretch>
        </p:blipFill>
        <p:spPr>
          <a:xfrm>
            <a:off x="8115727" y="1736746"/>
            <a:ext cx="3587366" cy="3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3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847A-E0A6-08A0-1758-396AB0BD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55366"/>
            <a:ext cx="8817473" cy="658239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Textbook / Reference Books</a:t>
            </a:r>
            <a:endParaRPr lang="en-C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353772-A91E-DB68-3C01-1883EBEBE7D8}"/>
              </a:ext>
            </a:extLst>
          </p:cNvPr>
          <p:cNvSpPr txBox="1">
            <a:spLocks/>
          </p:cNvSpPr>
          <p:nvPr/>
        </p:nvSpPr>
        <p:spPr>
          <a:xfrm>
            <a:off x="582178" y="1387914"/>
            <a:ext cx="4624340" cy="4595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course mainly focuses on the slides.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Three main reference books for our courses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Computer Arch - Bible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智能计算系统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计算所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Processing of Deep Neural Networks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E836F8-0D78-DDEB-727B-CEB6D77F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431" y="1706059"/>
            <a:ext cx="2341324" cy="2890523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2FB2D-79C8-0B54-4327-0A4CF99E042A}"/>
              </a:ext>
            </a:extLst>
          </p:cNvPr>
          <p:cNvSpPr txBox="1">
            <a:spLocks/>
          </p:cNvSpPr>
          <p:nvPr/>
        </p:nvSpPr>
        <p:spPr>
          <a:xfrm>
            <a:off x="582178" y="5489036"/>
            <a:ext cx="9114143" cy="6582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FangSong" panose="02010609060101010101" pitchFamily="49" charset="-122"/>
                <a:cs typeface="Arial" panose="020B0604020202020204" pitchFamily="34" charset="0"/>
              </a:rPr>
              <a:t>The</a:t>
            </a:r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FangSong" panose="02010609060101010101" pitchFamily="49" charset="-122"/>
                <a:cs typeface="Arial" panose="020B0604020202020204" pitchFamily="34" charset="0"/>
              </a:rPr>
              <a:t>se</a:t>
            </a:r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FangSong" panose="02010609060101010101" pitchFamily="49" charset="-122"/>
                <a:cs typeface="Arial" panose="020B0604020202020204" pitchFamily="34" charset="0"/>
              </a:rPr>
              <a:t> three books are very expensive, but mos</a:t>
            </a:r>
            <a:r>
              <a:rPr lang="en-US" sz="2400" i="1" kern="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FangSong" panose="02010609060101010101" pitchFamily="49" charset="-122"/>
                <a:cs typeface="Arial" panose="020B0604020202020204" pitchFamily="34" charset="0"/>
              </a:rPr>
              <a:t>t of tutorial video material can be obtained from the Internet.</a:t>
            </a:r>
            <a:endParaRPr lang="en-CN" sz="2400" i="1" kern="100" dirty="0"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4" name="图片 4">
            <a:extLst>
              <a:ext uri="{FF2B5EF4-FFF2-40B4-BE49-F238E27FC236}">
                <a16:creationId xmlns:a16="http://schemas.microsoft.com/office/drawing/2014/main" id="{3B076414-867E-72E1-3D9C-1A8E1C46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929" y="1093343"/>
            <a:ext cx="2355241" cy="2890523"/>
          </a:xfrm>
          <a:prstGeom prst="rect">
            <a:avLst/>
          </a:prstGeom>
        </p:spPr>
      </p:pic>
      <p:pic>
        <p:nvPicPr>
          <p:cNvPr id="4" name="图片 3" descr="图片包含 应用程序&#10;&#10;AI 生成的内容可能不正确。">
            <a:extLst>
              <a:ext uri="{FF2B5EF4-FFF2-40B4-BE49-F238E27FC236}">
                <a16:creationId xmlns:a16="http://schemas.microsoft.com/office/drawing/2014/main" id="{39C92DA7-3ED5-3C06-5C76-04ED01517B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91910" y="3072686"/>
            <a:ext cx="2073266" cy="26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7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E847A-E0A6-08A0-1758-396AB0BD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Contents,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Exam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353772-A91E-DB68-3C01-1883EBEBE7D8}"/>
              </a:ext>
            </a:extLst>
          </p:cNvPr>
          <p:cNvSpPr txBox="1">
            <a:spLocks/>
          </p:cNvSpPr>
          <p:nvPr/>
        </p:nvSpPr>
        <p:spPr>
          <a:xfrm>
            <a:off x="278399" y="1161535"/>
            <a:ext cx="11628256" cy="5559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slitted into 3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Modules: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AI basics (3 lectures): introduction and AI algorithm and frameworks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Hardware Part (8 lecture): mainly computing architecture for AI chips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Software &amp; System Part (3 lecture): how to deploy an AI model onto your chip(s)</a:t>
            </a: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Score: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	  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Attendance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+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Presentation and Experimental Report </a:t>
            </a:r>
            <a:b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+ 50% Final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Final Project:  Build a NPU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Accelerator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with simple compiler according to the course contents:</a:t>
            </a:r>
          </a:p>
          <a:p>
            <a:pPr marL="457200" lvl="1" indent="0"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Score = 0.2*Model Accuracy + 0.4*Latency + 0.4*Energy Efficiency</a:t>
            </a:r>
          </a:p>
        </p:txBody>
      </p:sp>
    </p:spTree>
    <p:extLst>
      <p:ext uri="{BB962C8B-B14F-4D97-AF65-F5344CB8AC3E}">
        <p14:creationId xmlns:p14="http://schemas.microsoft.com/office/powerpoint/2010/main" val="247369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7ACB7-62BB-052F-C652-DA27EE57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FC9A-FDDA-935B-D463-7543AE63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Electronic Computer: Before Integrated Circuits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52647-E859-F4A7-4662-810E4002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In the 1940s, to compute the correct angles hitting targets accurately, the first electronic computer based on vacuum tubes was developed in the United States.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In the 1950s and 1960s, the use of computers expanded from military applications to commercial use, with vacuum tubes gradually replaced by transistors.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CE685CBA-5830-9BCA-B30D-284063F7A4E9}"/>
              </a:ext>
            </a:extLst>
          </p:cNvPr>
          <p:cNvSpPr/>
          <p:nvPr/>
        </p:nvSpPr>
        <p:spPr>
          <a:xfrm>
            <a:off x="506642" y="5408737"/>
            <a:ext cx="16480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</a:t>
            </a:r>
            <a:r>
              <a:rPr kumimoji="0" lang="en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acuum</a:t>
            </a:r>
            <a:r>
              <a:rPr kumimoji="0" lang="en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tubes</a:t>
            </a:r>
            <a:endParaRPr lang="en-US" altLang="zh-CN" sz="2000" b="1" dirty="0">
              <a:ln w="0"/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50cm</a:t>
            </a:r>
            <a:r>
              <a:rPr kumimoji="0" lang="en-US" altLang="zh-CN" sz="2000" b="1" i="0" u="none" strike="noStrike" kern="1200" cap="none" spc="0" normalizeH="0" baseline="3000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3</a:t>
            </a:r>
          </a:p>
        </p:txBody>
      </p:sp>
      <p:pic>
        <p:nvPicPr>
          <p:cNvPr id="5" name="图片 14">
            <a:extLst>
              <a:ext uri="{FF2B5EF4-FFF2-40B4-BE49-F238E27FC236}">
                <a16:creationId xmlns:a16="http://schemas.microsoft.com/office/drawing/2014/main" id="{0896F847-E23E-0430-8DAE-E984A7E1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65" y="3086483"/>
            <a:ext cx="1543424" cy="2211344"/>
          </a:xfrm>
          <a:prstGeom prst="rect">
            <a:avLst/>
          </a:prstGeom>
        </p:spPr>
      </p:pic>
      <p:pic>
        <p:nvPicPr>
          <p:cNvPr id="6" name="Picture 6" descr="晶体管的起源|晶体管|真空管|贝尔实验室_新浪新闻">
            <a:extLst>
              <a:ext uri="{FF2B5EF4-FFF2-40B4-BE49-F238E27FC236}">
                <a16:creationId xmlns:a16="http://schemas.microsoft.com/office/drawing/2014/main" id="{D39A8A34-FE4C-4C7B-27DB-2FBB6FB36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" r="2059"/>
          <a:stretch/>
        </p:blipFill>
        <p:spPr bwMode="auto">
          <a:xfrm>
            <a:off x="2260180" y="3089537"/>
            <a:ext cx="2839036" cy="220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8">
            <a:extLst>
              <a:ext uri="{FF2B5EF4-FFF2-40B4-BE49-F238E27FC236}">
                <a16:creationId xmlns:a16="http://schemas.microsoft.com/office/drawing/2014/main" id="{5A54A5E4-A921-D05A-AABA-4AA2AAF2DB40}"/>
              </a:ext>
            </a:extLst>
          </p:cNvPr>
          <p:cNvSpPr/>
          <p:nvPr/>
        </p:nvSpPr>
        <p:spPr>
          <a:xfrm>
            <a:off x="1895977" y="5408736"/>
            <a:ext cx="35674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First Electronic 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Computer ENIAC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17468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385FLOPS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下箭头 5">
            <a:extLst>
              <a:ext uri="{FF2B5EF4-FFF2-40B4-BE49-F238E27FC236}">
                <a16:creationId xmlns:a16="http://schemas.microsoft.com/office/drawing/2014/main" id="{4A6F144C-2A59-C797-D77D-53A3E6F36FCA}"/>
              </a:ext>
            </a:extLst>
          </p:cNvPr>
          <p:cNvSpPr/>
          <p:nvPr/>
        </p:nvSpPr>
        <p:spPr>
          <a:xfrm rot="16200000">
            <a:off x="5555058" y="3778975"/>
            <a:ext cx="569178" cy="826358"/>
          </a:xfrm>
          <a:prstGeom prst="downArrow">
            <a:avLst>
              <a:gd name="adj1" fmla="val 50462"/>
              <a:gd name="adj2" fmla="val 75215"/>
            </a:avLst>
          </a:prstGeom>
          <a:gradFill>
            <a:gsLst>
              <a:gs pos="0">
                <a:srgbClr val="4F81BD">
                  <a:lumMod val="0"/>
                  <a:lumOff val="100000"/>
                </a:srgbClr>
              </a:gs>
              <a:gs pos="83000">
                <a:srgbClr val="4F81BD">
                  <a:lumMod val="63000"/>
                  <a:lumOff val="37000"/>
                </a:srgbClr>
              </a:gs>
              <a:gs pos="100000">
                <a:srgbClr val="4F81BD"/>
              </a:gs>
            </a:gsLst>
            <a:lin ang="540000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DCB9FA37-2FE4-71F9-3FBB-5956E7479F38}"/>
              </a:ext>
            </a:extLst>
          </p:cNvPr>
          <p:cNvSpPr/>
          <p:nvPr/>
        </p:nvSpPr>
        <p:spPr>
          <a:xfrm>
            <a:off x="5909444" y="5411023"/>
            <a:ext cx="22350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Ge. Transistor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73cm</a:t>
            </a:r>
            <a:r>
              <a:rPr kumimoji="0" lang="en-US" altLang="zh-CN" sz="2000" b="1" i="0" u="none" strike="noStrike" kern="1200" cap="none" spc="0" normalizeH="0" baseline="3000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dirty="0">
              <a:ln w="0"/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5</a:t>
            </a:r>
            <a:r>
              <a:rPr lang="en-US" altLang="zh-CN" sz="2000" b="1" dirty="0">
                <a:ln w="0"/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Transistors</a:t>
            </a:r>
            <a:endParaRPr kumimoji="0" lang="en-US" altLang="zh-CN" sz="2000" b="1" i="0" u="none" strike="noStrike" kern="1200" cap="none" spc="0" normalizeH="0" baseline="0" noProof="0" dirty="0">
              <a:ln w="0"/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0" name="图片 2">
            <a:extLst>
              <a:ext uri="{FF2B5EF4-FFF2-40B4-BE49-F238E27FC236}">
                <a16:creationId xmlns:a16="http://schemas.microsoft.com/office/drawing/2014/main" id="{92E7724E-2BD5-6E76-504C-46E88ED3D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947" y="3086482"/>
            <a:ext cx="2958320" cy="2211344"/>
          </a:xfrm>
          <a:prstGeom prst="rect">
            <a:avLst/>
          </a:prstGeom>
        </p:spPr>
      </p:pic>
      <p:pic>
        <p:nvPicPr>
          <p:cNvPr id="11" name="图片 3">
            <a:extLst>
              <a:ext uri="{FF2B5EF4-FFF2-40B4-BE49-F238E27FC236}">
                <a16:creationId xmlns:a16="http://schemas.microsoft.com/office/drawing/2014/main" id="{95EB6D7D-1C26-689E-7960-02B2F5676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687" y="4192154"/>
            <a:ext cx="1402016" cy="1051512"/>
          </a:xfrm>
          <a:prstGeom prst="rect">
            <a:avLst/>
          </a:prstGeom>
        </p:spPr>
      </p:pic>
      <p:pic>
        <p:nvPicPr>
          <p:cNvPr id="12" name="Picture 4" descr="Transistors | Germanium Transistors | NTE Electronics">
            <a:extLst>
              <a:ext uri="{FF2B5EF4-FFF2-40B4-BE49-F238E27FC236}">
                <a16:creationId xmlns:a16="http://schemas.microsoft.com/office/drawing/2014/main" id="{36ED1563-178D-30EA-C66B-DFE15634B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749" y="3086482"/>
            <a:ext cx="1354603" cy="147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8">
            <a:extLst>
              <a:ext uri="{FF2B5EF4-FFF2-40B4-BE49-F238E27FC236}">
                <a16:creationId xmlns:a16="http://schemas.microsoft.com/office/drawing/2014/main" id="{32748592-2936-7188-2E6F-5F0FD2C352DE}"/>
              </a:ext>
            </a:extLst>
          </p:cNvPr>
          <p:cNvSpPr/>
          <p:nvPr/>
        </p:nvSpPr>
        <p:spPr>
          <a:xfrm>
            <a:off x="7853679" y="5408735"/>
            <a:ext cx="417877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First Commercial </a:t>
            </a:r>
            <a:b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</a:b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Transistor Computer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50000</a:t>
            </a:r>
            <a:r>
              <a:rPr lang="en-US" altLang="zh-CN" sz="2000" b="1" dirty="0">
                <a:ln w="0"/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+ Trans. </a:t>
            </a:r>
            <a:r>
              <a:rPr kumimoji="0" lang="en-US" altLang="zh-CN" sz="20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100KFLOPS</a:t>
            </a:r>
          </a:p>
        </p:txBody>
      </p:sp>
    </p:spTree>
    <p:extLst>
      <p:ext uri="{BB962C8B-B14F-4D97-AF65-F5344CB8AC3E}">
        <p14:creationId xmlns:p14="http://schemas.microsoft.com/office/powerpoint/2010/main" val="100935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6DB4-BFD9-D2C1-27CB-0C8B5890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E6F5-2386-32A8-9A68-9D69B8FA9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Electronic Computer: First CPU IC Intel 4004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D52F4-C36B-80C3-683F-32CADC87C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the 1970s, </a:t>
            </a:r>
            <a:r>
              <a:rPr lang="en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Busicom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a Japanese company, commissioned Intel to design the 4004 chip, a 4-bit CPU,  for a general-purpose desktop printing calculator.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Intel 4004, fabricated using a 10</a:t>
            </a:r>
            <a:r>
              <a:rPr lang="el-GR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 process, integrated 2,300 transistors within 12mm², achieving 60KOPS performance .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CE05A27-803D-9AAE-F371-95F8D2E34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72" y="3049939"/>
            <a:ext cx="2999188" cy="220063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098420B-978C-2486-BE3D-1A70D371616A}"/>
              </a:ext>
            </a:extLst>
          </p:cNvPr>
          <p:cNvSpPr txBox="1"/>
          <p:nvPr/>
        </p:nvSpPr>
        <p:spPr>
          <a:xfrm>
            <a:off x="593121" y="5731517"/>
            <a:ext cx="44187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First Commercial Computing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Chips (CPU): Intel 4004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E7435061-18FF-7C6C-4EB5-6E0D4819CA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18" t="11378" r="18338" b="9856"/>
          <a:stretch/>
        </p:blipFill>
        <p:spPr bwMode="auto">
          <a:xfrm rot="216318">
            <a:off x="3024970" y="4079670"/>
            <a:ext cx="2371614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28">
            <a:extLst>
              <a:ext uri="{FF2B5EF4-FFF2-40B4-BE49-F238E27FC236}">
                <a16:creationId xmlns:a16="http://schemas.microsoft.com/office/drawing/2014/main" id="{FC2D3C18-C728-A2F3-BC58-4F76C66F7FCC}"/>
              </a:ext>
            </a:extLst>
          </p:cNvPr>
          <p:cNvSpPr/>
          <p:nvPr/>
        </p:nvSpPr>
        <p:spPr>
          <a:xfrm>
            <a:off x="5177093" y="5731517"/>
            <a:ext cx="28235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Enhance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PMOS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Load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Logic Gates</a:t>
            </a:r>
            <a:endParaRPr kumimoji="0" lang="en-US" altLang="zh-CN" sz="2000" b="1" i="0" u="none" strike="noStrike" kern="1200" cap="none" spc="0" normalizeH="0" baseline="30000" noProof="0" dirty="0">
              <a:ln w="0"/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8" name="Picture 2" descr="https://uploader.shimo.im/f/nnwOnp3OI8MoyBxd.png!thumbnail">
            <a:extLst>
              <a:ext uri="{FF2B5EF4-FFF2-40B4-BE49-F238E27FC236}">
                <a16:creationId xmlns:a16="http://schemas.microsoft.com/office/drawing/2014/main" id="{A1AEE131-63C4-9089-007D-BE0115C2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237" y="2711424"/>
            <a:ext cx="4143765" cy="287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28">
            <a:extLst>
              <a:ext uri="{FF2B5EF4-FFF2-40B4-BE49-F238E27FC236}">
                <a16:creationId xmlns:a16="http://schemas.microsoft.com/office/drawing/2014/main" id="{21CDD60E-AA01-4A6B-D10B-4B8BFA81E19C}"/>
              </a:ext>
            </a:extLst>
          </p:cNvPr>
          <p:cNvSpPr/>
          <p:nvPr/>
        </p:nvSpPr>
        <p:spPr>
          <a:xfrm>
            <a:off x="8760769" y="5731517"/>
            <a:ext cx="31148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4004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Arch: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Reg File/ALU/Bus/…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DE595133-91FE-C306-98C5-2717B8F87D1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1115" r="12483" b="16759"/>
          <a:stretch/>
        </p:blipFill>
        <p:spPr>
          <a:xfrm>
            <a:off x="5591556" y="2913129"/>
            <a:ext cx="2138826" cy="287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63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EDF0-7182-B9CC-F138-8D153826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91F8-3583-9554-350A-CA074321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Electronic Computer: First CPU Chip -- Intel 4004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1607-CBAF-B016-74C3-C8115AAB2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Moore's Law: The number of transistors on integrated circuits doubles approximately every two years with finer and finer lithography technology.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Light sources progressed from mercury lamps (G/I line) to KrF, ArF DUV, enabling shrinkage from micrometers to 100nm, now moving toward EUV.</a:t>
            </a:r>
          </a:p>
        </p:txBody>
      </p:sp>
      <p:pic>
        <p:nvPicPr>
          <p:cNvPr id="4" name="Picture 2" descr="Moore's Law is coming to an end - PhoneArena">
            <a:extLst>
              <a:ext uri="{FF2B5EF4-FFF2-40B4-BE49-F238E27FC236}">
                <a16:creationId xmlns:a16="http://schemas.microsoft.com/office/drawing/2014/main" id="{7EE24041-F4CE-E1B6-EE62-FC8CA957E5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" t="2034" r="2370" b="2258"/>
          <a:stretch/>
        </p:blipFill>
        <p:spPr bwMode="auto">
          <a:xfrm>
            <a:off x="140177" y="3065007"/>
            <a:ext cx="5440292" cy="345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A96EABD-9BB1-513A-D0AB-B3B7ECE7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441" y="2939061"/>
            <a:ext cx="6920023" cy="366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7B33-3DAB-BC95-8F99-3C1D3E70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ECBA-B94D-5376-409A-60E44DC1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Dennard Scaling and Its Impact on Computing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BD19-4748-E8FF-DA62-BB07BBC17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Dennard Scaling: As technology shrinks from 10 to 0.13</a:t>
            </a:r>
            <a:r>
              <a:rPr lang="el-GR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m, power density remains constant, enabling increased CPU complexity, from 4-bit to 64-bit, with pipeline, cache, superscalar, multiple/out-of-order issue etc.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412747-AE1F-D451-D7AE-BBB0246B3F78}"/>
              </a:ext>
            </a:extLst>
          </p:cNvPr>
          <p:cNvSpPr txBox="1"/>
          <p:nvPr/>
        </p:nvSpPr>
        <p:spPr>
          <a:xfrm>
            <a:off x="587131" y="5790791"/>
            <a:ext cx="42454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kern="1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Happy</a:t>
            </a:r>
            <a:r>
              <a:rPr lang="en-US" altLang="zh-CN" sz="2000" b="1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Constant Field Scaling</a:t>
            </a:r>
            <a:br>
              <a:rPr lang="en-US" altLang="zh-CN" sz="2000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000" kern="1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(Dennard Scaling)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8B5CF24-086A-1B12-F188-37080B8032E6}"/>
              </a:ext>
            </a:extLst>
          </p:cNvPr>
          <p:cNvGraphicFramePr>
            <a:graphicFrameLocks noGrp="1"/>
          </p:cNvGraphicFramePr>
          <p:nvPr/>
        </p:nvGraphicFramePr>
        <p:xfrm>
          <a:off x="597280" y="2473201"/>
          <a:ext cx="4245407" cy="33498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115">
                  <a:extLst>
                    <a:ext uri="{9D8B030D-6E8A-4147-A177-3AD203B41FA5}">
                      <a16:colId xmlns:a16="http://schemas.microsoft.com/office/drawing/2014/main" val="3462909079"/>
                    </a:ext>
                  </a:extLst>
                </a:gridCol>
                <a:gridCol w="2097292">
                  <a:extLst>
                    <a:ext uri="{9D8B030D-6E8A-4147-A177-3AD203B41FA5}">
                      <a16:colId xmlns:a16="http://schemas.microsoft.com/office/drawing/2014/main" val="2810434575"/>
                    </a:ext>
                  </a:extLst>
                </a:gridCol>
              </a:tblGrid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Parameter</a:t>
                      </a:r>
                      <a:endParaRPr lang="en-US" sz="20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Scaling Factor</a:t>
                      </a:r>
                      <a:endParaRPr lang="en-US" sz="2000" b="1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622641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Gate Length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649088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Oxide Cap.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458175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Power Supply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272614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Saturation Current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932570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Power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r>
                        <a:rPr lang="en-US" sz="1800" b="1" u="none" strike="noStrike" baseline="30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lang="en-US" sz="1800" b="1" i="0" u="none" strike="noStrike" baseline="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814897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Intrinsic Delay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1/k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585071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baseline="0" dirty="0"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Transistor Density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800" b="1" u="none" strike="noStrike" baseline="30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lang="en-US" sz="1800" b="1" i="0" u="none" strike="noStrike" baseline="300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228654"/>
                  </a:ext>
                </a:extLst>
              </a:tr>
              <a:tr h="3722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Power Density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800" b="1" i="0" u="none" strike="noStrike" baseline="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14823"/>
                  </a:ext>
                </a:extLst>
              </a:tr>
            </a:tbl>
          </a:graphicData>
        </a:graphic>
      </p:graphicFrame>
      <p:pic>
        <p:nvPicPr>
          <p:cNvPr id="7" name="Picture 2">
            <a:extLst>
              <a:ext uri="{FF2B5EF4-FFF2-40B4-BE49-F238E27FC236}">
                <a16:creationId xmlns:a16="http://schemas.microsoft.com/office/drawing/2014/main" id="{47C7E366-E85E-EE84-CEAD-2232CA599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507" y="2543894"/>
            <a:ext cx="1517581" cy="1281113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CA8564E-A55B-CB9F-A721-DAD5D2CABBC9}"/>
              </a:ext>
            </a:extLst>
          </p:cNvPr>
          <p:cNvSpPr txBox="1"/>
          <p:nvPr/>
        </p:nvSpPr>
        <p:spPr>
          <a:xfrm>
            <a:off x="5008450" y="3825007"/>
            <a:ext cx="1609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Intel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8080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-bi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6μm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Picture 10">
            <a:extLst>
              <a:ext uri="{FF2B5EF4-FFF2-40B4-BE49-F238E27FC236}">
                <a16:creationId xmlns:a16="http://schemas.microsoft.com/office/drawing/2014/main" id="{8353A0F0-96D0-2D29-98E8-AEDD81E2F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494" y="2443297"/>
            <a:ext cx="1504950" cy="13462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0FF361FC-BB5F-F346-F222-44887FE1BED0}"/>
              </a:ext>
            </a:extLst>
          </p:cNvPr>
          <p:cNvSpPr txBox="1"/>
          <p:nvPr/>
        </p:nvSpPr>
        <p:spPr>
          <a:xfrm>
            <a:off x="6511699" y="3800370"/>
            <a:ext cx="2095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Intel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80286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16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-bit 1.5μm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CBD5A794-0534-215C-589E-BA2C5DF7AE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950"/>
          <a:stretch/>
        </p:blipFill>
        <p:spPr>
          <a:xfrm>
            <a:off x="8500787" y="2485598"/>
            <a:ext cx="1553782" cy="1373069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ED36A692-743C-D189-65C8-F22931B12487}"/>
              </a:ext>
            </a:extLst>
          </p:cNvPr>
          <p:cNvSpPr txBox="1"/>
          <p:nvPr/>
        </p:nvSpPr>
        <p:spPr>
          <a:xfrm>
            <a:off x="8392184" y="3800370"/>
            <a:ext cx="18445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80386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b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-bit1μm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Picture 16">
            <a:extLst>
              <a:ext uri="{FF2B5EF4-FFF2-40B4-BE49-F238E27FC236}">
                <a16:creationId xmlns:a16="http://schemas.microsoft.com/office/drawing/2014/main" id="{C2EF9427-E7D5-CE35-2AA9-0703ACC89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6605" y="2448126"/>
            <a:ext cx="1359731" cy="1359731"/>
          </a:xfrm>
          <a:prstGeom prst="rect">
            <a:avLst/>
          </a:prstGeom>
        </p:spPr>
      </p:pic>
      <p:sp>
        <p:nvSpPr>
          <p:cNvPr id="14" name="TextBox 17">
            <a:extLst>
              <a:ext uri="{FF2B5EF4-FFF2-40B4-BE49-F238E27FC236}">
                <a16:creationId xmlns:a16="http://schemas.microsoft.com/office/drawing/2014/main" id="{16058B8B-B697-1CB6-D9CF-4662902B1BC3}"/>
              </a:ext>
            </a:extLst>
          </p:cNvPr>
          <p:cNvSpPr txBox="1"/>
          <p:nvPr/>
        </p:nvSpPr>
        <p:spPr>
          <a:xfrm>
            <a:off x="10085935" y="3800370"/>
            <a:ext cx="2095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AMD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Athlon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64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-bit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0.13 </a:t>
            </a:r>
            <a:r>
              <a:rPr lang="en-US" altLang="zh-CN" sz="2000" b="1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μm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Picture 19">
            <a:extLst>
              <a:ext uri="{FF2B5EF4-FFF2-40B4-BE49-F238E27FC236}">
                <a16:creationId xmlns:a16="http://schemas.microsoft.com/office/drawing/2014/main" id="{4B7329CC-22FC-775E-3247-74D116065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819" y="4557530"/>
            <a:ext cx="3296140" cy="1896165"/>
          </a:xfrm>
          <a:prstGeom prst="rect">
            <a:avLst/>
          </a:prstGeom>
        </p:spPr>
      </p:pic>
      <p:sp>
        <p:nvSpPr>
          <p:cNvPr id="16" name="TextBox 20">
            <a:extLst>
              <a:ext uri="{FF2B5EF4-FFF2-40B4-BE49-F238E27FC236}">
                <a16:creationId xmlns:a16="http://schemas.microsoft.com/office/drawing/2014/main" id="{38A3446E-A75E-4F70-E86E-DEFC77D3AFB3}"/>
              </a:ext>
            </a:extLst>
          </p:cNvPr>
          <p:cNvSpPr txBox="1"/>
          <p:nvPr/>
        </p:nvSpPr>
        <p:spPr>
          <a:xfrm>
            <a:off x="5176372" y="4549296"/>
            <a:ext cx="1636854" cy="71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prstClr val="black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Superscalar</a:t>
            </a:r>
          </a:p>
          <a:p>
            <a:pPr algn="ctr"/>
            <a:r>
              <a:rPr lang="en-US" sz="2000" dirty="0">
                <a:solidFill>
                  <a:prstClr val="black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Pipeline</a:t>
            </a:r>
          </a:p>
        </p:txBody>
      </p:sp>
      <p:pic>
        <p:nvPicPr>
          <p:cNvPr id="17" name="Picture 22">
            <a:extLst>
              <a:ext uri="{FF2B5EF4-FFF2-40B4-BE49-F238E27FC236}">
                <a16:creationId xmlns:a16="http://schemas.microsoft.com/office/drawing/2014/main" id="{60BC15A1-8B9F-F7DC-E535-084B175B29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6615" y="4752124"/>
            <a:ext cx="1494957" cy="1583615"/>
          </a:xfrm>
          <a:prstGeom prst="rect">
            <a:avLst/>
          </a:prstGeom>
        </p:spPr>
      </p:pic>
      <p:sp>
        <p:nvSpPr>
          <p:cNvPr id="18" name="下箭头 5">
            <a:extLst>
              <a:ext uri="{FF2B5EF4-FFF2-40B4-BE49-F238E27FC236}">
                <a16:creationId xmlns:a16="http://schemas.microsoft.com/office/drawing/2014/main" id="{375A8683-A915-471C-221B-76517CDBDFDF}"/>
              </a:ext>
            </a:extLst>
          </p:cNvPr>
          <p:cNvSpPr/>
          <p:nvPr/>
        </p:nvSpPr>
        <p:spPr>
          <a:xfrm>
            <a:off x="9184521" y="4482077"/>
            <a:ext cx="294916" cy="493226"/>
          </a:xfrm>
          <a:prstGeom prst="downArrow">
            <a:avLst>
              <a:gd name="adj1" fmla="val 50462"/>
              <a:gd name="adj2" fmla="val 75215"/>
            </a:avLst>
          </a:prstGeom>
          <a:gradFill>
            <a:gsLst>
              <a:gs pos="0">
                <a:srgbClr val="4F81BD">
                  <a:lumMod val="0"/>
                  <a:lumOff val="100000"/>
                </a:srgbClr>
              </a:gs>
              <a:gs pos="83000">
                <a:srgbClr val="4F81BD">
                  <a:lumMod val="63000"/>
                  <a:lumOff val="37000"/>
                </a:srgbClr>
              </a:gs>
              <a:gs pos="100000">
                <a:srgbClr val="4F81BD"/>
              </a:gs>
            </a:gsLst>
            <a:lin ang="5400000" scaled="1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F8F64AD4-7D75-8E9D-378C-B530A492B25C}"/>
              </a:ext>
            </a:extLst>
          </p:cNvPr>
          <p:cNvSpPr txBox="1"/>
          <p:nvPr/>
        </p:nvSpPr>
        <p:spPr>
          <a:xfrm>
            <a:off x="10296488" y="5012300"/>
            <a:ext cx="1731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Intel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80386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First on-chip Cache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16kB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F3951078-C308-7D0C-9B2C-44D826663752}"/>
              </a:ext>
            </a:extLst>
          </p:cNvPr>
          <p:cNvSpPr/>
          <p:nvPr/>
        </p:nvSpPr>
        <p:spPr>
          <a:xfrm>
            <a:off x="8607176" y="4873988"/>
            <a:ext cx="304863" cy="7861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21" name="Straight Connector 27">
            <a:extLst>
              <a:ext uri="{FF2B5EF4-FFF2-40B4-BE49-F238E27FC236}">
                <a16:creationId xmlns:a16="http://schemas.microsoft.com/office/drawing/2014/main" id="{EE0373AB-3CE9-36DA-107F-30DCBBC5C5F6}"/>
              </a:ext>
            </a:extLst>
          </p:cNvPr>
          <p:cNvCxnSpPr/>
          <p:nvPr/>
        </p:nvCxnSpPr>
        <p:spPr>
          <a:xfrm>
            <a:off x="8902092" y="5660156"/>
            <a:ext cx="1374098" cy="162872"/>
          </a:xfrm>
          <a:prstGeom prst="lin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50878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4C97-F0AC-1677-E69C-88C19C6D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BF54-3C7F-1618-4294-3740488F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N">
                <a:latin typeface="Arial" panose="020B0604020202020204" pitchFamily="34" charset="0"/>
                <a:cs typeface="Arial" panose="020B0604020202020204" pitchFamily="34" charset="0"/>
              </a:rPr>
              <a:t>Scaling Down of Advanced Transistors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DF69A-C06B-981B-0077-95F69C32C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14115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Transistor scaling from </a:t>
            </a:r>
            <a:r>
              <a:rPr lang="en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FinFET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GAA enables higher device density and better electrostatic control, boosting the gates count thus compute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CFET further shrinks after GAA by stacking n/</a:t>
            </a:r>
            <a:r>
              <a:rPr lang="en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pFET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vertically.</a:t>
            </a:r>
          </a:p>
          <a:p>
            <a:endParaRPr lang="en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EBE2BA-1BC2-CE49-F22D-C4D6B54618E0}"/>
              </a:ext>
            </a:extLst>
          </p:cNvPr>
          <p:cNvSpPr txBox="1"/>
          <p:nvPr/>
        </p:nvSpPr>
        <p:spPr>
          <a:xfrm>
            <a:off x="894658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2003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282C75-BAA3-176F-9251-1BCD6E3CE2D5}"/>
              </a:ext>
            </a:extLst>
          </p:cNvPr>
          <p:cNvSpPr txBox="1"/>
          <p:nvPr/>
        </p:nvSpPr>
        <p:spPr>
          <a:xfrm>
            <a:off x="2068739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2005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CD40A1-6AE1-D9C5-0748-D2F8419658D2}"/>
              </a:ext>
            </a:extLst>
          </p:cNvPr>
          <p:cNvSpPr txBox="1"/>
          <p:nvPr/>
        </p:nvSpPr>
        <p:spPr>
          <a:xfrm>
            <a:off x="3250521" y="2871218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2007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CD034BF-BD71-E13A-7E3C-1B9E4659353B}"/>
              </a:ext>
            </a:extLst>
          </p:cNvPr>
          <p:cNvSpPr txBox="1"/>
          <p:nvPr/>
        </p:nvSpPr>
        <p:spPr>
          <a:xfrm>
            <a:off x="4415068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2009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47E6C36-43C1-EE4E-5DC5-B7C562ED897C}"/>
              </a:ext>
            </a:extLst>
          </p:cNvPr>
          <p:cNvSpPr txBox="1"/>
          <p:nvPr/>
        </p:nvSpPr>
        <p:spPr>
          <a:xfrm>
            <a:off x="5603683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938662-BE7A-1BBD-E2EF-A74A7736A6B8}"/>
              </a:ext>
            </a:extLst>
          </p:cNvPr>
          <p:cNvSpPr txBox="1"/>
          <p:nvPr/>
        </p:nvSpPr>
        <p:spPr>
          <a:xfrm>
            <a:off x="6744490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2014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7E77C6-944C-4C77-D9B5-79A8089F0628}"/>
              </a:ext>
            </a:extLst>
          </p:cNvPr>
          <p:cNvSpPr txBox="1"/>
          <p:nvPr/>
        </p:nvSpPr>
        <p:spPr>
          <a:xfrm>
            <a:off x="7953288" y="2868921"/>
            <a:ext cx="6399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2020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8" name="任意多边形 122">
            <a:extLst>
              <a:ext uri="{FF2B5EF4-FFF2-40B4-BE49-F238E27FC236}">
                <a16:creationId xmlns:a16="http://schemas.microsoft.com/office/drawing/2014/main" id="{21F90D1C-8C98-3105-D477-C9B4B4FB3477}"/>
              </a:ext>
            </a:extLst>
          </p:cNvPr>
          <p:cNvSpPr/>
          <p:nvPr/>
        </p:nvSpPr>
        <p:spPr>
          <a:xfrm>
            <a:off x="448177" y="3202560"/>
            <a:ext cx="10442493" cy="173073"/>
          </a:xfrm>
          <a:custGeom>
            <a:avLst/>
            <a:gdLst>
              <a:gd name="connsiteX0" fmla="*/ 7637430 w 8228153"/>
              <a:gd name="connsiteY0" fmla="*/ 41027 h 164108"/>
              <a:gd name="connsiteX1" fmla="*/ 7787178 w 8228153"/>
              <a:gd name="connsiteY1" fmla="*/ 41027 h 164108"/>
              <a:gd name="connsiteX2" fmla="*/ 7787178 w 8228153"/>
              <a:gd name="connsiteY2" fmla="*/ 123081 h 164108"/>
              <a:gd name="connsiteX3" fmla="*/ 7637430 w 8228153"/>
              <a:gd name="connsiteY3" fmla="*/ 123081 h 164108"/>
              <a:gd name="connsiteX4" fmla="*/ 7344553 w 8228153"/>
              <a:gd name="connsiteY4" fmla="*/ 41027 h 164108"/>
              <a:gd name="connsiteX5" fmla="*/ 7494302 w 8228153"/>
              <a:gd name="connsiteY5" fmla="*/ 41027 h 164108"/>
              <a:gd name="connsiteX6" fmla="*/ 7494302 w 8228153"/>
              <a:gd name="connsiteY6" fmla="*/ 123081 h 164108"/>
              <a:gd name="connsiteX7" fmla="*/ 7344553 w 8228153"/>
              <a:gd name="connsiteY7" fmla="*/ 123081 h 164108"/>
              <a:gd name="connsiteX8" fmla="*/ 0 w 8228153"/>
              <a:gd name="connsiteY8" fmla="*/ 41027 h 164108"/>
              <a:gd name="connsiteX9" fmla="*/ 7201425 w 8228153"/>
              <a:gd name="connsiteY9" fmla="*/ 41027 h 164108"/>
              <a:gd name="connsiteX10" fmla="*/ 7201425 w 8228153"/>
              <a:gd name="connsiteY10" fmla="*/ 123081 h 164108"/>
              <a:gd name="connsiteX11" fmla="*/ 0 w 8228153"/>
              <a:gd name="connsiteY11" fmla="*/ 123081 h 164108"/>
              <a:gd name="connsiteX12" fmla="*/ 8146099 w 8228153"/>
              <a:gd name="connsiteY12" fmla="*/ 0 h 164108"/>
              <a:gd name="connsiteX13" fmla="*/ 8228153 w 8228153"/>
              <a:gd name="connsiteY13" fmla="*/ 82054 h 164108"/>
              <a:gd name="connsiteX14" fmla="*/ 8146099 w 8228153"/>
              <a:gd name="connsiteY14" fmla="*/ 164108 h 164108"/>
              <a:gd name="connsiteX15" fmla="*/ 8146099 w 8228153"/>
              <a:gd name="connsiteY15" fmla="*/ 123081 h 164108"/>
              <a:gd name="connsiteX16" fmla="*/ 7930306 w 8228153"/>
              <a:gd name="connsiteY16" fmla="*/ 123081 h 164108"/>
              <a:gd name="connsiteX17" fmla="*/ 7930306 w 8228153"/>
              <a:gd name="connsiteY17" fmla="*/ 41027 h 164108"/>
              <a:gd name="connsiteX18" fmla="*/ 8146099 w 8228153"/>
              <a:gd name="connsiteY18" fmla="*/ 41027 h 164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228153" h="164108">
                <a:moveTo>
                  <a:pt x="7637430" y="41027"/>
                </a:moveTo>
                <a:lnTo>
                  <a:pt x="7787178" y="41027"/>
                </a:lnTo>
                <a:lnTo>
                  <a:pt x="7787178" y="123081"/>
                </a:lnTo>
                <a:lnTo>
                  <a:pt x="7637430" y="123081"/>
                </a:lnTo>
                <a:close/>
                <a:moveTo>
                  <a:pt x="7344553" y="41027"/>
                </a:moveTo>
                <a:lnTo>
                  <a:pt x="7494302" y="41027"/>
                </a:lnTo>
                <a:lnTo>
                  <a:pt x="7494302" y="123081"/>
                </a:lnTo>
                <a:lnTo>
                  <a:pt x="7344553" y="123081"/>
                </a:lnTo>
                <a:close/>
                <a:moveTo>
                  <a:pt x="0" y="41027"/>
                </a:moveTo>
                <a:lnTo>
                  <a:pt x="7201425" y="41027"/>
                </a:lnTo>
                <a:lnTo>
                  <a:pt x="7201425" y="123081"/>
                </a:lnTo>
                <a:lnTo>
                  <a:pt x="0" y="123081"/>
                </a:lnTo>
                <a:close/>
                <a:moveTo>
                  <a:pt x="8146099" y="0"/>
                </a:moveTo>
                <a:lnTo>
                  <a:pt x="8228153" y="82054"/>
                </a:lnTo>
                <a:lnTo>
                  <a:pt x="8146099" y="164108"/>
                </a:lnTo>
                <a:lnTo>
                  <a:pt x="8146099" y="123081"/>
                </a:lnTo>
                <a:lnTo>
                  <a:pt x="7930306" y="123081"/>
                </a:lnTo>
                <a:lnTo>
                  <a:pt x="7930306" y="41027"/>
                </a:lnTo>
                <a:lnTo>
                  <a:pt x="8146099" y="41027"/>
                </a:lnTo>
                <a:close/>
              </a:path>
            </a:pathLst>
          </a:cu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04CD856-986E-EFFA-FEC1-7F39F71D79FA}"/>
              </a:ext>
            </a:extLst>
          </p:cNvPr>
          <p:cNvSpPr/>
          <p:nvPr/>
        </p:nvSpPr>
        <p:spPr>
          <a:xfrm>
            <a:off x="1140002" y="322393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2C64EECE-B428-47D1-B8DA-4478E1151F4B}"/>
              </a:ext>
            </a:extLst>
          </p:cNvPr>
          <p:cNvSpPr/>
          <p:nvPr/>
        </p:nvSpPr>
        <p:spPr>
          <a:xfrm>
            <a:off x="2319327" y="322393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768E395F-880F-DB35-C489-0A6DCFCE10DF}"/>
              </a:ext>
            </a:extLst>
          </p:cNvPr>
          <p:cNvSpPr/>
          <p:nvPr/>
        </p:nvSpPr>
        <p:spPr>
          <a:xfrm>
            <a:off x="3492628" y="3212477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D2B6FD8-4F68-D042-FDCB-6AD6CEB953D5}"/>
              </a:ext>
            </a:extLst>
          </p:cNvPr>
          <p:cNvSpPr/>
          <p:nvPr/>
        </p:nvSpPr>
        <p:spPr>
          <a:xfrm>
            <a:off x="4662052" y="3214838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1597A61-D0BA-5FC3-C130-5FFFAC978762}"/>
              </a:ext>
            </a:extLst>
          </p:cNvPr>
          <p:cNvSpPr/>
          <p:nvPr/>
        </p:nvSpPr>
        <p:spPr>
          <a:xfrm>
            <a:off x="5847120" y="321026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DB0F9E4A-8F10-4403-9A2C-A1D2FCC09404}"/>
              </a:ext>
            </a:extLst>
          </p:cNvPr>
          <p:cNvSpPr/>
          <p:nvPr/>
        </p:nvSpPr>
        <p:spPr>
          <a:xfrm>
            <a:off x="7016544" y="321110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9B1B283-64EC-FF34-90C8-BA8CAA0741F4}"/>
              </a:ext>
            </a:extLst>
          </p:cNvPr>
          <p:cNvSpPr/>
          <p:nvPr/>
        </p:nvSpPr>
        <p:spPr>
          <a:xfrm>
            <a:off x="8194464" y="322393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62B6770-B1B9-8905-4380-F5AE1BDE2A55}"/>
              </a:ext>
            </a:extLst>
          </p:cNvPr>
          <p:cNvSpPr txBox="1"/>
          <p:nvPr/>
        </p:nvSpPr>
        <p:spPr>
          <a:xfrm>
            <a:off x="696060" y="4440290"/>
            <a:ext cx="89247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90nm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B6C5A84-FCCD-F4AA-82D3-FF8AD51A5858}"/>
              </a:ext>
            </a:extLst>
          </p:cNvPr>
          <p:cNvSpPr txBox="1"/>
          <p:nvPr/>
        </p:nvSpPr>
        <p:spPr>
          <a:xfrm>
            <a:off x="2030049" y="4455832"/>
            <a:ext cx="72006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65nm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B86D6EE-63FF-D5A9-0C7C-6AF144E51B07}"/>
              </a:ext>
            </a:extLst>
          </p:cNvPr>
          <p:cNvSpPr txBox="1"/>
          <p:nvPr/>
        </p:nvSpPr>
        <p:spPr>
          <a:xfrm>
            <a:off x="3185607" y="4458129"/>
            <a:ext cx="7200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45nm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55E579A-F67D-F544-B019-797BFD5D1EC6}"/>
              </a:ext>
            </a:extLst>
          </p:cNvPr>
          <p:cNvSpPr txBox="1"/>
          <p:nvPr/>
        </p:nvSpPr>
        <p:spPr>
          <a:xfrm>
            <a:off x="4353823" y="4440290"/>
            <a:ext cx="7200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32nm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C01AD70-5129-4E1B-686F-BDC705FA7FC7}"/>
              </a:ext>
            </a:extLst>
          </p:cNvPr>
          <p:cNvSpPr txBox="1"/>
          <p:nvPr/>
        </p:nvSpPr>
        <p:spPr>
          <a:xfrm>
            <a:off x="5542935" y="4416846"/>
            <a:ext cx="72007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22nm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B18D05E-4108-84BB-D85A-5C09EB5AF3DE}"/>
              </a:ext>
            </a:extLst>
          </p:cNvPr>
          <p:cNvSpPr txBox="1"/>
          <p:nvPr/>
        </p:nvSpPr>
        <p:spPr>
          <a:xfrm>
            <a:off x="6644425" y="4414428"/>
            <a:ext cx="1851969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14nm~3nm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C8464C21-D0A2-1593-D762-9B84E32338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40" r="5140"/>
          <a:stretch>
            <a:fillRect/>
          </a:stretch>
        </p:blipFill>
        <p:spPr>
          <a:xfrm>
            <a:off x="775631" y="3537738"/>
            <a:ext cx="864001" cy="864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63B23849-ABC7-D60E-5716-BE30850BDA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274" t="5480" r="6274"/>
          <a:stretch>
            <a:fillRect/>
          </a:stretch>
        </p:blipFill>
        <p:spPr>
          <a:xfrm>
            <a:off x="1953936" y="3537738"/>
            <a:ext cx="864001" cy="864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6D91FEA-7716-9D99-6063-1D2E832172A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324" r="8324" b="7291"/>
          <a:stretch>
            <a:fillRect/>
          </a:stretch>
        </p:blipFill>
        <p:spPr>
          <a:xfrm>
            <a:off x="4302786" y="3549168"/>
            <a:ext cx="864001" cy="8640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CCA3F65-E742-461F-46B3-C8C129AE48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840" r="6840" b="5502"/>
          <a:stretch>
            <a:fillRect/>
          </a:stretch>
        </p:blipFill>
        <p:spPr>
          <a:xfrm>
            <a:off x="5468201" y="3537738"/>
            <a:ext cx="864001" cy="864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1FCCEC6B-8276-5297-23F6-D6438B2A824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3494" b="3494"/>
          <a:stretch>
            <a:fillRect/>
          </a:stretch>
        </p:blipFill>
        <p:spPr>
          <a:xfrm>
            <a:off x="6638696" y="3537738"/>
            <a:ext cx="864001" cy="86400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96CA6E3-4EC5-ACBE-2613-FF6A549C238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442" r="1442"/>
          <a:stretch>
            <a:fillRect/>
          </a:stretch>
        </p:blipFill>
        <p:spPr>
          <a:xfrm>
            <a:off x="7815362" y="3537738"/>
            <a:ext cx="864001" cy="864000"/>
          </a:xfrm>
          <a:prstGeom prst="rect">
            <a:avLst/>
          </a:prstGeom>
        </p:spPr>
      </p:pic>
      <p:pic>
        <p:nvPicPr>
          <p:cNvPr id="48" name="Picture 4" descr="See the source image">
            <a:extLst>
              <a:ext uri="{FF2B5EF4-FFF2-40B4-BE49-F238E27FC236}">
                <a16:creationId xmlns:a16="http://schemas.microsoft.com/office/drawing/2014/main" id="{118B19B3-363E-BF70-E71D-710978DD4CE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8" r="4878"/>
          <a:stretch>
            <a:fillRect/>
          </a:stretch>
        </p:blipFill>
        <p:spPr bwMode="auto">
          <a:xfrm>
            <a:off x="3185294" y="3537738"/>
            <a:ext cx="864001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570A1575-E4A6-8BC9-E2DE-8A784314C2D0}"/>
              </a:ext>
            </a:extLst>
          </p:cNvPr>
          <p:cNvSpPr txBox="1"/>
          <p:nvPr/>
        </p:nvSpPr>
        <p:spPr>
          <a:xfrm>
            <a:off x="7366502" y="2493111"/>
            <a:ext cx="215956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Post-Moore’s Law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4A87168-152E-70B3-1890-C1AE137EE4BD}"/>
              </a:ext>
            </a:extLst>
          </p:cNvPr>
          <p:cNvSpPr txBox="1"/>
          <p:nvPr/>
        </p:nvSpPr>
        <p:spPr>
          <a:xfrm>
            <a:off x="2137781" y="2493284"/>
            <a:ext cx="157389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cap="none" spc="0" normalizeH="0" baseline="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Moore’s Law</a:t>
            </a:r>
          </a:p>
        </p:txBody>
      </p:sp>
      <p:sp>
        <p:nvSpPr>
          <p:cNvPr id="51" name="右大括号 50">
            <a:extLst>
              <a:ext uri="{FF2B5EF4-FFF2-40B4-BE49-F238E27FC236}">
                <a16:creationId xmlns:a16="http://schemas.microsoft.com/office/drawing/2014/main" id="{1804551F-04FB-F012-F972-085A0B01DCF9}"/>
              </a:ext>
            </a:extLst>
          </p:cNvPr>
          <p:cNvSpPr/>
          <p:nvPr/>
        </p:nvSpPr>
        <p:spPr>
          <a:xfrm rot="5400000">
            <a:off x="2835843" y="3164611"/>
            <a:ext cx="192230" cy="4796054"/>
          </a:xfrm>
          <a:prstGeom prst="rightBrace">
            <a:avLst>
              <a:gd name="adj1" fmla="val 71897"/>
              <a:gd name="adj2" fmla="val 50000"/>
            </a:avLst>
          </a:prstGeom>
          <a:noFill/>
          <a:ln w="19050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76CF150F-6766-5317-0E08-CEE7774D3BFD}"/>
              </a:ext>
            </a:extLst>
          </p:cNvPr>
          <p:cNvSpPr/>
          <p:nvPr/>
        </p:nvSpPr>
        <p:spPr>
          <a:xfrm rot="5400000">
            <a:off x="8516902" y="2376532"/>
            <a:ext cx="200641" cy="6379539"/>
          </a:xfrm>
          <a:prstGeom prst="rightBrace">
            <a:avLst>
              <a:gd name="adj1" fmla="val 60816"/>
              <a:gd name="adj2" fmla="val 50000"/>
            </a:avLst>
          </a:prstGeom>
          <a:noFill/>
          <a:ln w="19050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3" name="下箭头 43">
            <a:extLst>
              <a:ext uri="{FF2B5EF4-FFF2-40B4-BE49-F238E27FC236}">
                <a16:creationId xmlns:a16="http://schemas.microsoft.com/office/drawing/2014/main" id="{A06D294D-490E-98BE-136B-DC23771576FD}"/>
              </a:ext>
            </a:extLst>
          </p:cNvPr>
          <p:cNvSpPr/>
          <p:nvPr/>
        </p:nvSpPr>
        <p:spPr>
          <a:xfrm rot="10800000" flipV="1">
            <a:off x="3283619" y="4742774"/>
            <a:ext cx="164923" cy="102067"/>
          </a:xfrm>
          <a:prstGeom prst="triangle">
            <a:avLst/>
          </a:prstGeom>
          <a:gradFill flip="none" rotWithShape="1">
            <a:gsLst>
              <a:gs pos="0">
                <a:srgbClr val="00508E"/>
              </a:gs>
              <a:gs pos="100000">
                <a:sysClr val="window" lastClr="FFFFFF">
                  <a:alpha val="0"/>
                </a:sys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4" name="下箭头 43">
            <a:extLst>
              <a:ext uri="{FF2B5EF4-FFF2-40B4-BE49-F238E27FC236}">
                <a16:creationId xmlns:a16="http://schemas.microsoft.com/office/drawing/2014/main" id="{7FD0E20C-A3E8-4975-2353-6C7C03A70486}"/>
              </a:ext>
            </a:extLst>
          </p:cNvPr>
          <p:cNvSpPr/>
          <p:nvPr/>
        </p:nvSpPr>
        <p:spPr>
          <a:xfrm rot="10800000" flipV="1">
            <a:off x="803752" y="4749758"/>
            <a:ext cx="164923" cy="102067"/>
          </a:xfrm>
          <a:prstGeom prst="triangle">
            <a:avLst/>
          </a:prstGeom>
          <a:gradFill flip="none" rotWithShape="1">
            <a:gsLst>
              <a:gs pos="0">
                <a:srgbClr val="00508E"/>
              </a:gs>
              <a:gs pos="100000">
                <a:sysClr val="window" lastClr="FFFFFF">
                  <a:alpha val="0"/>
                </a:sys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5" name="下箭头 43">
            <a:extLst>
              <a:ext uri="{FF2B5EF4-FFF2-40B4-BE49-F238E27FC236}">
                <a16:creationId xmlns:a16="http://schemas.microsoft.com/office/drawing/2014/main" id="{9EA73488-A850-C9EB-5121-E505EFC23162}"/>
              </a:ext>
            </a:extLst>
          </p:cNvPr>
          <p:cNvSpPr/>
          <p:nvPr/>
        </p:nvSpPr>
        <p:spPr>
          <a:xfrm rot="10800000" flipV="1">
            <a:off x="5612846" y="4730958"/>
            <a:ext cx="164923" cy="102067"/>
          </a:xfrm>
          <a:prstGeom prst="triangle">
            <a:avLst/>
          </a:prstGeom>
          <a:gradFill flip="none" rotWithShape="1">
            <a:gsLst>
              <a:gs pos="0">
                <a:srgbClr val="00508E"/>
              </a:gs>
              <a:gs pos="100000">
                <a:sysClr val="window" lastClr="FFFFFF">
                  <a:alpha val="0"/>
                </a:sys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" name="右箭头 4">
            <a:extLst>
              <a:ext uri="{FF2B5EF4-FFF2-40B4-BE49-F238E27FC236}">
                <a16:creationId xmlns:a16="http://schemas.microsoft.com/office/drawing/2014/main" id="{9E6A073E-466B-7D1C-54D3-7E0DC81EEB1B}"/>
              </a:ext>
            </a:extLst>
          </p:cNvPr>
          <p:cNvSpPr/>
          <p:nvPr/>
        </p:nvSpPr>
        <p:spPr>
          <a:xfrm>
            <a:off x="765148" y="4882206"/>
            <a:ext cx="2052789" cy="428309"/>
          </a:xfrm>
          <a:prstGeom prst="roundRect">
            <a:avLst>
              <a:gd name="adj" fmla="val 9068"/>
            </a:avLst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Strained Si</a:t>
            </a:r>
          </a:p>
        </p:txBody>
      </p:sp>
      <p:sp>
        <p:nvSpPr>
          <p:cNvPr id="57" name="右箭头 5">
            <a:extLst>
              <a:ext uri="{FF2B5EF4-FFF2-40B4-BE49-F238E27FC236}">
                <a16:creationId xmlns:a16="http://schemas.microsoft.com/office/drawing/2014/main" id="{11A4CF0D-85BD-E0E1-E0BF-1178EBA6C09E}"/>
              </a:ext>
            </a:extLst>
          </p:cNvPr>
          <p:cNvSpPr/>
          <p:nvPr/>
        </p:nvSpPr>
        <p:spPr>
          <a:xfrm>
            <a:off x="3130511" y="4875223"/>
            <a:ext cx="2031196" cy="435292"/>
          </a:xfrm>
          <a:prstGeom prst="roundRect">
            <a:avLst>
              <a:gd name="adj" fmla="val 6535"/>
            </a:avLst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High-k Gate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0EC882D-B128-CBDB-5BDB-178376618A5A}"/>
              </a:ext>
            </a:extLst>
          </p:cNvPr>
          <p:cNvSpPr txBox="1"/>
          <p:nvPr/>
        </p:nvSpPr>
        <p:spPr>
          <a:xfrm>
            <a:off x="6853288" y="5668206"/>
            <a:ext cx="3899535" cy="3987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001B54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+mn-ea"/>
              </a:rPr>
              <a:t>Three-dimensional Processes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BD8492F-6B6A-738D-D2EB-948AE843A8AF}"/>
              </a:ext>
            </a:extLst>
          </p:cNvPr>
          <p:cNvSpPr txBox="1"/>
          <p:nvPr/>
        </p:nvSpPr>
        <p:spPr>
          <a:xfrm>
            <a:off x="1808156" y="5657804"/>
            <a:ext cx="2309495" cy="3987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001B54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+mn-ea"/>
              </a:rPr>
              <a:t>Planar Processes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0" name="右箭头 6">
            <a:extLst>
              <a:ext uri="{FF2B5EF4-FFF2-40B4-BE49-F238E27FC236}">
                <a16:creationId xmlns:a16="http://schemas.microsoft.com/office/drawing/2014/main" id="{9572D66B-CE6F-DD2F-76B9-00D0723327B6}"/>
              </a:ext>
            </a:extLst>
          </p:cNvPr>
          <p:cNvSpPr/>
          <p:nvPr/>
        </p:nvSpPr>
        <p:spPr>
          <a:xfrm>
            <a:off x="5990280" y="4881957"/>
            <a:ext cx="1985645" cy="443230"/>
          </a:xfrm>
          <a:prstGeom prst="roundRect">
            <a:avLst>
              <a:gd name="adj" fmla="val 8005"/>
            </a:avLst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FinFET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F446D6F-72DB-A739-EAB0-5D92EC9CDAFB}"/>
              </a:ext>
            </a:extLst>
          </p:cNvPr>
          <p:cNvSpPr txBox="1"/>
          <p:nvPr/>
        </p:nvSpPr>
        <p:spPr>
          <a:xfrm>
            <a:off x="8692428" y="2857721"/>
            <a:ext cx="2817215" cy="2532069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57D6C48F-C05C-0C92-0486-3F94E8346F71}"/>
              </a:ext>
            </a:extLst>
          </p:cNvPr>
          <p:cNvSpPr/>
          <p:nvPr/>
        </p:nvSpPr>
        <p:spPr>
          <a:xfrm>
            <a:off x="8801562" y="3223930"/>
            <a:ext cx="143263" cy="139296"/>
          </a:xfrm>
          <a:prstGeom prst="ellipse">
            <a:avLst/>
          </a:prstGeom>
          <a:solidFill>
            <a:sysClr val="window" lastClr="FFFFFF"/>
          </a:solidFill>
          <a:ln w="2857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2A06AD3D-CB29-96F9-4615-7D86EEDC72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2790" t="26001" r="51166" b="61135"/>
          <a:stretch>
            <a:fillRect/>
          </a:stretch>
        </p:blipFill>
        <p:spPr>
          <a:xfrm>
            <a:off x="9134341" y="3549249"/>
            <a:ext cx="723502" cy="865775"/>
          </a:xfrm>
          <a:prstGeom prst="rect">
            <a:avLst/>
          </a:prstGeom>
        </p:spPr>
      </p:pic>
      <p:sp>
        <p:nvSpPr>
          <p:cNvPr id="64" name="下箭头 43">
            <a:extLst>
              <a:ext uri="{FF2B5EF4-FFF2-40B4-BE49-F238E27FC236}">
                <a16:creationId xmlns:a16="http://schemas.microsoft.com/office/drawing/2014/main" id="{03EDBF61-9223-2C48-A5D8-78244B8E8D5B}"/>
              </a:ext>
            </a:extLst>
          </p:cNvPr>
          <p:cNvSpPr/>
          <p:nvPr/>
        </p:nvSpPr>
        <p:spPr>
          <a:xfrm rot="10800000" flipV="1">
            <a:off x="9417748" y="4742774"/>
            <a:ext cx="216639" cy="102067"/>
          </a:xfrm>
          <a:prstGeom prst="triangle">
            <a:avLst/>
          </a:prstGeom>
          <a:gradFill flip="none" rotWithShape="1">
            <a:gsLst>
              <a:gs pos="0">
                <a:srgbClr val="00508E"/>
              </a:gs>
              <a:gs pos="100000">
                <a:sysClr val="window" lastClr="FFFFFF">
                  <a:alpha val="0"/>
                </a:sys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74D5E8A-4181-E882-6559-9E051B6FD7FC}"/>
              </a:ext>
            </a:extLst>
          </p:cNvPr>
          <p:cNvSpPr txBox="1"/>
          <p:nvPr/>
        </p:nvSpPr>
        <p:spPr>
          <a:xfrm>
            <a:off x="9177047" y="4453565"/>
            <a:ext cx="1826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>
                <a:solidFill>
                  <a:srgbClr val="C0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nm~1nm……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3DAC3CD-F657-EEFA-CC1A-96A51AD2191C}"/>
              </a:ext>
            </a:extLst>
          </p:cNvPr>
          <p:cNvSpPr txBox="1"/>
          <p:nvPr/>
        </p:nvSpPr>
        <p:spPr>
          <a:xfrm>
            <a:off x="9736347" y="6146588"/>
            <a:ext cx="2308645" cy="40011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Source: IRDS ESI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DB07E76-0E2C-862D-6280-75DD24902FA7}"/>
              </a:ext>
            </a:extLst>
          </p:cNvPr>
          <p:cNvSpPr txBox="1"/>
          <p:nvPr/>
        </p:nvSpPr>
        <p:spPr>
          <a:xfrm>
            <a:off x="8496394" y="2844531"/>
            <a:ext cx="3203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Reaching physical limits</a:t>
            </a:r>
          </a:p>
        </p:txBody>
      </p:sp>
      <p:sp>
        <p:nvSpPr>
          <p:cNvPr id="68" name="右箭头 6">
            <a:extLst>
              <a:ext uri="{FF2B5EF4-FFF2-40B4-BE49-F238E27FC236}">
                <a16:creationId xmlns:a16="http://schemas.microsoft.com/office/drawing/2014/main" id="{1FD5C4CE-A778-CB53-3A5D-1B65A87CF6A7}"/>
              </a:ext>
            </a:extLst>
          </p:cNvPr>
          <p:cNvSpPr/>
          <p:nvPr/>
        </p:nvSpPr>
        <p:spPr>
          <a:xfrm>
            <a:off x="9310694" y="4858462"/>
            <a:ext cx="1837573" cy="443230"/>
          </a:xfrm>
          <a:prstGeom prst="roundRect">
            <a:avLst>
              <a:gd name="adj" fmla="val 8005"/>
            </a:avLst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kern="0" dirty="0">
                <a:solidFill>
                  <a:prstClr val="white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GAAFET/CFET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9" name="Picture 2" descr="nanosheet transistors">
            <a:extLst>
              <a:ext uri="{FF2B5EF4-FFF2-40B4-BE49-F238E27FC236}">
                <a16:creationId xmlns:a16="http://schemas.microsoft.com/office/drawing/2014/main" id="{F6292E6C-8019-D47A-C87D-C39908154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9" t="6207" b="4285"/>
          <a:stretch>
            <a:fillRect/>
          </a:stretch>
        </p:blipFill>
        <p:spPr bwMode="auto">
          <a:xfrm>
            <a:off x="10135838" y="3557566"/>
            <a:ext cx="1047014" cy="88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96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F7487-D26A-B6A5-9AD5-490BE0FE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5F6E9-0330-F441-088F-71644B11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End of Dennard Scaling and Its Impact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AFC1-7AEF-9A8F-5C3E-2432ADBB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After 100nm process, Dennard Scaling approaches end. Actual device focus on constant voltage scaling, where power density increases with shrinking sizes.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Due to thermal limitations, CPU clock frequency couldn't increase after 2004. Singe-core CPU’s computational growth entered a saturation phase.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61823D-B453-5D3A-2B83-1794C0520FBB}"/>
              </a:ext>
            </a:extLst>
          </p:cNvPr>
          <p:cNvSpPr txBox="1"/>
          <p:nvPr/>
        </p:nvSpPr>
        <p:spPr>
          <a:xfrm>
            <a:off x="89891" y="5778217"/>
            <a:ext cx="58437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Nvidia</a:t>
            </a:r>
            <a:r>
              <a:rPr lang="zh-CN" altLang="en-US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 </a:t>
            </a:r>
            <a:r>
              <a:rPr lang="en-US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H100</a:t>
            </a:r>
            <a:r>
              <a:rPr lang="zh-CN" altLang="en-US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 </a:t>
            </a:r>
            <a:r>
              <a:rPr lang="en-US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Power Density</a:t>
            </a:r>
            <a:r>
              <a:rPr lang="zh-CN" altLang="en-US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：</a:t>
            </a:r>
            <a:r>
              <a:rPr lang="en-US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0.9W/mm</a:t>
            </a:r>
            <a:r>
              <a:rPr lang="en-US" altLang="zh-CN" kern="100" baseline="300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2</a:t>
            </a:r>
          </a:p>
          <a:p>
            <a:pPr algn="ctr"/>
            <a:r>
              <a:rPr lang="en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Fukushima Nuclear Power Plant’s Reactor PD</a:t>
            </a:r>
            <a:r>
              <a:rPr lang="zh-CN" altLang="en-US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：</a:t>
            </a:r>
            <a:r>
              <a:rPr lang="en-US" altLang="zh-CN" kern="1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0.6W/mm</a:t>
            </a:r>
            <a:r>
              <a:rPr lang="en-US" altLang="zh-CN" kern="100" baseline="30000" dirty="0">
                <a:solidFill>
                  <a:srgbClr val="002060"/>
                </a:solidFill>
                <a:latin typeface="Arial Narrow" panose="020B0604020202020204" pitchFamily="34" charset="0"/>
                <a:ea typeface="微软雅黑" panose="020B0503020204020204" pitchFamily="34" charset="-122"/>
                <a:cs typeface="Arial Narrow" panose="020B0604020202020204" pitchFamily="34" charset="0"/>
              </a:rPr>
              <a:t>2</a:t>
            </a:r>
          </a:p>
        </p:txBody>
      </p:sp>
      <p:pic>
        <p:nvPicPr>
          <p:cNvPr id="22" name="Picture 6">
            <a:extLst>
              <a:ext uri="{FF2B5EF4-FFF2-40B4-BE49-F238E27FC236}">
                <a16:creationId xmlns:a16="http://schemas.microsoft.com/office/drawing/2014/main" id="{4A025C2F-7245-3938-9E47-1C299CE93D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DDF0F7"/>
              </a:clrFrom>
              <a:clrTo>
                <a:srgbClr val="DDF0F7">
                  <a:alpha val="0"/>
                </a:srgbClr>
              </a:clrTo>
            </a:clrChange>
          </a:blip>
          <a:srcRect l="3393" t="6227" r="5330" b="6607"/>
          <a:stretch/>
        </p:blipFill>
        <p:spPr>
          <a:xfrm>
            <a:off x="172107" y="2822084"/>
            <a:ext cx="5561036" cy="3082384"/>
          </a:xfrm>
          <a:prstGeom prst="rect">
            <a:avLst/>
          </a:prstGeom>
        </p:spPr>
      </p:pic>
      <p:grpSp>
        <p:nvGrpSpPr>
          <p:cNvPr id="23" name="Group 10">
            <a:extLst>
              <a:ext uri="{FF2B5EF4-FFF2-40B4-BE49-F238E27FC236}">
                <a16:creationId xmlns:a16="http://schemas.microsoft.com/office/drawing/2014/main" id="{F0D795CC-9C7D-8365-2E80-D46A88608458}"/>
              </a:ext>
            </a:extLst>
          </p:cNvPr>
          <p:cNvGrpSpPr/>
          <p:nvPr/>
        </p:nvGrpSpPr>
        <p:grpSpPr>
          <a:xfrm>
            <a:off x="5745134" y="2979728"/>
            <a:ext cx="6398340" cy="3480209"/>
            <a:chOff x="5745134" y="3171114"/>
            <a:chExt cx="6398340" cy="3480209"/>
          </a:xfrm>
        </p:grpSpPr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13702F53-7A67-95AF-9D14-864375A250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5090"/>
            <a:stretch/>
          </p:blipFill>
          <p:spPr>
            <a:xfrm>
              <a:off x="5745134" y="3171114"/>
              <a:ext cx="6268191" cy="3480209"/>
            </a:xfrm>
            <a:prstGeom prst="rect">
              <a:avLst/>
            </a:prstGeom>
          </p:spPr>
        </p:pic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D3DC6E70-C16B-1D59-15D7-84EBD49ECCEE}"/>
                </a:ext>
              </a:extLst>
            </p:cNvPr>
            <p:cNvSpPr/>
            <p:nvPr/>
          </p:nvSpPr>
          <p:spPr>
            <a:xfrm>
              <a:off x="11827097" y="3409158"/>
              <a:ext cx="316377" cy="4913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TextBox 9">
              <a:extLst>
                <a:ext uri="{FF2B5EF4-FFF2-40B4-BE49-F238E27FC236}">
                  <a16:creationId xmlns:a16="http://schemas.microsoft.com/office/drawing/2014/main" id="{281A0566-1427-0FF5-3843-A359D9614689}"/>
                </a:ext>
              </a:extLst>
            </p:cNvPr>
            <p:cNvSpPr txBox="1"/>
            <p:nvPr/>
          </p:nvSpPr>
          <p:spPr>
            <a:xfrm>
              <a:off x="9558670" y="3385374"/>
              <a:ext cx="2268427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b="1" dirty="0"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Transistor Count</a:t>
              </a:r>
              <a:endParaRPr lang="en-CN" sz="17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8056EF07-0A0D-258C-AC0C-2ED5E1724F74}"/>
              </a:ext>
            </a:extLst>
          </p:cNvPr>
          <p:cNvSpPr txBox="1"/>
          <p:nvPr/>
        </p:nvSpPr>
        <p:spPr>
          <a:xfrm>
            <a:off x="6358226" y="3193988"/>
            <a:ext cx="2268426" cy="3539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CPU Performance</a:t>
            </a:r>
            <a:endParaRPr lang="en-CN" sz="1700" b="1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62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911F1-8FDC-4136-8A05-5BDE19C9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030BC-872E-7DE1-5E4F-02C5699D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Incredible Scaling Law from LLM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4DC82-ECAD-BCEB-8865-30DE1937B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Computing performance (TOPS/TFLOPS) required by AI algorithms is 300x faster than Moore’s Law, which is approaching its physical limit after 2nm technology.</a:t>
            </a:r>
          </a:p>
          <a:p>
            <a:endParaRPr lang="en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122D116-59C6-F29D-3151-CB1387124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842" y="2204489"/>
            <a:ext cx="8011451" cy="4160232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5AA69A7-81A4-8832-6215-EE9D7BF4509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0959" y="2299094"/>
            <a:ext cx="3230017" cy="3971021"/>
          </a:xfrm>
          <a:prstGeom prst="rect">
            <a:avLst/>
          </a:prstGeom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AE05A9C5-004B-BD91-26F5-77FB2092C74B}"/>
              </a:ext>
            </a:extLst>
          </p:cNvPr>
          <p:cNvSpPr txBox="1"/>
          <p:nvPr/>
        </p:nvSpPr>
        <p:spPr>
          <a:xfrm>
            <a:off x="295761" y="2204489"/>
            <a:ext cx="1842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2017 Google</a:t>
            </a:r>
          </a:p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Transformer</a:t>
            </a:r>
          </a:p>
          <a:p>
            <a:pPr algn="ctr"/>
            <a:r>
              <a:rPr lang="en-US" altLang="zh-CN" sz="2000" b="1" dirty="0">
                <a:solidFill>
                  <a:srgbClr val="00206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1230991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CC16-2882-A614-4818-B9C9E881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2F61-59CE-25AF-3603-8DFE53C6E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CPU for NN based Intelligent Computing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16233-7D5F-EE45-684A-3CA2C5EB1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26112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Current intelligent computing workloads primarily involve neural networks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which highly relies on 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matrix multiplication and accumulation.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RISC CPUs, data computation-related power consumption accounts for only 9%. Dedicated hardware tailored for intelligent computing are necessary.</a:t>
            </a:r>
          </a:p>
          <a:p>
            <a:endParaRPr lang="en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 descr="âpipeline computer architectureâçå¾çæç´¢ç»æ">
            <a:extLst>
              <a:ext uri="{FF2B5EF4-FFF2-40B4-BE49-F238E27FC236}">
                <a16:creationId xmlns:a16="http://schemas.microsoft.com/office/drawing/2014/main" id="{233A2C8C-D293-439E-966B-5DBB507DF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42" y="3025348"/>
            <a:ext cx="5065986" cy="3181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屏幕剪辑">
            <a:extLst>
              <a:ext uri="{FF2B5EF4-FFF2-40B4-BE49-F238E27FC236}">
                <a16:creationId xmlns:a16="http://schemas.microsoft.com/office/drawing/2014/main" id="{6CA9F9EF-BBE9-7379-9097-E0A4B95EA03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37560"/>
            <a:ext cx="5416285" cy="3169227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A257FA95-1481-8DEE-C3D3-A5C39D24EFFC}"/>
              </a:ext>
            </a:extLst>
          </p:cNvPr>
          <p:cNvSpPr txBox="1"/>
          <p:nvPr/>
        </p:nvSpPr>
        <p:spPr>
          <a:xfrm>
            <a:off x="1221177" y="6100358"/>
            <a:ext cx="3943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5-stage Pipeline RISC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endParaRPr lang="zh-CN" altLang="en-US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C98E191-E0C4-FB4D-E3B5-6A48853E04DA}"/>
              </a:ext>
            </a:extLst>
          </p:cNvPr>
          <p:cNvSpPr txBox="1"/>
          <p:nvPr/>
        </p:nvSpPr>
        <p:spPr>
          <a:xfrm>
            <a:off x="7970085" y="6172262"/>
            <a:ext cx="394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Ref: </a:t>
            </a:r>
            <a:r>
              <a:rPr lang="en-US" altLang="zh-CN" dirty="0" err="1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Hotta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Taylor, ASPLOS 2012</a:t>
            </a: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359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42306-D440-3E2E-00C3-BF5E4E64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9DF88-3A58-58EB-311F-8B407460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2019766" cy="658239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Intelligent Computing Drives Chip Market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内容占位符 8" descr="图示&#10;&#10;AI 生成的内容可能不正确。">
            <a:extLst>
              <a:ext uri="{FF2B5EF4-FFF2-40B4-BE49-F238E27FC236}">
                <a16:creationId xmlns:a16="http://schemas.microsoft.com/office/drawing/2014/main" id="{679F10B0-811A-B2A3-DC2E-074B9D96A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6108" y="2982072"/>
            <a:ext cx="7848073" cy="3565131"/>
          </a:xfr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F212B17F-1A3A-83DC-7216-32CD3FDB2764}"/>
              </a:ext>
            </a:extLst>
          </p:cNvPr>
          <p:cNvSpPr txBox="1"/>
          <p:nvPr/>
        </p:nvSpPr>
        <p:spPr>
          <a:xfrm>
            <a:off x="9400853" y="5590736"/>
            <a:ext cx="2434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Source: TSMC</a:t>
            </a:r>
            <a:endParaRPr lang="en-CN" sz="20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462CD5-9752-DACF-299B-62A23E229F74}"/>
              </a:ext>
            </a:extLst>
          </p:cNvPr>
          <p:cNvSpPr txBox="1">
            <a:spLocks/>
          </p:cNvSpPr>
          <p:nvPr/>
        </p:nvSpPr>
        <p:spPr>
          <a:xfrm>
            <a:off x="278400" y="1067209"/>
            <a:ext cx="11635200" cy="2274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Narrow AI: 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computing systems that are designed/trained to perform specific tasks.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AGI: machines that understand and learn across a wide range of tasks, similar to human cognitive abilities, which also requires 100x+ computing performance.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success of AGI would drive a trillion-USD market for semiconductor market.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18BD0C9-9A01-177F-46AC-54150F406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8" y="2982072"/>
            <a:ext cx="3430786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19082-BCF0-F569-2992-9CA497C6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F01E7C85-ED81-0549-FD4D-3EEB5C96D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78" y="2551649"/>
            <a:ext cx="4775158" cy="3226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4BB2087-77F2-8E40-9362-044BDA56D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26" y="5219437"/>
            <a:ext cx="1334125" cy="11427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547CDB-29FE-CE71-DFBF-24706128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Multi-core Scaling and Dark Silicon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B0308-E4B4-B1CD-05A5-B2B4CE37D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67209"/>
            <a:ext cx="11635200" cy="227456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CPUs shifted to multi-core architectures to overcome thermal limitations and performance saturation issues in single-core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Dark silicon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inactive parts of a multi-core chip due to power or thermal.</a:t>
            </a:r>
          </a:p>
        </p:txBody>
      </p:sp>
      <p:pic>
        <p:nvPicPr>
          <p:cNvPr id="1026" name="Picture 2" descr="Figure 1 from Is dark silicon useful? Harnessing the four horsemen ...">
            <a:extLst>
              <a:ext uri="{FF2B5EF4-FFF2-40B4-BE49-F238E27FC236}">
                <a16:creationId xmlns:a16="http://schemas.microsoft.com/office/drawing/2014/main" id="{65771F27-91B5-EB87-70E5-7FB4F5A16A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93"/>
          <a:stretch/>
        </p:blipFill>
        <p:spPr bwMode="auto">
          <a:xfrm>
            <a:off x="5801356" y="2551649"/>
            <a:ext cx="6284319" cy="394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4">
            <a:extLst>
              <a:ext uri="{FF2B5EF4-FFF2-40B4-BE49-F238E27FC236}">
                <a16:creationId xmlns:a16="http://schemas.microsoft.com/office/drawing/2014/main" id="{1F24E0AB-EFB5-DFCC-0CEB-4C551DDBBB3D}"/>
              </a:ext>
            </a:extLst>
          </p:cNvPr>
          <p:cNvSpPr txBox="1"/>
          <p:nvPr/>
        </p:nvSpPr>
        <p:spPr>
          <a:xfrm>
            <a:off x="1964591" y="5700424"/>
            <a:ext cx="3664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IBM Power4 @ 2001</a:t>
            </a:r>
            <a:endParaRPr lang="en-CN" sz="20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First commercial multi-core</a:t>
            </a:r>
            <a:endParaRPr lang="en-CN" sz="20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00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CCEA-C949-D4D0-EBF0-0C4C716C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EF85-ED22-A35B-29DE-FEBA05F85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0" y="136525"/>
            <a:ext cx="11105867" cy="658239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Domain Specific Cores in Dark Silicon Age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9BEEA-23B1-B4DC-CAFB-CF8291D7D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400" y="1004194"/>
            <a:ext cx="11635200" cy="182484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Domain-specific architectures (DSAs) enhance efficiency by tailoring designs to specific application domains, but requires domain specific knowledge.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Examples include neural network processors for machine learning, GPUs for graphics, and programmable network switches for networking.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3956CACC-5CCF-A1A7-3ACF-E5E09929D5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6165" y="2940861"/>
            <a:ext cx="5771026" cy="35578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EBAA9AF-0463-62A0-92F9-173DC31F5D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287" y="2643654"/>
            <a:ext cx="5410200" cy="3467100"/>
          </a:xfrm>
          <a:prstGeom prst="rect">
            <a:avLst/>
          </a:prstGeom>
        </p:spPr>
      </p:pic>
      <p:sp>
        <p:nvSpPr>
          <p:cNvPr id="11" name="TextBox 24">
            <a:extLst>
              <a:ext uri="{FF2B5EF4-FFF2-40B4-BE49-F238E27FC236}">
                <a16:creationId xmlns:a16="http://schemas.microsoft.com/office/drawing/2014/main" id="{5BE4AE86-7A24-71DE-8279-6A0231D0E80D}"/>
              </a:ext>
            </a:extLst>
          </p:cNvPr>
          <p:cNvSpPr txBox="1"/>
          <p:nvPr/>
        </p:nvSpPr>
        <p:spPr>
          <a:xfrm>
            <a:off x="6503400" y="5790790"/>
            <a:ext cx="541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TPU as a domain specific architecture, demonstrating great efficiency than CPU/GPU.</a:t>
            </a:r>
            <a:endParaRPr lang="en-CN" sz="200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189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360.6299212598426,&quot;width&quot;:1360.631496062992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5433</TotalTime>
  <Words>1389</Words>
  <Application>Microsoft Office PowerPoint</Application>
  <PresentationFormat>宽屏</PresentationFormat>
  <Paragraphs>217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等线</vt:lpstr>
      <vt:lpstr>思源宋体 CN</vt:lpstr>
      <vt:lpstr>Microsoft YaHei</vt:lpstr>
      <vt:lpstr>Microsoft YaHei</vt:lpstr>
      <vt:lpstr>Arial</vt:lpstr>
      <vt:lpstr>Arial Narrow</vt:lpstr>
      <vt:lpstr>Calibri</vt:lpstr>
      <vt:lpstr>Calibri Light</vt:lpstr>
      <vt:lpstr>Wingdings</vt:lpstr>
      <vt:lpstr>1_Office Theme</vt:lpstr>
      <vt:lpstr>PowerPoint 演示文稿</vt:lpstr>
      <vt:lpstr>The Artificial Intelligence Era</vt:lpstr>
      <vt:lpstr>Intelligent Computing Chip</vt:lpstr>
      <vt:lpstr>Course Information</vt:lpstr>
      <vt:lpstr>Course Information</vt:lpstr>
      <vt:lpstr>Textbook / Reference Books</vt:lpstr>
      <vt:lpstr>Contents, Exam and Score</vt:lpstr>
      <vt:lpstr>Electronic Computer: Before Integrated Circuits</vt:lpstr>
      <vt:lpstr>Electronic Computer: First CPU IC Intel 4004</vt:lpstr>
      <vt:lpstr>Electronic Computer: First CPU Chip -- Intel 4004</vt:lpstr>
      <vt:lpstr>Dennard Scaling and Its Impact on Computing</vt:lpstr>
      <vt:lpstr>Continuous Scaling Down of Advanced Transistors</vt:lpstr>
      <vt:lpstr>End of Dennard Scaling and Its Impact</vt:lpstr>
      <vt:lpstr>Incredible Scaling Law from LLM</vt:lpstr>
      <vt:lpstr>CPU for NN based Intelligent Computing</vt:lpstr>
      <vt:lpstr>Intelligent Computing Drives Chip Market</vt:lpstr>
      <vt:lpstr>Multi-core Scaling and Dark Silicon</vt:lpstr>
      <vt:lpstr>Domain Specific Cores in Dark Silicon 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Chen</dc:creator>
  <cp:lastModifiedBy>Shiwei Liu</cp:lastModifiedBy>
  <cp:revision>47</cp:revision>
  <dcterms:created xsi:type="dcterms:W3CDTF">2025-01-30T14:22:41Z</dcterms:created>
  <dcterms:modified xsi:type="dcterms:W3CDTF">2026-09-14T10:36:15Z</dcterms:modified>
</cp:coreProperties>
</file>